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65" r:id="rId2"/>
    <p:sldId id="310" r:id="rId3"/>
    <p:sldId id="320" r:id="rId4"/>
    <p:sldId id="321" r:id="rId5"/>
    <p:sldId id="322" r:id="rId6"/>
    <p:sldId id="323" r:id="rId7"/>
    <p:sldId id="324" r:id="rId8"/>
    <p:sldId id="325" r:id="rId9"/>
    <p:sldId id="326" r:id="rId10"/>
    <p:sldId id="327" r:id="rId11"/>
    <p:sldId id="328" r:id="rId12"/>
    <p:sldId id="329" r:id="rId13"/>
    <p:sldId id="330" r:id="rId14"/>
    <p:sldId id="331" r:id="rId15"/>
    <p:sldId id="332" r:id="rId16"/>
    <p:sldId id="333" r:id="rId17"/>
    <p:sldId id="334" r:id="rId18"/>
    <p:sldId id="335" r:id="rId19"/>
    <p:sldId id="337" r:id="rId20"/>
    <p:sldId id="336" r:id="rId21"/>
    <p:sldId id="338" r:id="rId22"/>
  </p:sldIdLst>
  <p:sldSz cx="12188825"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ED4772-872B-41BA-A5F2-7261D9AACAE2}" v="14" dt="2026-06-12T11:19:24.5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29" autoAdjust="0"/>
  </p:normalViewPr>
  <p:slideViewPr>
    <p:cSldViewPr showGuides="1">
      <p:cViewPr varScale="1">
        <p:scale>
          <a:sx n="82" d="100"/>
          <a:sy n="82" d="100"/>
        </p:scale>
        <p:origin x="720" y="72"/>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63" d="100"/>
          <a:sy n="63" d="100"/>
        </p:scale>
        <p:origin x="198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esh Kumar" userId="d5ee3820d0dd971c" providerId="LiveId" clId="{213C2D29-5E7B-4E25-9A19-6B94A18D1159}"/>
    <pc:docChg chg="undo custSel addSld delSld modSld sldOrd">
      <pc:chgData name="Ritesh Kumar" userId="d5ee3820d0dd971c" providerId="LiveId" clId="{213C2D29-5E7B-4E25-9A19-6B94A18D1159}" dt="2026-06-12T11:21:16.330" v="91" actId="1076"/>
      <pc:docMkLst>
        <pc:docMk/>
      </pc:docMkLst>
      <pc:sldChg chg="del">
        <pc:chgData name="Ritesh Kumar" userId="d5ee3820d0dd971c" providerId="LiveId" clId="{213C2D29-5E7B-4E25-9A19-6B94A18D1159}" dt="2026-06-12T11:20:03.785" v="69" actId="2696"/>
        <pc:sldMkLst>
          <pc:docMk/>
          <pc:sldMk cId="3106206852" sldId="311"/>
        </pc:sldMkLst>
      </pc:sldChg>
      <pc:sldChg chg="del">
        <pc:chgData name="Ritesh Kumar" userId="d5ee3820d0dd971c" providerId="LiveId" clId="{213C2D29-5E7B-4E25-9A19-6B94A18D1159}" dt="2026-06-12T11:20:12.602" v="71" actId="2696"/>
        <pc:sldMkLst>
          <pc:docMk/>
          <pc:sldMk cId="462238070" sldId="312"/>
        </pc:sldMkLst>
      </pc:sldChg>
      <pc:sldChg chg="del">
        <pc:chgData name="Ritesh Kumar" userId="d5ee3820d0dd971c" providerId="LiveId" clId="{213C2D29-5E7B-4E25-9A19-6B94A18D1159}" dt="2026-06-12T11:20:08.859" v="70" actId="2696"/>
        <pc:sldMkLst>
          <pc:docMk/>
          <pc:sldMk cId="4206988261" sldId="313"/>
        </pc:sldMkLst>
      </pc:sldChg>
      <pc:sldChg chg="del">
        <pc:chgData name="Ritesh Kumar" userId="d5ee3820d0dd971c" providerId="LiveId" clId="{213C2D29-5E7B-4E25-9A19-6B94A18D1159}" dt="2026-06-12T11:20:16.156" v="72" actId="2696"/>
        <pc:sldMkLst>
          <pc:docMk/>
          <pc:sldMk cId="2478160142" sldId="314"/>
        </pc:sldMkLst>
      </pc:sldChg>
      <pc:sldChg chg="del">
        <pc:chgData name="Ritesh Kumar" userId="d5ee3820d0dd971c" providerId="LiveId" clId="{213C2D29-5E7B-4E25-9A19-6B94A18D1159}" dt="2026-06-12T11:20:29.005" v="73" actId="2696"/>
        <pc:sldMkLst>
          <pc:docMk/>
          <pc:sldMk cId="2681425051" sldId="315"/>
        </pc:sldMkLst>
      </pc:sldChg>
      <pc:sldChg chg="del">
        <pc:chgData name="Ritesh Kumar" userId="d5ee3820d0dd971c" providerId="LiveId" clId="{213C2D29-5E7B-4E25-9A19-6B94A18D1159}" dt="2026-06-12T11:20:35.434" v="74" actId="2696"/>
        <pc:sldMkLst>
          <pc:docMk/>
          <pc:sldMk cId="2590506655" sldId="316"/>
        </pc:sldMkLst>
      </pc:sldChg>
      <pc:sldChg chg="del">
        <pc:chgData name="Ritesh Kumar" userId="d5ee3820d0dd971c" providerId="LiveId" clId="{213C2D29-5E7B-4E25-9A19-6B94A18D1159}" dt="2026-06-12T11:20:39.983" v="75" actId="2696"/>
        <pc:sldMkLst>
          <pc:docMk/>
          <pc:sldMk cId="1735722345" sldId="317"/>
        </pc:sldMkLst>
      </pc:sldChg>
      <pc:sldChg chg="del">
        <pc:chgData name="Ritesh Kumar" userId="d5ee3820d0dd971c" providerId="LiveId" clId="{213C2D29-5E7B-4E25-9A19-6B94A18D1159}" dt="2026-06-12T11:20:43.975" v="76" actId="2696"/>
        <pc:sldMkLst>
          <pc:docMk/>
          <pc:sldMk cId="2765137111" sldId="318"/>
        </pc:sldMkLst>
      </pc:sldChg>
      <pc:sldChg chg="del">
        <pc:chgData name="Ritesh Kumar" userId="d5ee3820d0dd971c" providerId="LiveId" clId="{213C2D29-5E7B-4E25-9A19-6B94A18D1159}" dt="2026-06-12T11:20:49.842" v="77" actId="2696"/>
        <pc:sldMkLst>
          <pc:docMk/>
          <pc:sldMk cId="1108506989" sldId="319"/>
        </pc:sldMkLst>
      </pc:sldChg>
      <pc:sldChg chg="addSp delSp modSp new mod">
        <pc:chgData name="Ritesh Kumar" userId="d5ee3820d0dd971c" providerId="LiveId" clId="{213C2D29-5E7B-4E25-9A19-6B94A18D1159}" dt="2026-06-12T11:15:32.227" v="33" actId="207"/>
        <pc:sldMkLst>
          <pc:docMk/>
          <pc:sldMk cId="4183728095" sldId="336"/>
        </pc:sldMkLst>
        <pc:spChg chg="del">
          <ac:chgData name="Ritesh Kumar" userId="d5ee3820d0dd971c" providerId="LiveId" clId="{213C2D29-5E7B-4E25-9A19-6B94A18D1159}" dt="2026-06-12T11:11:18.617" v="1" actId="21"/>
          <ac:spMkLst>
            <pc:docMk/>
            <pc:sldMk cId="4183728095" sldId="336"/>
            <ac:spMk id="2" creationId="{D7B2C98F-6B67-0857-9864-09C2168AE628}"/>
          </ac:spMkLst>
        </pc:spChg>
        <pc:spChg chg="del">
          <ac:chgData name="Ritesh Kumar" userId="d5ee3820d0dd971c" providerId="LiveId" clId="{213C2D29-5E7B-4E25-9A19-6B94A18D1159}" dt="2026-06-12T11:11:22.392" v="2" actId="21"/>
          <ac:spMkLst>
            <pc:docMk/>
            <pc:sldMk cId="4183728095" sldId="336"/>
            <ac:spMk id="3" creationId="{CBF811B5-2E74-265F-DBF1-48355D678AF4}"/>
          </ac:spMkLst>
        </pc:spChg>
        <pc:spChg chg="add mod">
          <ac:chgData name="Ritesh Kumar" userId="d5ee3820d0dd971c" providerId="LiveId" clId="{213C2D29-5E7B-4E25-9A19-6B94A18D1159}" dt="2026-06-12T11:15:21.516" v="30" actId="207"/>
          <ac:spMkLst>
            <pc:docMk/>
            <pc:sldMk cId="4183728095" sldId="336"/>
            <ac:spMk id="4" creationId="{DFA924CB-1854-1A57-2827-2726B1CC4D5D}"/>
          </ac:spMkLst>
        </pc:spChg>
        <pc:spChg chg="add mod">
          <ac:chgData name="Ritesh Kumar" userId="d5ee3820d0dd971c" providerId="LiveId" clId="{213C2D29-5E7B-4E25-9A19-6B94A18D1159}" dt="2026-06-12T11:15:25.849" v="31" actId="207"/>
          <ac:spMkLst>
            <pc:docMk/>
            <pc:sldMk cId="4183728095" sldId="336"/>
            <ac:spMk id="7" creationId="{8D5272ED-628A-903A-536B-DA260584839B}"/>
          </ac:spMkLst>
        </pc:spChg>
        <pc:spChg chg="add mod">
          <ac:chgData name="Ritesh Kumar" userId="d5ee3820d0dd971c" providerId="LiveId" clId="{213C2D29-5E7B-4E25-9A19-6B94A18D1159}" dt="2026-06-12T11:15:29.049" v="32" actId="207"/>
          <ac:spMkLst>
            <pc:docMk/>
            <pc:sldMk cId="4183728095" sldId="336"/>
            <ac:spMk id="8" creationId="{6B007708-4B55-36F8-5959-247C19962CCF}"/>
          </ac:spMkLst>
        </pc:spChg>
        <pc:spChg chg="add mod">
          <ac:chgData name="Ritesh Kumar" userId="d5ee3820d0dd971c" providerId="LiveId" clId="{213C2D29-5E7B-4E25-9A19-6B94A18D1159}" dt="2026-06-12T11:15:32.227" v="33" actId="207"/>
          <ac:spMkLst>
            <pc:docMk/>
            <pc:sldMk cId="4183728095" sldId="336"/>
            <ac:spMk id="9" creationId="{F31478B5-E72C-BCD5-0AD9-196375D29246}"/>
          </ac:spMkLst>
        </pc:spChg>
        <pc:spChg chg="add mod">
          <ac:chgData name="Ritesh Kumar" userId="d5ee3820d0dd971c" providerId="LiveId" clId="{213C2D29-5E7B-4E25-9A19-6B94A18D1159}" dt="2026-06-12T11:15:05.512" v="29" actId="255"/>
          <ac:spMkLst>
            <pc:docMk/>
            <pc:sldMk cId="4183728095" sldId="336"/>
            <ac:spMk id="10" creationId="{362D866A-17AB-6942-4419-9EF0CCD1A69A}"/>
          </ac:spMkLst>
        </pc:spChg>
        <pc:picChg chg="add del">
          <ac:chgData name="Ritesh Kumar" userId="d5ee3820d0dd971c" providerId="LiveId" clId="{213C2D29-5E7B-4E25-9A19-6B94A18D1159}" dt="2026-06-12T11:13:03.402" v="5" actId="22"/>
          <ac:picMkLst>
            <pc:docMk/>
            <pc:sldMk cId="4183728095" sldId="336"/>
            <ac:picMk id="6" creationId="{9ABCF5B9-68C1-C40E-B11B-3D89474AEEFF}"/>
          </ac:picMkLst>
        </pc:picChg>
      </pc:sldChg>
      <pc:sldChg chg="addSp delSp modSp new mod ord">
        <pc:chgData name="Ritesh Kumar" userId="d5ee3820d0dd971c" providerId="LiveId" clId="{213C2D29-5E7B-4E25-9A19-6B94A18D1159}" dt="2026-06-12T11:19:38.171" v="68" actId="12"/>
        <pc:sldMkLst>
          <pc:docMk/>
          <pc:sldMk cId="2022620501" sldId="337"/>
        </pc:sldMkLst>
        <pc:spChg chg="del">
          <ac:chgData name="Ritesh Kumar" userId="d5ee3820d0dd971c" providerId="LiveId" clId="{213C2D29-5E7B-4E25-9A19-6B94A18D1159}" dt="2026-06-12T11:16:36.460" v="37" actId="21"/>
          <ac:spMkLst>
            <pc:docMk/>
            <pc:sldMk cId="2022620501" sldId="337"/>
            <ac:spMk id="2" creationId="{FDD6DF82-005E-EF23-5DA4-09E522DFC09B}"/>
          </ac:spMkLst>
        </pc:spChg>
        <pc:spChg chg="del">
          <ac:chgData name="Ritesh Kumar" userId="d5ee3820d0dd971c" providerId="LiveId" clId="{213C2D29-5E7B-4E25-9A19-6B94A18D1159}" dt="2026-06-12T11:16:38.943" v="38" actId="21"/>
          <ac:spMkLst>
            <pc:docMk/>
            <pc:sldMk cId="2022620501" sldId="337"/>
            <ac:spMk id="3" creationId="{134E76B9-844B-5C78-B14D-794A00BF1587}"/>
          </ac:spMkLst>
        </pc:spChg>
        <pc:spChg chg="add mod">
          <ac:chgData name="Ritesh Kumar" userId="d5ee3820d0dd971c" providerId="LiveId" clId="{213C2D29-5E7B-4E25-9A19-6B94A18D1159}" dt="2026-06-12T11:17:25.396" v="52" actId="113"/>
          <ac:spMkLst>
            <pc:docMk/>
            <pc:sldMk cId="2022620501" sldId="337"/>
            <ac:spMk id="4" creationId="{23F3554E-7CAA-097B-7CF0-F85CE2F2370A}"/>
          </ac:spMkLst>
        </pc:spChg>
        <pc:spChg chg="add del mod">
          <ac:chgData name="Ritesh Kumar" userId="d5ee3820d0dd971c" providerId="LiveId" clId="{213C2D29-5E7B-4E25-9A19-6B94A18D1159}" dt="2026-06-12T11:18:31.873" v="63"/>
          <ac:spMkLst>
            <pc:docMk/>
            <pc:sldMk cId="2022620501" sldId="337"/>
            <ac:spMk id="5" creationId="{35E8F99E-17E9-4C4A-52DB-7921B08CF8AF}"/>
          </ac:spMkLst>
        </pc:spChg>
        <pc:spChg chg="add mod">
          <ac:chgData name="Ritesh Kumar" userId="d5ee3820d0dd971c" providerId="LiveId" clId="{213C2D29-5E7B-4E25-9A19-6B94A18D1159}" dt="2026-06-12T11:18:30.591" v="61" actId="12"/>
          <ac:spMkLst>
            <pc:docMk/>
            <pc:sldMk cId="2022620501" sldId="337"/>
            <ac:spMk id="6" creationId="{23E0C08A-4DB0-DB17-B43A-D3EC19641681}"/>
          </ac:spMkLst>
        </pc:spChg>
        <pc:spChg chg="add mod">
          <ac:chgData name="Ritesh Kumar" userId="d5ee3820d0dd971c" providerId="LiveId" clId="{213C2D29-5E7B-4E25-9A19-6B94A18D1159}" dt="2026-06-12T11:19:38.171" v="68" actId="12"/>
          <ac:spMkLst>
            <pc:docMk/>
            <pc:sldMk cId="2022620501" sldId="337"/>
            <ac:spMk id="7" creationId="{179B96A1-B08B-1F15-A9FB-E14F004BC9AC}"/>
          </ac:spMkLst>
        </pc:spChg>
      </pc:sldChg>
      <pc:sldChg chg="delSp modSp new mod">
        <pc:chgData name="Ritesh Kumar" userId="d5ee3820d0dd971c" providerId="LiveId" clId="{213C2D29-5E7B-4E25-9A19-6B94A18D1159}" dt="2026-06-12T11:21:16.330" v="91" actId="1076"/>
        <pc:sldMkLst>
          <pc:docMk/>
          <pc:sldMk cId="1852675975" sldId="338"/>
        </pc:sldMkLst>
        <pc:spChg chg="mod">
          <ac:chgData name="Ritesh Kumar" userId="d5ee3820d0dd971c" providerId="LiveId" clId="{213C2D29-5E7B-4E25-9A19-6B94A18D1159}" dt="2026-06-12T11:21:16.330" v="91" actId="1076"/>
          <ac:spMkLst>
            <pc:docMk/>
            <pc:sldMk cId="1852675975" sldId="338"/>
            <ac:spMk id="2" creationId="{B340CD46-E203-D613-C2D7-31BF21F51D90}"/>
          </ac:spMkLst>
        </pc:spChg>
        <pc:spChg chg="del">
          <ac:chgData name="Ritesh Kumar" userId="d5ee3820d0dd971c" providerId="LiveId" clId="{213C2D29-5E7B-4E25-9A19-6B94A18D1159}" dt="2026-06-12T11:21:04.012" v="79" actId="21"/>
          <ac:spMkLst>
            <pc:docMk/>
            <pc:sldMk cId="1852675975" sldId="338"/>
            <ac:spMk id="3" creationId="{8D28A202-7A1D-17A2-7AE0-ECC61923567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88EAF-6ECA-4616-85EF-35AA19C641F3}" type="datetimeFigureOut">
              <a:rPr lang="en-US"/>
              <a:t>6/12/2026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912AB-2776-42F2-A957-313FC7EFEDB9}" type="slidenum">
              <a:rPr/>
              <a:t>‹#›</a:t>
            </a:fld>
            <a:endParaRPr/>
          </a:p>
        </p:txBody>
      </p:sp>
    </p:spTree>
    <p:extLst>
      <p:ext uri="{BB962C8B-B14F-4D97-AF65-F5344CB8AC3E}">
        <p14:creationId xmlns:p14="http://schemas.microsoft.com/office/powerpoint/2010/main" val="393206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a:t>6/12/2026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a:t>‹#›</a:t>
            </a:fld>
            <a:endParaRPr/>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1828800"/>
            <a:ext cx="8229600" cy="28956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p:nvPr>
        </p:nvSpPr>
        <p:spPr>
          <a:xfrm>
            <a:off x="1065213" y="4800600"/>
            <a:ext cx="8229600"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6/12/2026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614" y="2514600"/>
            <a:ext cx="8692399" cy="2819400"/>
          </a:xfrm>
        </p:spPr>
        <p:txBody>
          <a:bodyPr anchor="b">
            <a:normAutofit/>
          </a:bodyPr>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065213" y="5410200"/>
            <a:ext cx="8687333"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6/12/2026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04781" y="1905001"/>
            <a:ext cx="4419599"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29183" y="1905001"/>
            <a:ext cx="441960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t>6/12/2026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dirty="0"/>
          </a:p>
        </p:txBody>
      </p:sp>
      <p:sp>
        <p:nvSpPr>
          <p:cNvPr id="7" name="Date Placeholder 6"/>
          <p:cNvSpPr>
            <a:spLocks noGrp="1"/>
          </p:cNvSpPr>
          <p:nvPr>
            <p:ph type="dt" sz="half" idx="10"/>
          </p:nvPr>
        </p:nvSpPr>
        <p:spPr/>
        <p:txBody>
          <a:bodyPr/>
          <a:lstStyle/>
          <a:p>
            <a:fld id="{03F41C87-7AD9-4845-A077-840E4A0F3F06}" type="datetimeFigureOut">
              <a:rPr lang="en-US"/>
              <a:t>6/12/2026</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03F41C87-7AD9-4845-A077-840E4A0F3F06}" type="datetimeFigureOut">
              <a:rPr lang="en-US"/>
              <a:t>6/12/2026</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03F41C87-7AD9-4845-A077-840E4A0F3F06}" type="datetimeFigureOut">
              <a:rPr lang="en-US"/>
              <a:t>6/12/2026</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951414" y="685800"/>
            <a:ext cx="6400800"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t>6/12/2026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951414" y="685800"/>
            <a:ext cx="6400799"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pPr/>
              <a:t>6/12/2026</a:t>
            </a:fld>
            <a:endParaRPr/>
          </a:p>
        </p:txBody>
      </p:sp>
      <p:sp>
        <p:nvSpPr>
          <p:cNvPr id="7" name="Slide Number Placeholder 6"/>
          <p:cNvSpPr>
            <a:spLocks noGrp="1"/>
          </p:cNvSpPr>
          <p:nvPr>
            <p:ph type="sldNum" sz="quarter" idx="12"/>
          </p:nvPr>
        </p:nvSpPr>
        <p:spPr/>
        <p:txBody>
          <a:bodyPr/>
          <a:lstStyle/>
          <a:p>
            <a:fld id="{2A013F82-EE5E-44EE-A61D-E31C6657F26F}" type="slidenum">
              <a:rPr/>
              <a:pPr/>
              <a:t>‹#›</a:t>
            </a:fld>
            <a:endParaRPr/>
          </a:p>
        </p:txBody>
      </p: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6/12/2026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2412" y="381001"/>
            <a:ext cx="1524001" cy="56388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412" y="381001"/>
            <a:ext cx="7391399"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6/12/2026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144001" cy="13716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0"/>
            <a:ext cx="6553199"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226422" y="6400800"/>
            <a:ext cx="144938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03F41C87-7AD9-4845-A077-840E4A0F3F06}" type="datetimeFigureOut">
              <a:rPr lang="en-US" smtClean="0"/>
              <a:pPr/>
              <a:t>6/12/2026</a:t>
            </a:fld>
            <a:endParaRPr lang="en-US"/>
          </a:p>
        </p:txBody>
      </p:sp>
      <p:sp>
        <p:nvSpPr>
          <p:cNvPr id="6" name="Slide Number Placeholder 5"/>
          <p:cNvSpPr>
            <a:spLocks noGrp="1"/>
          </p:cNvSpPr>
          <p:nvPr>
            <p:ph type="sldNum" sz="quarter" idx="4"/>
          </p:nvPr>
        </p:nvSpPr>
        <p:spPr>
          <a:xfrm>
            <a:off x="9828211" y="6400800"/>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a:p>
        </p:txBody>
      </p:sp>
    </p:spTree>
    <p:extLst>
      <p:ext uri="{BB962C8B-B14F-4D97-AF65-F5344CB8AC3E}">
        <p14:creationId xmlns:p14="http://schemas.microsoft.com/office/powerpoint/2010/main" val="140305999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197868" y="1124744"/>
            <a:ext cx="10141766" cy="1367408"/>
          </a:xfrm>
        </p:spPr>
        <p:txBody>
          <a:bodyPr>
            <a:normAutofit/>
          </a:bodyPr>
          <a:lstStyle/>
          <a:p>
            <a:pPr algn="ctr"/>
            <a:r>
              <a:rPr lang="en-US" sz="4800" dirty="0"/>
              <a:t>Predicting Appliance Energy Consumption in Households</a:t>
            </a:r>
          </a:p>
        </p:txBody>
      </p:sp>
      <p:sp>
        <p:nvSpPr>
          <p:cNvPr id="4" name="Subtitle 3"/>
          <p:cNvSpPr>
            <a:spLocks noGrp="1"/>
          </p:cNvSpPr>
          <p:nvPr>
            <p:ph type="subTitle" idx="1"/>
          </p:nvPr>
        </p:nvSpPr>
        <p:spPr>
          <a:xfrm>
            <a:off x="2277988" y="2996952"/>
            <a:ext cx="8229600" cy="1219200"/>
          </a:xfrm>
        </p:spPr>
        <p:txBody>
          <a:bodyPr/>
          <a:lstStyle/>
          <a:p>
            <a:pPr algn="ctr"/>
            <a:r>
              <a:rPr lang="en-US" dirty="0"/>
              <a:t>Comparative Analysis of Machine Learning Models for Energy Consumption </a:t>
            </a:r>
            <a:endParaRPr lang="it-IT" dirty="0"/>
          </a:p>
        </p:txBody>
      </p:sp>
    </p:spTree>
    <p:extLst>
      <p:ext uri="{BB962C8B-B14F-4D97-AF65-F5344CB8AC3E}">
        <p14:creationId xmlns:p14="http://schemas.microsoft.com/office/powerpoint/2010/main" val="2808920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C1D27D00-DC1A-E407-A872-A0D1A5BFC53F}"/>
              </a:ext>
            </a:extLst>
          </p:cNvPr>
          <p:cNvSpPr>
            <a:spLocks noChangeArrowheads="1"/>
          </p:cNvSpPr>
          <p:nvPr/>
        </p:nvSpPr>
        <p:spPr bwMode="auto">
          <a:xfrm>
            <a:off x="47262" y="667020"/>
            <a:ext cx="1000911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Appliance Energy Prediction dataset contains information related to household appliance energy consumption, indoor environmental conditions, and outdoor weather variables.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primary objective of this project is to predict appliance energy consumption using machine learning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Each observation in the dataset represents a 10-minute interval, resulting in a total of 19,735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data was collected continuously over a period of approximately 4.5 months.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dataset includes features such as temperature, humidity, weather conditions, lighting usage, and other environmental factors that may influence energy consumption.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Various machine learning models are developed and evaluated to identify the most accurate approach for energy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Accurate energy consumption forecasting can support efficient energy management, reduce waste, and contribute to sustainable resource utilization. </a:t>
            </a:r>
          </a:p>
        </p:txBody>
      </p:sp>
      <p:sp>
        <p:nvSpPr>
          <p:cNvPr id="6" name="TextBox 5">
            <a:extLst>
              <a:ext uri="{FF2B5EF4-FFF2-40B4-BE49-F238E27FC236}">
                <a16:creationId xmlns:a16="http://schemas.microsoft.com/office/drawing/2014/main" id="{D965FBC5-DB42-F156-778E-EFB4FAA090BA}"/>
              </a:ext>
            </a:extLst>
          </p:cNvPr>
          <p:cNvSpPr txBox="1"/>
          <p:nvPr/>
        </p:nvSpPr>
        <p:spPr>
          <a:xfrm>
            <a:off x="45740" y="19472"/>
            <a:ext cx="3517310" cy="646331"/>
          </a:xfrm>
          <a:prstGeom prst="rect">
            <a:avLst/>
          </a:prstGeom>
          <a:noFill/>
        </p:spPr>
        <p:txBody>
          <a:bodyPr wrap="none" rtlCol="0">
            <a:spAutoFit/>
          </a:bodyPr>
          <a:lstStyle/>
          <a:p>
            <a:r>
              <a:rPr lang="en-US" sz="3600" b="1" dirty="0"/>
              <a:t>INTRODUCTION</a:t>
            </a:r>
            <a:endParaRPr lang="en-IN" sz="3600" b="1" dirty="0"/>
          </a:p>
        </p:txBody>
      </p:sp>
    </p:spTree>
    <p:extLst>
      <p:ext uri="{BB962C8B-B14F-4D97-AF65-F5344CB8AC3E}">
        <p14:creationId xmlns:p14="http://schemas.microsoft.com/office/powerpoint/2010/main" val="213913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EEE6592-2335-39E1-5993-7FEB65AD4762}"/>
              </a:ext>
            </a:extLst>
          </p:cNvPr>
          <p:cNvSpPr txBox="1"/>
          <p:nvPr/>
        </p:nvSpPr>
        <p:spPr>
          <a:xfrm>
            <a:off x="117748" y="188640"/>
            <a:ext cx="9073008" cy="2954655"/>
          </a:xfrm>
          <a:prstGeom prst="rect">
            <a:avLst/>
          </a:prstGeom>
          <a:noFill/>
        </p:spPr>
        <p:txBody>
          <a:bodyPr wrap="square" rtlCol="0">
            <a:spAutoFit/>
          </a:bodyPr>
          <a:lstStyle/>
          <a:p>
            <a:r>
              <a:rPr lang="en-US" sz="2400" dirty="0"/>
              <a:t>Problem Statement</a:t>
            </a:r>
          </a:p>
          <a:p>
            <a:pPr marL="285750" indent="-285750">
              <a:buFont typeface="Arial" panose="020B0604020202020204" pitchFamily="34" charset="0"/>
              <a:buChar char="•"/>
            </a:pPr>
            <a:r>
              <a:rPr lang="en-US" dirty="0"/>
              <a:t>Household energy consumption is increasing due to the growing use of electrical appliances. </a:t>
            </a:r>
          </a:p>
          <a:p>
            <a:pPr marL="285750" indent="-285750">
              <a:buFont typeface="Arial" panose="020B0604020202020204" pitchFamily="34" charset="0"/>
              <a:buChar char="•"/>
            </a:pPr>
            <a:r>
              <a:rPr lang="en-US" dirty="0"/>
              <a:t>Accurate prediction of appliance energy usage is essential for improving energy efficiency and reducing wastage. </a:t>
            </a:r>
          </a:p>
          <a:p>
            <a:pPr marL="285750" indent="-285750">
              <a:buFont typeface="Arial" panose="020B0604020202020204" pitchFamily="34" charset="0"/>
              <a:buChar char="•"/>
            </a:pPr>
            <a:r>
              <a:rPr lang="en-US" dirty="0"/>
              <a:t>Energy consumption is influenced by multiple factors such as temperature, humidity, weather conditions, and lighting usage. </a:t>
            </a:r>
          </a:p>
          <a:p>
            <a:pPr marL="285750" indent="-285750">
              <a:buFont typeface="Arial" panose="020B0604020202020204" pitchFamily="34" charset="0"/>
              <a:buChar char="•"/>
            </a:pPr>
            <a:r>
              <a:rPr lang="en-US" dirty="0"/>
              <a:t>Traditional methods often fail to capture complex relationships between these variables. </a:t>
            </a:r>
          </a:p>
          <a:p>
            <a:pPr marL="285750" indent="-285750">
              <a:buFont typeface="Arial" panose="020B0604020202020204" pitchFamily="34" charset="0"/>
              <a:buChar char="•"/>
            </a:pPr>
            <a:r>
              <a:rPr lang="en-US" dirty="0"/>
              <a:t>Therefore, there is a need for a reliable machine learning-based solution to predict appliance energy consumption accurately.</a:t>
            </a:r>
          </a:p>
        </p:txBody>
      </p:sp>
      <p:sp>
        <p:nvSpPr>
          <p:cNvPr id="7" name="TextBox 6">
            <a:extLst>
              <a:ext uri="{FF2B5EF4-FFF2-40B4-BE49-F238E27FC236}">
                <a16:creationId xmlns:a16="http://schemas.microsoft.com/office/drawing/2014/main" id="{149AA898-246F-592E-337F-5A73C59E3B46}"/>
              </a:ext>
            </a:extLst>
          </p:cNvPr>
          <p:cNvSpPr txBox="1"/>
          <p:nvPr/>
        </p:nvSpPr>
        <p:spPr>
          <a:xfrm>
            <a:off x="189756" y="3501008"/>
            <a:ext cx="9485417" cy="2954655"/>
          </a:xfrm>
          <a:prstGeom prst="rect">
            <a:avLst/>
          </a:prstGeom>
          <a:noFill/>
        </p:spPr>
        <p:txBody>
          <a:bodyPr wrap="none" rtlCol="0">
            <a:spAutoFit/>
          </a:bodyPr>
          <a:lstStyle/>
          <a:p>
            <a:r>
              <a:rPr lang="en-US" sz="2400" dirty="0"/>
              <a:t>Objectives</a:t>
            </a:r>
          </a:p>
          <a:p>
            <a:pPr marL="285750" indent="-285750">
              <a:buFont typeface="Arial" panose="020B0604020202020204" pitchFamily="34" charset="0"/>
              <a:buChar char="•"/>
            </a:pPr>
            <a:r>
              <a:rPr lang="en-US" dirty="0"/>
              <a:t>To analyze the factors affecting appliance energy consumption. </a:t>
            </a:r>
          </a:p>
          <a:p>
            <a:pPr marL="285750" indent="-285750">
              <a:buFont typeface="Arial" panose="020B0604020202020204" pitchFamily="34" charset="0"/>
              <a:buChar char="•"/>
            </a:pPr>
            <a:r>
              <a:rPr lang="en-US" dirty="0"/>
              <a:t>To perform data preprocessing, feature engineering, and exploratory data analysis. </a:t>
            </a:r>
          </a:p>
          <a:p>
            <a:pPr marL="285750" indent="-285750">
              <a:buFont typeface="Arial" panose="020B0604020202020204" pitchFamily="34" charset="0"/>
              <a:buChar char="•"/>
            </a:pPr>
            <a:r>
              <a:rPr lang="en-US" dirty="0"/>
              <a:t>To build and compare multiple machine learning models for energy prediction. </a:t>
            </a:r>
          </a:p>
          <a:p>
            <a:pPr marL="285750" indent="-285750">
              <a:buFont typeface="Arial" panose="020B0604020202020204" pitchFamily="34" charset="0"/>
              <a:buChar char="•"/>
            </a:pPr>
            <a:r>
              <a:rPr lang="en-US" dirty="0"/>
              <a:t>To evaluate model performance using metrics such as R² Score and Mean Squared Error (MSE). </a:t>
            </a:r>
          </a:p>
          <a:p>
            <a:pPr marL="285750" indent="-285750">
              <a:buFont typeface="Arial" panose="020B0604020202020204" pitchFamily="34" charset="0"/>
              <a:buChar char="•"/>
            </a:pPr>
            <a:r>
              <a:rPr lang="en-US" dirty="0"/>
              <a:t>To apply cross-validation and hyperparameter tuning for model optimization. </a:t>
            </a:r>
          </a:p>
          <a:p>
            <a:pPr marL="285750" indent="-285750">
              <a:buFont typeface="Arial" panose="020B0604020202020204" pitchFamily="34" charset="0"/>
              <a:buChar char="•"/>
            </a:pPr>
            <a:r>
              <a:rPr lang="en-US" dirty="0"/>
              <a:t>To identify the most important features influencing energy consumption. </a:t>
            </a:r>
          </a:p>
          <a:p>
            <a:pPr marL="285750" indent="-285750">
              <a:buFont typeface="Arial" panose="020B0604020202020204" pitchFamily="34" charset="0"/>
              <a:buChar char="•"/>
            </a:pPr>
            <a:r>
              <a:rPr lang="en-US" dirty="0"/>
              <a:t>To develop an accurate and reliable model for predicting household appliance energy usage. </a:t>
            </a:r>
          </a:p>
          <a:p>
            <a:pPr marL="285750" indent="-285750">
              <a:buFont typeface="Arial" panose="020B0604020202020204" pitchFamily="34" charset="0"/>
              <a:buChar char="•"/>
            </a:pPr>
            <a:r>
              <a:rPr lang="en-US" dirty="0"/>
              <a:t>To support efficient energy management and optimize energy utilization.</a:t>
            </a:r>
          </a:p>
          <a:p>
            <a:endParaRPr lang="en-IN" dirty="0"/>
          </a:p>
        </p:txBody>
      </p:sp>
    </p:spTree>
    <p:extLst>
      <p:ext uri="{BB962C8B-B14F-4D97-AF65-F5344CB8AC3E}">
        <p14:creationId xmlns:p14="http://schemas.microsoft.com/office/powerpoint/2010/main" val="1886984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9B9075-E749-2FA0-B809-D34317B6147F}"/>
              </a:ext>
            </a:extLst>
          </p:cNvPr>
          <p:cNvSpPr/>
          <p:nvPr/>
        </p:nvSpPr>
        <p:spPr>
          <a:xfrm>
            <a:off x="549796" y="1484784"/>
            <a:ext cx="2736304" cy="14761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Total Records</a:t>
            </a:r>
          </a:p>
          <a:p>
            <a:pPr algn="ctr"/>
            <a:r>
              <a:rPr lang="en-IN" dirty="0">
                <a:latin typeface="Agency FB" panose="020B0503020202020204" pitchFamily="34" charset="0"/>
              </a:rPr>
              <a:t>19,735</a:t>
            </a:r>
            <a:endParaRPr lang="en-IN" dirty="0">
              <a:ln w="0"/>
              <a:solidFill>
                <a:schemeClr val="tx1"/>
              </a:solidFill>
              <a:effectLst>
                <a:outerShdw blurRad="38100" dist="19050" dir="2700000" algn="tl" rotWithShape="0">
                  <a:schemeClr val="dk1">
                    <a:alpha val="40000"/>
                  </a:schemeClr>
                </a:outerShdw>
              </a:effectLst>
              <a:latin typeface="Agency FB" panose="020B0503020202020204" pitchFamily="34" charset="0"/>
            </a:endParaRPr>
          </a:p>
        </p:txBody>
      </p:sp>
      <p:sp>
        <p:nvSpPr>
          <p:cNvPr id="5" name="Rectangle 4">
            <a:extLst>
              <a:ext uri="{FF2B5EF4-FFF2-40B4-BE49-F238E27FC236}">
                <a16:creationId xmlns:a16="http://schemas.microsoft.com/office/drawing/2014/main" id="{7F28D668-FB3C-2EAF-7D34-96F5CB487A87}"/>
              </a:ext>
            </a:extLst>
          </p:cNvPr>
          <p:cNvSpPr/>
          <p:nvPr/>
        </p:nvSpPr>
        <p:spPr>
          <a:xfrm>
            <a:off x="3934172" y="1484784"/>
            <a:ext cx="2304256" cy="14761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Features</a:t>
            </a:r>
          </a:p>
          <a:p>
            <a:pPr algn="ctr"/>
            <a:r>
              <a:rPr lang="en-IN" dirty="0">
                <a:solidFill>
                  <a:schemeClr val="tx1"/>
                </a:solidFill>
                <a:latin typeface="Agency FB" panose="020B0503020202020204" pitchFamily="34" charset="0"/>
              </a:rPr>
              <a:t>29</a:t>
            </a:r>
          </a:p>
        </p:txBody>
      </p:sp>
      <p:sp>
        <p:nvSpPr>
          <p:cNvPr id="6" name="Rectangle 5">
            <a:extLst>
              <a:ext uri="{FF2B5EF4-FFF2-40B4-BE49-F238E27FC236}">
                <a16:creationId xmlns:a16="http://schemas.microsoft.com/office/drawing/2014/main" id="{71480EDE-39B5-6C35-D02B-6F1517ABCCEA}"/>
              </a:ext>
            </a:extLst>
          </p:cNvPr>
          <p:cNvSpPr/>
          <p:nvPr/>
        </p:nvSpPr>
        <p:spPr>
          <a:xfrm>
            <a:off x="6526460" y="1484784"/>
            <a:ext cx="2376264" cy="14761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Data Collection Period</a:t>
            </a:r>
          </a:p>
          <a:p>
            <a:pPr algn="ctr"/>
            <a:r>
              <a:rPr lang="en-IN" dirty="0">
                <a:latin typeface="Agency FB" panose="020B0503020202020204" pitchFamily="34" charset="0"/>
              </a:rPr>
              <a:t>4.5 Months</a:t>
            </a:r>
          </a:p>
        </p:txBody>
      </p:sp>
      <p:sp>
        <p:nvSpPr>
          <p:cNvPr id="7" name="Rectangle 6">
            <a:extLst>
              <a:ext uri="{FF2B5EF4-FFF2-40B4-BE49-F238E27FC236}">
                <a16:creationId xmlns:a16="http://schemas.microsoft.com/office/drawing/2014/main" id="{51C1BDAF-B99F-52A3-3AA5-2D86FAA9961F}"/>
              </a:ext>
            </a:extLst>
          </p:cNvPr>
          <p:cNvSpPr/>
          <p:nvPr/>
        </p:nvSpPr>
        <p:spPr>
          <a:xfrm>
            <a:off x="9320676" y="1520788"/>
            <a:ext cx="2376264" cy="14761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Observation Interval</a:t>
            </a:r>
          </a:p>
          <a:p>
            <a:pPr algn="ctr"/>
            <a:r>
              <a:rPr lang="en-IN" dirty="0">
                <a:solidFill>
                  <a:schemeClr val="tx1"/>
                </a:solidFill>
              </a:rPr>
              <a:t>10 min</a:t>
            </a:r>
          </a:p>
        </p:txBody>
      </p:sp>
      <p:sp>
        <p:nvSpPr>
          <p:cNvPr id="8" name="TextBox 7">
            <a:extLst>
              <a:ext uri="{FF2B5EF4-FFF2-40B4-BE49-F238E27FC236}">
                <a16:creationId xmlns:a16="http://schemas.microsoft.com/office/drawing/2014/main" id="{225E40DE-8BEA-197B-34B5-E6A51ABED6B4}"/>
              </a:ext>
            </a:extLst>
          </p:cNvPr>
          <p:cNvSpPr txBox="1"/>
          <p:nvPr/>
        </p:nvSpPr>
        <p:spPr>
          <a:xfrm>
            <a:off x="189756" y="116632"/>
            <a:ext cx="4507260" cy="1107996"/>
          </a:xfrm>
          <a:prstGeom prst="rect">
            <a:avLst/>
          </a:prstGeom>
          <a:noFill/>
        </p:spPr>
        <p:txBody>
          <a:bodyPr wrap="none" rtlCol="0">
            <a:spAutoFit/>
          </a:bodyPr>
          <a:lstStyle/>
          <a:p>
            <a:r>
              <a:rPr lang="en-US" sz="2400" b="1" kern="0" spc="300" dirty="0">
                <a:solidFill>
                  <a:srgbClr val="FFFFFF"/>
                </a:solidFill>
                <a:latin typeface="Calibri" panose="020F0502020204030204" pitchFamily="34" charset="0"/>
                <a:ea typeface="Calibri" panose="020F0502020204030204" pitchFamily="34" charset="-122"/>
                <a:cs typeface="Calibri" panose="020F0502020204030204" pitchFamily="34" charset="-120"/>
              </a:rPr>
              <a:t>DATASET OVERVIEW</a:t>
            </a:r>
          </a:p>
          <a:p>
            <a:endParaRPr lang="en-US" sz="2400" b="1" kern="0" spc="3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r>
              <a:rPr lang="en-IN" dirty="0"/>
              <a:t>APPLIANCE ENERGY PREDICTION DATASET</a:t>
            </a:r>
          </a:p>
        </p:txBody>
      </p:sp>
      <p:graphicFrame>
        <p:nvGraphicFramePr>
          <p:cNvPr id="12" name="Table 11">
            <a:extLst>
              <a:ext uri="{FF2B5EF4-FFF2-40B4-BE49-F238E27FC236}">
                <a16:creationId xmlns:a16="http://schemas.microsoft.com/office/drawing/2014/main" id="{9A1ABACF-7E67-FE6D-2357-32456D9EF687}"/>
              </a:ext>
            </a:extLst>
          </p:cNvPr>
          <p:cNvGraphicFramePr>
            <a:graphicFrameLocks noGrp="1"/>
          </p:cNvGraphicFramePr>
          <p:nvPr>
            <p:extLst>
              <p:ext uri="{D42A27DB-BD31-4B8C-83A1-F6EECF244321}">
                <p14:modId xmlns:p14="http://schemas.microsoft.com/office/powerpoint/2010/main" val="1447762811"/>
              </p:ext>
            </p:extLst>
          </p:nvPr>
        </p:nvGraphicFramePr>
        <p:xfrm>
          <a:off x="0" y="3017520"/>
          <a:ext cx="6886500" cy="3840480"/>
        </p:xfrm>
        <a:graphic>
          <a:graphicData uri="http://schemas.openxmlformats.org/drawingml/2006/table">
            <a:tbl>
              <a:tblPr firstRow="1" bandRow="1">
                <a:tableStyleId>{5C22544A-7EE6-4342-B048-85BDC9FD1C3A}</a:tableStyleId>
              </a:tblPr>
              <a:tblGrid>
                <a:gridCol w="3443250">
                  <a:extLst>
                    <a:ext uri="{9D8B030D-6E8A-4147-A177-3AD203B41FA5}">
                      <a16:colId xmlns:a16="http://schemas.microsoft.com/office/drawing/2014/main" val="1486897566"/>
                    </a:ext>
                  </a:extLst>
                </a:gridCol>
                <a:gridCol w="3443250">
                  <a:extLst>
                    <a:ext uri="{9D8B030D-6E8A-4147-A177-3AD203B41FA5}">
                      <a16:colId xmlns:a16="http://schemas.microsoft.com/office/drawing/2014/main" val="2932856580"/>
                    </a:ext>
                  </a:extLst>
                </a:gridCol>
              </a:tblGrid>
              <a:tr h="264850">
                <a:tc>
                  <a:txBody>
                    <a:bodyPr/>
                    <a:lstStyle/>
                    <a:p>
                      <a:r>
                        <a:rPr lang="en-IN" dirty="0"/>
                        <a:t>Attribute</a:t>
                      </a:r>
                    </a:p>
                  </a:txBody>
                  <a:tcPr/>
                </a:tc>
                <a:tc>
                  <a:txBody>
                    <a:bodyPr/>
                    <a:lstStyle/>
                    <a:p>
                      <a:r>
                        <a:rPr lang="en-IN" dirty="0"/>
                        <a:t>Value</a:t>
                      </a:r>
                    </a:p>
                  </a:txBody>
                  <a:tcPr/>
                </a:tc>
                <a:extLst>
                  <a:ext uri="{0D108BD9-81ED-4DB2-BD59-A6C34878D82A}">
                    <a16:rowId xmlns:a16="http://schemas.microsoft.com/office/drawing/2014/main" val="1884082231"/>
                  </a:ext>
                </a:extLst>
              </a:tr>
              <a:tr h="264850">
                <a:tc>
                  <a:txBody>
                    <a:bodyPr/>
                    <a:lstStyle/>
                    <a:p>
                      <a:r>
                        <a:rPr lang="en-IN" dirty="0"/>
                        <a:t>Target Variable</a:t>
                      </a:r>
                    </a:p>
                  </a:txBody>
                  <a:tcPr/>
                </a:tc>
                <a:tc>
                  <a:txBody>
                    <a:bodyPr/>
                    <a:lstStyle/>
                    <a:p>
                      <a:r>
                        <a:rPr lang="en-IN" dirty="0"/>
                        <a:t>Appliance Energy Consumption</a:t>
                      </a:r>
                    </a:p>
                  </a:txBody>
                  <a:tcPr/>
                </a:tc>
                <a:extLst>
                  <a:ext uri="{0D108BD9-81ED-4DB2-BD59-A6C34878D82A}">
                    <a16:rowId xmlns:a16="http://schemas.microsoft.com/office/drawing/2014/main" val="3022823317"/>
                  </a:ext>
                </a:extLst>
              </a:tr>
              <a:tr h="264850">
                <a:tc>
                  <a:txBody>
                    <a:bodyPr/>
                    <a:lstStyle/>
                    <a:p>
                      <a:r>
                        <a:rPr lang="en-IN" dirty="0"/>
                        <a:t>Missing Values</a:t>
                      </a:r>
                    </a:p>
                  </a:txBody>
                  <a:tcPr/>
                </a:tc>
                <a:tc>
                  <a:txBody>
                    <a:bodyPr/>
                    <a:lstStyle/>
                    <a:p>
                      <a:r>
                        <a:rPr lang="en-IN" dirty="0"/>
                        <a:t>None</a:t>
                      </a:r>
                    </a:p>
                  </a:txBody>
                  <a:tcPr/>
                </a:tc>
                <a:extLst>
                  <a:ext uri="{0D108BD9-81ED-4DB2-BD59-A6C34878D82A}">
                    <a16:rowId xmlns:a16="http://schemas.microsoft.com/office/drawing/2014/main" val="1011305367"/>
                  </a:ext>
                </a:extLst>
              </a:tr>
              <a:tr h="264850">
                <a:tc>
                  <a:txBody>
                    <a:bodyPr/>
                    <a:lstStyle/>
                    <a:p>
                      <a:r>
                        <a:rPr lang="en-IN" dirty="0"/>
                        <a:t>Indoor Sensors</a:t>
                      </a:r>
                    </a:p>
                  </a:txBody>
                  <a:tcPr/>
                </a:tc>
                <a:tc>
                  <a:txBody>
                    <a:bodyPr/>
                    <a:lstStyle/>
                    <a:p>
                      <a:r>
                        <a:rPr lang="en-IN" dirty="0"/>
                        <a:t>Temperature &amp; Humidity Sensors</a:t>
                      </a:r>
                    </a:p>
                  </a:txBody>
                  <a:tcPr/>
                </a:tc>
                <a:extLst>
                  <a:ext uri="{0D108BD9-81ED-4DB2-BD59-A6C34878D82A}">
                    <a16:rowId xmlns:a16="http://schemas.microsoft.com/office/drawing/2014/main" val="3926395518"/>
                  </a:ext>
                </a:extLst>
              </a:tr>
              <a:tr h="463488">
                <a:tc>
                  <a:txBody>
                    <a:bodyPr/>
                    <a:lstStyle/>
                    <a:p>
                      <a:r>
                        <a:rPr lang="en-IN" dirty="0"/>
                        <a:t>Weather Features</a:t>
                      </a:r>
                    </a:p>
                  </a:txBody>
                  <a:tcPr/>
                </a:tc>
                <a:tc>
                  <a:txBody>
                    <a:bodyPr/>
                    <a:lstStyle/>
                    <a:p>
                      <a:r>
                        <a:rPr lang="en-US" dirty="0"/>
                        <a:t>Temperature, Humidity, Wind Speed, Pressure, Visibility</a:t>
                      </a:r>
                      <a:endParaRPr lang="en-IN" dirty="0"/>
                    </a:p>
                  </a:txBody>
                  <a:tcPr/>
                </a:tc>
                <a:extLst>
                  <a:ext uri="{0D108BD9-81ED-4DB2-BD59-A6C34878D82A}">
                    <a16:rowId xmlns:a16="http://schemas.microsoft.com/office/drawing/2014/main" val="690463017"/>
                  </a:ext>
                </a:extLst>
              </a:tr>
              <a:tr h="463488">
                <a:tc>
                  <a:txBody>
                    <a:bodyPr/>
                    <a:lstStyle/>
                    <a:p>
                      <a:r>
                        <a:rPr lang="en-IN" dirty="0"/>
                        <a:t>Feature Engineered Variables</a:t>
                      </a:r>
                    </a:p>
                  </a:txBody>
                  <a:tcPr/>
                </a:tc>
                <a:tc>
                  <a:txBody>
                    <a:bodyPr/>
                    <a:lstStyle/>
                    <a:p>
                      <a:r>
                        <a:rPr lang="en-IN" dirty="0"/>
                        <a:t>Temperature Difference, Humidity Difference</a:t>
                      </a:r>
                    </a:p>
                  </a:txBody>
                  <a:tcPr/>
                </a:tc>
                <a:extLst>
                  <a:ext uri="{0D108BD9-81ED-4DB2-BD59-A6C34878D82A}">
                    <a16:rowId xmlns:a16="http://schemas.microsoft.com/office/drawing/2014/main" val="3409096741"/>
                  </a:ext>
                </a:extLst>
              </a:tr>
              <a:tr h="264850">
                <a:tc>
                  <a:txBody>
                    <a:bodyPr/>
                    <a:lstStyle/>
                    <a:p>
                      <a:r>
                        <a:rPr lang="en-IN" dirty="0"/>
                        <a:t>Data Type</a:t>
                      </a:r>
                    </a:p>
                  </a:txBody>
                  <a:tcPr/>
                </a:tc>
                <a:tc>
                  <a:txBody>
                    <a:bodyPr/>
                    <a:lstStyle/>
                    <a:p>
                      <a:r>
                        <a:rPr lang="en-IN" dirty="0"/>
                        <a:t>Time-Series Sensor Data</a:t>
                      </a:r>
                    </a:p>
                  </a:txBody>
                  <a:tcPr/>
                </a:tc>
                <a:extLst>
                  <a:ext uri="{0D108BD9-81ED-4DB2-BD59-A6C34878D82A}">
                    <a16:rowId xmlns:a16="http://schemas.microsoft.com/office/drawing/2014/main" val="3729292641"/>
                  </a:ext>
                </a:extLst>
              </a:tr>
              <a:tr h="264850">
                <a:tc>
                  <a:txBody>
                    <a:bodyPr/>
                    <a:lstStyle/>
                    <a:p>
                      <a:r>
                        <a:rPr lang="en-IN" dirty="0"/>
                        <a:t>Prediction Type</a:t>
                      </a:r>
                    </a:p>
                  </a:txBody>
                  <a:tcPr/>
                </a:tc>
                <a:tc>
                  <a:txBody>
                    <a:bodyPr/>
                    <a:lstStyle/>
                    <a:p>
                      <a:r>
                        <a:rPr lang="en-IN" dirty="0"/>
                        <a:t>Regression</a:t>
                      </a:r>
                    </a:p>
                  </a:txBody>
                  <a:tcPr/>
                </a:tc>
                <a:extLst>
                  <a:ext uri="{0D108BD9-81ED-4DB2-BD59-A6C34878D82A}">
                    <a16:rowId xmlns:a16="http://schemas.microsoft.com/office/drawing/2014/main" val="4213431522"/>
                  </a:ext>
                </a:extLst>
              </a:tr>
              <a:tr h="264850">
                <a:tc>
                  <a:txBody>
                    <a:bodyPr/>
                    <a:lstStyle/>
                    <a:p>
                      <a:r>
                        <a:rPr lang="en-IN" dirty="0"/>
                        <a:t>Energy Unit</a:t>
                      </a:r>
                    </a:p>
                  </a:txBody>
                  <a:tcPr/>
                </a:tc>
                <a:tc>
                  <a:txBody>
                    <a:bodyPr/>
                    <a:lstStyle/>
                    <a:p>
                      <a:r>
                        <a:rPr lang="en-IN" dirty="0" err="1"/>
                        <a:t>Wh</a:t>
                      </a:r>
                      <a:r>
                        <a:rPr lang="en-IN" dirty="0"/>
                        <a:t> (Watt-hour)</a:t>
                      </a:r>
                    </a:p>
                  </a:txBody>
                  <a:tcPr/>
                </a:tc>
                <a:extLst>
                  <a:ext uri="{0D108BD9-81ED-4DB2-BD59-A6C34878D82A}">
                    <a16:rowId xmlns:a16="http://schemas.microsoft.com/office/drawing/2014/main" val="2384904055"/>
                  </a:ext>
                </a:extLst>
              </a:tr>
            </a:tbl>
          </a:graphicData>
        </a:graphic>
      </p:graphicFrame>
      <p:sp>
        <p:nvSpPr>
          <p:cNvPr id="13" name="Rectangle 12">
            <a:extLst>
              <a:ext uri="{FF2B5EF4-FFF2-40B4-BE49-F238E27FC236}">
                <a16:creationId xmlns:a16="http://schemas.microsoft.com/office/drawing/2014/main" id="{CC48DE70-0F4A-3513-FF49-9F37193B1E00}"/>
              </a:ext>
            </a:extLst>
          </p:cNvPr>
          <p:cNvSpPr/>
          <p:nvPr/>
        </p:nvSpPr>
        <p:spPr>
          <a:xfrm>
            <a:off x="7534572" y="3573016"/>
            <a:ext cx="4536504" cy="30243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t>Dataset Highlights</a:t>
            </a:r>
          </a:p>
          <a:p>
            <a:pPr marL="285750" indent="-285750">
              <a:buFont typeface="Arial" panose="020B0604020202020204" pitchFamily="34" charset="0"/>
              <a:buChar char="•"/>
            </a:pPr>
            <a:r>
              <a:rPr lang="en-US" sz="1400" dirty="0"/>
              <a:t>Contains appliance energy consumption and environmental sensor measurements. </a:t>
            </a:r>
          </a:p>
          <a:p>
            <a:pPr marL="285750" indent="-285750">
              <a:buFont typeface="Arial" panose="020B0604020202020204" pitchFamily="34" charset="0"/>
              <a:buChar char="•"/>
            </a:pPr>
            <a:r>
              <a:rPr lang="en-US" sz="1400" dirty="0"/>
              <a:t>Includes indoor temperature and humidity readings from multiple rooms. </a:t>
            </a:r>
          </a:p>
          <a:p>
            <a:pPr marL="285750" indent="-285750">
              <a:buFont typeface="Arial" panose="020B0604020202020204" pitchFamily="34" charset="0"/>
              <a:buChar char="•"/>
            </a:pPr>
            <a:r>
              <a:rPr lang="en-US" sz="1400" dirty="0"/>
              <a:t>Weather-related variables such as outdoor temperature, humidity, pressure, wind speed, and visibility are included. </a:t>
            </a:r>
          </a:p>
          <a:p>
            <a:pPr marL="285750" indent="-285750">
              <a:buFont typeface="Arial" panose="020B0604020202020204" pitchFamily="34" charset="0"/>
              <a:buChar char="•"/>
            </a:pPr>
            <a:r>
              <a:rPr lang="en-US" sz="1400" dirty="0"/>
              <a:t>Each observation represents a 10-minute interval. </a:t>
            </a:r>
          </a:p>
          <a:p>
            <a:pPr marL="285750" indent="-285750">
              <a:buFont typeface="Arial" panose="020B0604020202020204" pitchFamily="34" charset="0"/>
              <a:buChar char="•"/>
            </a:pPr>
            <a:r>
              <a:rPr lang="en-US" sz="1400" dirty="0"/>
              <a:t>Suitable for regression-based machine learning tasks. </a:t>
            </a:r>
          </a:p>
          <a:p>
            <a:pPr marL="285750" indent="-285750">
              <a:buFont typeface="Arial" panose="020B0604020202020204" pitchFamily="34" charset="0"/>
              <a:buChar char="•"/>
            </a:pPr>
            <a:r>
              <a:rPr lang="en-US" sz="1400" dirty="0"/>
              <a:t>Designed to support energy consumption forecasting and smart energy management. </a:t>
            </a:r>
          </a:p>
          <a:p>
            <a:pPr algn="ctr"/>
            <a:endParaRPr lang="en-IN" dirty="0"/>
          </a:p>
        </p:txBody>
      </p:sp>
    </p:spTree>
    <p:extLst>
      <p:ext uri="{BB962C8B-B14F-4D97-AF65-F5344CB8AC3E}">
        <p14:creationId xmlns:p14="http://schemas.microsoft.com/office/powerpoint/2010/main" val="300288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643373E-09AE-A08C-5C24-BD5F3339ACAF}"/>
              </a:ext>
            </a:extLst>
          </p:cNvPr>
          <p:cNvSpPr txBox="1"/>
          <p:nvPr/>
        </p:nvSpPr>
        <p:spPr>
          <a:xfrm>
            <a:off x="0" y="31440"/>
            <a:ext cx="5782352" cy="523220"/>
          </a:xfrm>
          <a:prstGeom prst="rect">
            <a:avLst/>
          </a:prstGeom>
          <a:noFill/>
        </p:spPr>
        <p:txBody>
          <a:bodyPr wrap="none" rtlCol="0">
            <a:spAutoFit/>
          </a:bodyPr>
          <a:lstStyle/>
          <a:p>
            <a:r>
              <a:rPr lang="en-US" sz="2800" b="1" kern="0" spc="300" dirty="0">
                <a:solidFill>
                  <a:srgbClr val="FFFFFF"/>
                </a:solidFill>
                <a:latin typeface="Calibri" panose="020F0502020204030204" pitchFamily="34" charset="0"/>
                <a:ea typeface="Calibri" panose="020F0502020204030204" pitchFamily="34" charset="-122"/>
                <a:cs typeface="Calibri" panose="020F0502020204030204" pitchFamily="34" charset="-120"/>
              </a:rPr>
              <a:t>EXPLORATORY DATA ANALYSIS</a:t>
            </a:r>
            <a:endParaRPr lang="en-IN" sz="2800" dirty="0"/>
          </a:p>
        </p:txBody>
      </p:sp>
      <p:pic>
        <p:nvPicPr>
          <p:cNvPr id="8" name="Picture 7">
            <a:extLst>
              <a:ext uri="{FF2B5EF4-FFF2-40B4-BE49-F238E27FC236}">
                <a16:creationId xmlns:a16="http://schemas.microsoft.com/office/drawing/2014/main" id="{11802E63-F4FB-664F-7E52-A468F344BE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8" y="941005"/>
            <a:ext cx="5571998" cy="3458058"/>
          </a:xfrm>
          <a:prstGeom prst="rect">
            <a:avLst/>
          </a:prstGeom>
        </p:spPr>
      </p:pic>
      <p:pic>
        <p:nvPicPr>
          <p:cNvPr id="10" name="Picture 9">
            <a:extLst>
              <a:ext uri="{FF2B5EF4-FFF2-40B4-BE49-F238E27FC236}">
                <a16:creationId xmlns:a16="http://schemas.microsoft.com/office/drawing/2014/main" id="{6419209E-9BB0-19AC-DF80-19FB31DEEA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0396" y="941005"/>
            <a:ext cx="5915851" cy="3458058"/>
          </a:xfrm>
          <a:prstGeom prst="rect">
            <a:avLst/>
          </a:prstGeom>
        </p:spPr>
      </p:pic>
      <p:sp>
        <p:nvSpPr>
          <p:cNvPr id="11" name="Rectangle 10">
            <a:extLst>
              <a:ext uri="{FF2B5EF4-FFF2-40B4-BE49-F238E27FC236}">
                <a16:creationId xmlns:a16="http://schemas.microsoft.com/office/drawing/2014/main" id="{423B079F-ACCD-5BB0-67D2-F1991D764DAD}"/>
              </a:ext>
            </a:extLst>
          </p:cNvPr>
          <p:cNvSpPr/>
          <p:nvPr/>
        </p:nvSpPr>
        <p:spPr>
          <a:xfrm>
            <a:off x="18358" y="4785408"/>
            <a:ext cx="12188824" cy="181194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solidFill>
                  <a:schemeClr val="bg1"/>
                </a:solidFill>
              </a:rPr>
              <a:t>KEY OSERVATIONS</a:t>
            </a:r>
          </a:p>
          <a:p>
            <a:pPr marL="171450" indent="-171450">
              <a:buFont typeface="Arial" panose="020B0604020202020204" pitchFamily="34" charset="0"/>
              <a:buChar char="•"/>
            </a:pPr>
            <a:r>
              <a:rPr lang="en-US" sz="1200" dirty="0">
                <a:solidFill>
                  <a:schemeClr val="bg1"/>
                </a:solidFill>
              </a:rPr>
              <a:t>The original </a:t>
            </a:r>
            <a:r>
              <a:rPr lang="en-US" sz="1200" b="1" dirty="0">
                <a:solidFill>
                  <a:schemeClr val="bg1"/>
                </a:solidFill>
              </a:rPr>
              <a:t>Appliances</a:t>
            </a:r>
            <a:r>
              <a:rPr lang="en-US" sz="1200" dirty="0">
                <a:solidFill>
                  <a:schemeClr val="bg1"/>
                </a:solidFill>
              </a:rPr>
              <a:t> distribution is highly right-skewed, with most observations concentrated at lower energy consumption values. </a:t>
            </a:r>
          </a:p>
          <a:p>
            <a:pPr marL="171450" indent="-171450">
              <a:buFont typeface="Arial" panose="020B0604020202020204" pitchFamily="34" charset="0"/>
              <a:buChar char="•"/>
            </a:pPr>
            <a:r>
              <a:rPr lang="en-US" sz="1200" dirty="0">
                <a:solidFill>
                  <a:schemeClr val="bg1"/>
                </a:solidFill>
              </a:rPr>
              <a:t>A small number of extreme values create a long right tail, indicating the presence of outliers. </a:t>
            </a:r>
          </a:p>
          <a:p>
            <a:pPr marL="171450" indent="-171450">
              <a:buFont typeface="Arial" panose="020B0604020202020204" pitchFamily="34" charset="0"/>
              <a:buChar char="•"/>
            </a:pPr>
            <a:r>
              <a:rPr lang="en-US" sz="1200" dirty="0">
                <a:solidFill>
                  <a:schemeClr val="bg1"/>
                </a:solidFill>
              </a:rPr>
              <a:t>After applying log transformation, the distribution becomes more balanced and less skewed. </a:t>
            </a:r>
          </a:p>
          <a:p>
            <a:pPr marL="171450" indent="-171450">
              <a:buFont typeface="Arial" panose="020B0604020202020204" pitchFamily="34" charset="0"/>
              <a:buChar char="•"/>
            </a:pPr>
            <a:r>
              <a:rPr lang="en-US" sz="1200" dirty="0">
                <a:solidFill>
                  <a:schemeClr val="bg1"/>
                </a:solidFill>
              </a:rPr>
              <a:t>The impact of extreme energy consumption values is significantly reduced. </a:t>
            </a:r>
          </a:p>
          <a:p>
            <a:pPr marL="171450" indent="-171450">
              <a:buFont typeface="Arial" panose="020B0604020202020204" pitchFamily="34" charset="0"/>
              <a:buChar char="•"/>
            </a:pPr>
            <a:r>
              <a:rPr lang="en-US" sz="1200" dirty="0">
                <a:solidFill>
                  <a:schemeClr val="bg1"/>
                </a:solidFill>
              </a:rPr>
              <a:t>The transformed distribution is closer to a normal distribution, making it more suitable for machine learning models. </a:t>
            </a:r>
          </a:p>
          <a:p>
            <a:pPr marL="171450" indent="-171450">
              <a:buFont typeface="Arial" panose="020B0604020202020204" pitchFamily="34" charset="0"/>
              <a:buChar char="•"/>
            </a:pPr>
            <a:r>
              <a:rPr lang="en-US" sz="1200" dirty="0">
                <a:solidFill>
                  <a:schemeClr val="bg1"/>
                </a:solidFill>
              </a:rPr>
              <a:t>Log transformation helps improve model performance by reducing the influence of outliers and stabilizing the variance. </a:t>
            </a:r>
          </a:p>
          <a:p>
            <a:pPr algn="ctr"/>
            <a:endParaRPr lang="en-IN" sz="240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81721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9F0277-B1D3-AC9C-164B-5209F472B8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342937"/>
            <a:ext cx="5662366" cy="2942515"/>
          </a:xfrm>
          <a:prstGeom prst="rect">
            <a:avLst/>
          </a:prstGeom>
        </p:spPr>
      </p:pic>
      <p:pic>
        <p:nvPicPr>
          <p:cNvPr id="5" name="Picture 4">
            <a:extLst>
              <a:ext uri="{FF2B5EF4-FFF2-40B4-BE49-F238E27FC236}">
                <a16:creationId xmlns:a16="http://schemas.microsoft.com/office/drawing/2014/main" id="{2C4653EA-8AB0-7DE9-2379-BDD6C42FB1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2363" y="342937"/>
            <a:ext cx="6506481" cy="2942515"/>
          </a:xfrm>
          <a:prstGeom prst="rect">
            <a:avLst/>
          </a:prstGeom>
        </p:spPr>
      </p:pic>
      <p:pic>
        <p:nvPicPr>
          <p:cNvPr id="7" name="Picture 6">
            <a:extLst>
              <a:ext uri="{FF2B5EF4-FFF2-40B4-BE49-F238E27FC236}">
                <a16:creationId xmlns:a16="http://schemas.microsoft.com/office/drawing/2014/main" id="{5772603A-A0FE-D56D-DB9B-60995DD5DB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3212976"/>
            <a:ext cx="6071113" cy="3645025"/>
          </a:xfrm>
          <a:prstGeom prst="rect">
            <a:avLst/>
          </a:prstGeom>
        </p:spPr>
      </p:pic>
      <p:pic>
        <p:nvPicPr>
          <p:cNvPr id="9" name="Picture 8">
            <a:extLst>
              <a:ext uri="{FF2B5EF4-FFF2-40B4-BE49-F238E27FC236}">
                <a16:creationId xmlns:a16="http://schemas.microsoft.com/office/drawing/2014/main" id="{3B472000-1073-2B85-114E-7B761EA4F9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71113" y="3285452"/>
            <a:ext cx="6097732" cy="3572548"/>
          </a:xfrm>
          <a:prstGeom prst="rect">
            <a:avLst/>
          </a:prstGeom>
        </p:spPr>
      </p:pic>
      <p:sp>
        <p:nvSpPr>
          <p:cNvPr id="10" name="TextBox 9">
            <a:extLst>
              <a:ext uri="{FF2B5EF4-FFF2-40B4-BE49-F238E27FC236}">
                <a16:creationId xmlns:a16="http://schemas.microsoft.com/office/drawing/2014/main" id="{8D56A1F7-06F9-38DB-D8EF-BF66E405650A}"/>
              </a:ext>
            </a:extLst>
          </p:cNvPr>
          <p:cNvSpPr txBox="1"/>
          <p:nvPr/>
        </p:nvSpPr>
        <p:spPr>
          <a:xfrm>
            <a:off x="32050" y="-16466"/>
            <a:ext cx="7734938" cy="646331"/>
          </a:xfrm>
          <a:prstGeom prst="rect">
            <a:avLst/>
          </a:prstGeom>
          <a:noFill/>
        </p:spPr>
        <p:txBody>
          <a:bodyPr wrap="none" rtlCol="0">
            <a:spAutoFit/>
          </a:bodyPr>
          <a:lstStyle/>
          <a:p>
            <a:r>
              <a:rPr lang="en-US" dirty="0"/>
              <a:t>Temperature Distribution and Relationship with Appliance Energy Consumption</a:t>
            </a:r>
          </a:p>
          <a:p>
            <a:endParaRPr lang="en-IN" dirty="0"/>
          </a:p>
        </p:txBody>
      </p:sp>
    </p:spTree>
    <p:extLst>
      <p:ext uri="{BB962C8B-B14F-4D97-AF65-F5344CB8AC3E}">
        <p14:creationId xmlns:p14="http://schemas.microsoft.com/office/powerpoint/2010/main" val="1664180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6FF4CD-855F-893D-F86A-9DA4C1EA24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624"/>
            <a:ext cx="7390556" cy="6813376"/>
          </a:xfrm>
          <a:prstGeom prst="rect">
            <a:avLst/>
          </a:prstGeom>
        </p:spPr>
      </p:pic>
      <p:sp>
        <p:nvSpPr>
          <p:cNvPr id="4" name="Rectangle 3">
            <a:extLst>
              <a:ext uri="{FF2B5EF4-FFF2-40B4-BE49-F238E27FC236}">
                <a16:creationId xmlns:a16="http://schemas.microsoft.com/office/drawing/2014/main" id="{9808A597-2393-8F08-A996-69FF06DB29D1}"/>
              </a:ext>
            </a:extLst>
          </p:cNvPr>
          <p:cNvSpPr/>
          <p:nvPr/>
        </p:nvSpPr>
        <p:spPr>
          <a:xfrm>
            <a:off x="7606580" y="692696"/>
            <a:ext cx="4320480" cy="46085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3">
            <a:extLst>
              <a:ext uri="{FF2B5EF4-FFF2-40B4-BE49-F238E27FC236}">
                <a16:creationId xmlns:a16="http://schemas.microsoft.com/office/drawing/2014/main" id="{BD327197-7299-2773-94AF-D0DCB6F27A21}"/>
              </a:ext>
            </a:extLst>
          </p:cNvPr>
          <p:cNvSpPr>
            <a:spLocks noChangeArrowheads="1"/>
          </p:cNvSpPr>
          <p:nvPr/>
        </p:nvSpPr>
        <p:spPr bwMode="auto">
          <a:xfrm>
            <a:off x="7930616" y="728990"/>
            <a:ext cx="410445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bg1"/>
                </a:solidFill>
                <a:effectLst/>
                <a:latin typeface="Arial" panose="020B0604020202020204" pitchFamily="34" charset="0"/>
              </a:rPr>
              <a:t>KEY OBSERVATIONS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Arial" panose="020B0604020202020204" pitchFamily="34" charset="0"/>
              </a:rPr>
              <a:t>Most temperature features (T1–T9) show approximately normal distributions with mean and median values close to each other.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Arial" panose="020B0604020202020204" pitchFamily="34" charset="0"/>
              </a:rPr>
              <a:t>Indoor temperatures remain relatively stable, indicating consistent environmental conditions.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Arial" panose="020B0604020202020204" pitchFamily="34" charset="0"/>
              </a:rPr>
              <a:t>Outdoor temperature (</a:t>
            </a:r>
            <a:r>
              <a:rPr kumimoji="0" lang="en-US" altLang="en-US" sz="1400" b="0" i="0" u="none" strike="noStrike" cap="none" normalizeH="0" baseline="0" dirty="0" err="1">
                <a:ln>
                  <a:noFill/>
                </a:ln>
                <a:solidFill>
                  <a:schemeClr val="bg1"/>
                </a:solidFill>
                <a:effectLst/>
                <a:latin typeface="Arial" panose="020B0604020202020204" pitchFamily="34" charset="0"/>
              </a:rPr>
              <a:t>T_out</a:t>
            </a:r>
            <a:r>
              <a:rPr kumimoji="0" lang="en-US" altLang="en-US" sz="1400" b="0" i="0" u="none" strike="noStrike" cap="none" normalizeH="0" baseline="0" dirty="0">
                <a:ln>
                  <a:noFill/>
                </a:ln>
                <a:solidFill>
                  <a:schemeClr val="bg1"/>
                </a:solidFill>
                <a:effectLst/>
                <a:latin typeface="Arial" panose="020B0604020202020204" pitchFamily="34" charset="0"/>
              </a:rPr>
              <a:t>) shows greater variation compared to indoor temperatures.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Arial" panose="020B0604020202020204" pitchFamily="34" charset="0"/>
              </a:rPr>
              <a:t>No strong linear relationship is observed between temperature features and appliance energy consumption.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Arial" panose="020B0604020202020204" pitchFamily="34" charset="0"/>
              </a:rPr>
              <a:t>Energy consumption varies across all temperature ranges, suggesting that temperature alone is not a major predictor.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Arial" panose="020B0604020202020204" pitchFamily="34" charset="0"/>
              </a:rPr>
              <a:t>Temperature features may still contribute valuable information when combined with other environmental variables. </a:t>
            </a:r>
          </a:p>
        </p:txBody>
      </p:sp>
    </p:spTree>
    <p:extLst>
      <p:ext uri="{BB962C8B-B14F-4D97-AF65-F5344CB8AC3E}">
        <p14:creationId xmlns:p14="http://schemas.microsoft.com/office/powerpoint/2010/main" val="3496393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6B2F95-B7BC-F40F-76F4-9DF70B986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2" y="476672"/>
            <a:ext cx="6091699" cy="2880320"/>
          </a:xfrm>
          <a:prstGeom prst="rect">
            <a:avLst/>
          </a:prstGeom>
        </p:spPr>
      </p:pic>
      <p:pic>
        <p:nvPicPr>
          <p:cNvPr id="5" name="Picture 4">
            <a:extLst>
              <a:ext uri="{FF2B5EF4-FFF2-40B4-BE49-F238E27FC236}">
                <a16:creationId xmlns:a16="http://schemas.microsoft.com/office/drawing/2014/main" id="{C9FBF205-BF31-2FEC-4C79-3996EA869A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356992"/>
            <a:ext cx="6163668" cy="3486946"/>
          </a:xfrm>
          <a:prstGeom prst="rect">
            <a:avLst/>
          </a:prstGeom>
        </p:spPr>
      </p:pic>
      <p:pic>
        <p:nvPicPr>
          <p:cNvPr id="7" name="Picture 6">
            <a:extLst>
              <a:ext uri="{FF2B5EF4-FFF2-40B4-BE49-F238E27FC236}">
                <a16:creationId xmlns:a16="http://schemas.microsoft.com/office/drawing/2014/main" id="{506E75F5-D710-F32B-46DA-028686050F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0838" y="463689"/>
            <a:ext cx="6091699" cy="2907365"/>
          </a:xfrm>
          <a:prstGeom prst="rect">
            <a:avLst/>
          </a:prstGeom>
        </p:spPr>
      </p:pic>
      <p:pic>
        <p:nvPicPr>
          <p:cNvPr id="11" name="Picture 10">
            <a:extLst>
              <a:ext uri="{FF2B5EF4-FFF2-40B4-BE49-F238E27FC236}">
                <a16:creationId xmlns:a16="http://schemas.microsoft.com/office/drawing/2014/main" id="{BF761465-4FC9-1E84-D987-62BE07DADF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63668" y="3371054"/>
            <a:ext cx="6018869" cy="3486946"/>
          </a:xfrm>
          <a:prstGeom prst="rect">
            <a:avLst/>
          </a:prstGeom>
        </p:spPr>
      </p:pic>
      <p:sp>
        <p:nvSpPr>
          <p:cNvPr id="12" name="TextBox 11">
            <a:extLst>
              <a:ext uri="{FF2B5EF4-FFF2-40B4-BE49-F238E27FC236}">
                <a16:creationId xmlns:a16="http://schemas.microsoft.com/office/drawing/2014/main" id="{CBAC51E4-A5C8-6FC3-E46B-55C90838F7E9}"/>
              </a:ext>
            </a:extLst>
          </p:cNvPr>
          <p:cNvSpPr txBox="1"/>
          <p:nvPr/>
        </p:nvSpPr>
        <p:spPr>
          <a:xfrm>
            <a:off x="0" y="60620"/>
            <a:ext cx="7379328" cy="369332"/>
          </a:xfrm>
          <a:prstGeom prst="rect">
            <a:avLst/>
          </a:prstGeom>
          <a:noFill/>
        </p:spPr>
        <p:txBody>
          <a:bodyPr wrap="none" rtlCol="0">
            <a:spAutoFit/>
          </a:bodyPr>
          <a:lstStyle/>
          <a:p>
            <a:r>
              <a:rPr lang="en-US" dirty="0"/>
              <a:t>Humidity Distribution and Relationship with Appliance Energy Consumption</a:t>
            </a:r>
            <a:endParaRPr lang="en-IN" dirty="0"/>
          </a:p>
        </p:txBody>
      </p:sp>
    </p:spTree>
    <p:extLst>
      <p:ext uri="{BB962C8B-B14F-4D97-AF65-F5344CB8AC3E}">
        <p14:creationId xmlns:p14="http://schemas.microsoft.com/office/powerpoint/2010/main" val="2997208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61861B-0949-9EC7-6DE7-9A84F66E1F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670476" cy="6858000"/>
          </a:xfrm>
          <a:prstGeom prst="rect">
            <a:avLst/>
          </a:prstGeom>
        </p:spPr>
      </p:pic>
      <p:sp>
        <p:nvSpPr>
          <p:cNvPr id="4" name="Rectangle 3">
            <a:extLst>
              <a:ext uri="{FF2B5EF4-FFF2-40B4-BE49-F238E27FC236}">
                <a16:creationId xmlns:a16="http://schemas.microsoft.com/office/drawing/2014/main" id="{32F4A6BB-23FD-B3C1-09F9-189E4D63AEB9}"/>
              </a:ext>
            </a:extLst>
          </p:cNvPr>
          <p:cNvSpPr/>
          <p:nvPr/>
        </p:nvSpPr>
        <p:spPr>
          <a:xfrm>
            <a:off x="7462564" y="1196752"/>
            <a:ext cx="4176464" cy="48245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a:t>Most humidity features (RH_1–RH_9) show approximately normal or slightly skewed distributions, indicating stable indoor humidity conditions.</a:t>
            </a:r>
          </a:p>
          <a:p>
            <a:pPr marL="285750" indent="-285750">
              <a:buFont typeface="Arial" panose="020B0604020202020204" pitchFamily="34" charset="0"/>
              <a:buChar char="•"/>
            </a:pPr>
            <a:r>
              <a:rPr lang="en-US" sz="1400" dirty="0"/>
              <a:t>RH_5, RH_6, and </a:t>
            </a:r>
            <a:r>
              <a:rPr lang="en-US" sz="1400" dirty="0" err="1"/>
              <a:t>RH_out</a:t>
            </a:r>
            <a:r>
              <a:rPr lang="en-US" sz="1400" dirty="0"/>
              <a:t> exhibit higher variability compared to other humidity features.</a:t>
            </a:r>
          </a:p>
          <a:p>
            <a:pPr marL="285750" indent="-285750">
              <a:buFont typeface="Arial" panose="020B0604020202020204" pitchFamily="34" charset="0"/>
              <a:buChar char="•"/>
            </a:pPr>
            <a:r>
              <a:rPr lang="en-US" sz="1400" dirty="0"/>
              <a:t>The mean and median values for most humidity variables are relatively close, suggesting limited skewness.</a:t>
            </a:r>
          </a:p>
          <a:p>
            <a:pPr marL="285750" indent="-285750">
              <a:buFont typeface="Arial" panose="020B0604020202020204" pitchFamily="34" charset="0"/>
              <a:buChar char="•"/>
            </a:pPr>
            <a:r>
              <a:rPr lang="en-US" sz="1400" dirty="0"/>
              <a:t>Scatter plots show a weak relationship between humidity features and appliance energy consumption</a:t>
            </a:r>
          </a:p>
          <a:p>
            <a:pPr marL="285750" indent="-285750">
              <a:buFont typeface="Arial" panose="020B0604020202020204" pitchFamily="34" charset="0"/>
              <a:buChar char="•"/>
            </a:pPr>
            <a:r>
              <a:rPr lang="en-US" sz="1400" dirty="0"/>
              <a:t>Energy consumption varies significantly across all humidity levels, indicating that humidity alone is not a strong predictor.</a:t>
            </a:r>
          </a:p>
          <a:p>
            <a:pPr marL="285750" indent="-285750">
              <a:buFont typeface="Arial" panose="020B0604020202020204" pitchFamily="34" charset="0"/>
              <a:buChar char="•"/>
            </a:pPr>
            <a:r>
              <a:rPr lang="en-US" sz="1400" dirty="0"/>
              <a:t>Some humidity features display a wider spread and may capture environmental variations useful for prediction.</a:t>
            </a:r>
          </a:p>
          <a:p>
            <a:pPr marL="285750" indent="-285750">
              <a:buFont typeface="Arial" panose="020B0604020202020204" pitchFamily="34" charset="0"/>
              <a:buChar char="•"/>
            </a:pPr>
            <a:r>
              <a:rPr lang="en-US" sz="1400" dirty="0"/>
              <a:t>Humidity features can provide additional predictive power when combined with temperature and weather-related variables.</a:t>
            </a:r>
          </a:p>
          <a:p>
            <a:pPr algn="ctr"/>
            <a:endParaRPr lang="en-IN" dirty="0"/>
          </a:p>
        </p:txBody>
      </p:sp>
    </p:spTree>
    <p:extLst>
      <p:ext uri="{BB962C8B-B14F-4D97-AF65-F5344CB8AC3E}">
        <p14:creationId xmlns:p14="http://schemas.microsoft.com/office/powerpoint/2010/main" val="321476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8DB5F5-B5A5-1210-DE21-8173F49CBC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76672"/>
            <a:ext cx="5242913" cy="3210934"/>
          </a:xfrm>
          <a:prstGeom prst="rect">
            <a:avLst/>
          </a:prstGeom>
        </p:spPr>
      </p:pic>
      <p:pic>
        <p:nvPicPr>
          <p:cNvPr id="5" name="Picture 4">
            <a:extLst>
              <a:ext uri="{FF2B5EF4-FFF2-40B4-BE49-F238E27FC236}">
                <a16:creationId xmlns:a16="http://schemas.microsoft.com/office/drawing/2014/main" id="{21F0BCDE-CFF0-83D2-6956-1EEFACAC37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2913" y="476672"/>
            <a:ext cx="6928165" cy="3210934"/>
          </a:xfrm>
          <a:prstGeom prst="rect">
            <a:avLst/>
          </a:prstGeom>
        </p:spPr>
      </p:pic>
      <p:pic>
        <p:nvPicPr>
          <p:cNvPr id="7" name="Picture 6">
            <a:extLst>
              <a:ext uri="{FF2B5EF4-FFF2-40B4-BE49-F238E27FC236}">
                <a16:creationId xmlns:a16="http://schemas.microsoft.com/office/drawing/2014/main" id="{3DEF6956-A76C-15ED-2067-D6A1D463B4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3687606"/>
            <a:ext cx="5734372" cy="3170394"/>
          </a:xfrm>
          <a:prstGeom prst="rect">
            <a:avLst/>
          </a:prstGeom>
        </p:spPr>
      </p:pic>
      <p:sp>
        <p:nvSpPr>
          <p:cNvPr id="8" name="TextBox 7">
            <a:extLst>
              <a:ext uri="{FF2B5EF4-FFF2-40B4-BE49-F238E27FC236}">
                <a16:creationId xmlns:a16="http://schemas.microsoft.com/office/drawing/2014/main" id="{8F48C30A-E2ED-C707-C289-1116805CC462}"/>
              </a:ext>
            </a:extLst>
          </p:cNvPr>
          <p:cNvSpPr txBox="1"/>
          <p:nvPr/>
        </p:nvSpPr>
        <p:spPr>
          <a:xfrm>
            <a:off x="-15214" y="116632"/>
            <a:ext cx="8377486" cy="646331"/>
          </a:xfrm>
          <a:prstGeom prst="rect">
            <a:avLst/>
          </a:prstGeom>
          <a:noFill/>
        </p:spPr>
        <p:txBody>
          <a:bodyPr wrap="none" rtlCol="0">
            <a:spAutoFit/>
          </a:bodyPr>
          <a:lstStyle/>
          <a:p>
            <a:r>
              <a:rPr lang="en-US" b="1" dirty="0"/>
              <a:t>Weather Features Distribution and Their Impact on Appliance Energy Consumption</a:t>
            </a:r>
          </a:p>
          <a:p>
            <a:endParaRPr lang="en-IN" dirty="0"/>
          </a:p>
        </p:txBody>
      </p:sp>
      <p:sp>
        <p:nvSpPr>
          <p:cNvPr id="9" name="Rectangle 8">
            <a:extLst>
              <a:ext uri="{FF2B5EF4-FFF2-40B4-BE49-F238E27FC236}">
                <a16:creationId xmlns:a16="http://schemas.microsoft.com/office/drawing/2014/main" id="{59C329A9-26F5-A713-17A8-16003005D914}"/>
              </a:ext>
            </a:extLst>
          </p:cNvPr>
          <p:cNvSpPr/>
          <p:nvPr/>
        </p:nvSpPr>
        <p:spPr>
          <a:xfrm>
            <a:off x="6099789" y="4120675"/>
            <a:ext cx="5616624" cy="23042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solidFill>
                  <a:schemeClr val="bg1"/>
                </a:solidFill>
              </a:rPr>
              <a:t>Weather features such as outdoor temperature, humidity, wind speed, visibility, and dew point exhibit varying distributions, with some features showing slight skewness. The scatter plots indicate a weak relationship between individual weather variables and appliance energy consumption, as energy usage varies across all weather conditions. Although no single weather feature strongly influences appliance consumption, these variables provide valuable environmental information and can improve prediction performance when combined with other features</a:t>
            </a:r>
            <a:r>
              <a:rPr lang="en-US" dirty="0">
                <a:solidFill>
                  <a:schemeClr val="bg1"/>
                </a:solidFill>
              </a:rPr>
              <a:t>.</a:t>
            </a:r>
            <a:endParaRPr lang="en-IN" dirty="0">
              <a:solidFill>
                <a:schemeClr val="bg1"/>
              </a:solidFill>
            </a:endParaRPr>
          </a:p>
        </p:txBody>
      </p:sp>
    </p:spTree>
    <p:extLst>
      <p:ext uri="{BB962C8B-B14F-4D97-AF65-F5344CB8AC3E}">
        <p14:creationId xmlns:p14="http://schemas.microsoft.com/office/powerpoint/2010/main" val="289917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F1E849-0322-AF43-F7E7-A86EA297F9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52736"/>
            <a:ext cx="7966620" cy="5805263"/>
          </a:xfrm>
          <a:prstGeom prst="rect">
            <a:avLst/>
          </a:prstGeom>
        </p:spPr>
      </p:pic>
      <p:sp>
        <p:nvSpPr>
          <p:cNvPr id="4" name="Rectangle 3">
            <a:extLst>
              <a:ext uri="{FF2B5EF4-FFF2-40B4-BE49-F238E27FC236}">
                <a16:creationId xmlns:a16="http://schemas.microsoft.com/office/drawing/2014/main" id="{C38B647F-E99D-DE8A-937F-8D2ED9E02BD2}"/>
              </a:ext>
            </a:extLst>
          </p:cNvPr>
          <p:cNvSpPr/>
          <p:nvPr/>
        </p:nvSpPr>
        <p:spPr>
          <a:xfrm>
            <a:off x="8902724" y="1484784"/>
            <a:ext cx="3024336" cy="44644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t>The </a:t>
            </a:r>
            <a:r>
              <a:rPr lang="en-US" sz="1600" b="1" dirty="0"/>
              <a:t>lights</a:t>
            </a:r>
            <a:r>
              <a:rPr lang="en-US" sz="1600" dirty="0"/>
              <a:t> feature is highly right-skewed, with most observations concentrated at lower lighting energy consumption values and only a few records showing higher usage. The scatter plot indicates a weak relationship between lighting consumption and appliance energy consumption, as appliance usage varies across all lighting levels. This suggests that lighting energy consumption alone is not a strong predictor of appliance energy usage, but it may still provide useful information when combined with other features.</a:t>
            </a:r>
            <a:endParaRPr lang="en-IN" sz="1600" dirty="0"/>
          </a:p>
        </p:txBody>
      </p:sp>
      <p:sp>
        <p:nvSpPr>
          <p:cNvPr id="5" name="TextBox 4">
            <a:extLst>
              <a:ext uri="{FF2B5EF4-FFF2-40B4-BE49-F238E27FC236}">
                <a16:creationId xmlns:a16="http://schemas.microsoft.com/office/drawing/2014/main" id="{503E4CCB-1F3E-1461-99EE-24DB2F37EFB9}"/>
              </a:ext>
            </a:extLst>
          </p:cNvPr>
          <p:cNvSpPr txBox="1"/>
          <p:nvPr/>
        </p:nvSpPr>
        <p:spPr>
          <a:xfrm>
            <a:off x="0" y="116632"/>
            <a:ext cx="5650073" cy="738664"/>
          </a:xfrm>
          <a:prstGeom prst="rect">
            <a:avLst/>
          </a:prstGeom>
          <a:noFill/>
        </p:spPr>
        <p:txBody>
          <a:bodyPr wrap="none" rtlCol="0">
            <a:spAutoFit/>
          </a:bodyPr>
          <a:lstStyle/>
          <a:p>
            <a:r>
              <a:rPr lang="en-US" sz="2400" b="1" dirty="0"/>
              <a:t>Analysis of Lighting Energy Consumption</a:t>
            </a:r>
          </a:p>
          <a:p>
            <a:endParaRPr lang="en-IN" dirty="0"/>
          </a:p>
        </p:txBody>
      </p:sp>
    </p:spTree>
    <p:extLst>
      <p:ext uri="{BB962C8B-B14F-4D97-AF65-F5344CB8AC3E}">
        <p14:creationId xmlns:p14="http://schemas.microsoft.com/office/powerpoint/2010/main" val="1858593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01E7CD-A33A-669D-298D-A7533328EC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4907"/>
            <a:ext cx="8830716" cy="4248472"/>
          </a:xfrm>
          <a:prstGeom prst="rect">
            <a:avLst/>
          </a:prstGeom>
        </p:spPr>
      </p:pic>
      <p:pic>
        <p:nvPicPr>
          <p:cNvPr id="5" name="Picture 4">
            <a:extLst>
              <a:ext uri="{FF2B5EF4-FFF2-40B4-BE49-F238E27FC236}">
                <a16:creationId xmlns:a16="http://schemas.microsoft.com/office/drawing/2014/main" id="{5BF319AC-B838-F0A1-9EE5-3605B6F015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4581128"/>
            <a:ext cx="8830716" cy="2276872"/>
          </a:xfrm>
          <a:prstGeom prst="rect">
            <a:avLst/>
          </a:prstGeom>
        </p:spPr>
      </p:pic>
      <p:sp>
        <p:nvSpPr>
          <p:cNvPr id="8" name="Rectangle 7">
            <a:extLst>
              <a:ext uri="{FF2B5EF4-FFF2-40B4-BE49-F238E27FC236}">
                <a16:creationId xmlns:a16="http://schemas.microsoft.com/office/drawing/2014/main" id="{E75AC1AB-597F-8175-448E-BAFC95937E24}"/>
              </a:ext>
            </a:extLst>
          </p:cNvPr>
          <p:cNvSpPr/>
          <p:nvPr/>
        </p:nvSpPr>
        <p:spPr>
          <a:xfrm>
            <a:off x="9118748" y="980728"/>
            <a:ext cx="3070076" cy="5040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Rectangle 1">
            <a:extLst>
              <a:ext uri="{FF2B5EF4-FFF2-40B4-BE49-F238E27FC236}">
                <a16:creationId xmlns:a16="http://schemas.microsoft.com/office/drawing/2014/main" id="{71EC1ED5-E329-A91E-B0BA-946CE42939CC}"/>
              </a:ext>
            </a:extLst>
          </p:cNvPr>
          <p:cNvSpPr>
            <a:spLocks noChangeArrowheads="1"/>
          </p:cNvSpPr>
          <p:nvPr/>
        </p:nvSpPr>
        <p:spPr bwMode="auto">
          <a:xfrm>
            <a:off x="9213626" y="1120676"/>
            <a:ext cx="2880320"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Most features have a weak correlation with appliance energy consumption.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T2, T6, and </a:t>
            </a:r>
            <a:r>
              <a:rPr kumimoji="0" lang="en-US" altLang="en-US" sz="1400" b="1" i="0" u="none" strike="noStrike" cap="none" normalizeH="0" baseline="0" dirty="0" err="1">
                <a:ln>
                  <a:noFill/>
                </a:ln>
                <a:solidFill>
                  <a:schemeClr val="tx1"/>
                </a:solidFill>
                <a:effectLst/>
                <a:latin typeface="Arial" panose="020B0604020202020204" pitchFamily="34" charset="0"/>
              </a:rPr>
              <a:t>T_out</a:t>
            </a:r>
            <a:r>
              <a:rPr kumimoji="0" lang="en-US" altLang="en-US" sz="1400" b="0" i="0" u="none" strike="noStrike" cap="none" normalizeH="0" baseline="0" dirty="0">
                <a:ln>
                  <a:noFill/>
                </a:ln>
                <a:solidFill>
                  <a:schemeClr val="tx1"/>
                </a:solidFill>
                <a:effectLst/>
                <a:latin typeface="Arial" panose="020B0604020202020204" pitchFamily="34" charset="0"/>
              </a:rPr>
              <a:t> show the highest positive correlation among temperature features.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a:ln>
                  <a:noFill/>
                </a:ln>
                <a:solidFill>
                  <a:schemeClr val="tx1"/>
                </a:solidFill>
                <a:effectLst/>
                <a:latin typeface="Arial" panose="020B0604020202020204" pitchFamily="34" charset="0"/>
              </a:rPr>
              <a:t>RH_out</a:t>
            </a:r>
            <a:r>
              <a:rPr kumimoji="0" lang="en-US" altLang="en-US" sz="1400" b="0" i="0" u="none" strike="noStrike" cap="none" normalizeH="0" baseline="0" dirty="0">
                <a:ln>
                  <a:noFill/>
                </a:ln>
                <a:solidFill>
                  <a:schemeClr val="tx1"/>
                </a:solidFill>
                <a:effectLst/>
                <a:latin typeface="Arial" panose="020B0604020202020204" pitchFamily="34" charset="0"/>
              </a:rPr>
              <a:t> has the strongest negative correlation with appliance energy consumption.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Visibility, </a:t>
            </a:r>
            <a:r>
              <a:rPr kumimoji="0" lang="en-US" altLang="en-US" sz="1400" b="1" i="0" u="none" strike="noStrike" cap="none" normalizeH="0" baseline="0" dirty="0" err="1">
                <a:ln>
                  <a:noFill/>
                </a:ln>
                <a:solidFill>
                  <a:schemeClr val="tx1"/>
                </a:solidFill>
                <a:effectLst/>
                <a:latin typeface="Arial" panose="020B0604020202020204" pitchFamily="34" charset="0"/>
              </a:rPr>
              <a:t>Tdewpoint</a:t>
            </a:r>
            <a:r>
              <a:rPr kumimoji="0" lang="en-US" altLang="en-US" sz="1400" b="1" i="0" u="none" strike="noStrike" cap="none" normalizeH="0" baseline="0" dirty="0">
                <a:ln>
                  <a:noFill/>
                </a:ln>
                <a:solidFill>
                  <a:schemeClr val="tx1"/>
                </a:solidFill>
                <a:effectLst/>
                <a:latin typeface="Arial" panose="020B0604020202020204" pitchFamily="34" charset="0"/>
              </a:rPr>
              <a:t>, rv1, and rv2</a:t>
            </a:r>
            <a:r>
              <a:rPr kumimoji="0" lang="en-US" altLang="en-US" sz="1400" b="0" i="0" u="none" strike="noStrike" cap="none" normalizeH="0" baseline="0" dirty="0">
                <a:ln>
                  <a:noFill/>
                </a:ln>
                <a:solidFill>
                  <a:schemeClr val="tx1"/>
                </a:solidFill>
                <a:effectLst/>
                <a:latin typeface="Arial" panose="020B0604020202020204" pitchFamily="34" charset="0"/>
              </a:rPr>
              <a:t> show almost no correlation with the target variable.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Several temperature and humidity features are highly correlated with each other, indicating </a:t>
            </a:r>
            <a:r>
              <a:rPr kumimoji="0" lang="en-US" altLang="en-US" sz="1400" b="1" i="0" u="none" strike="noStrike" cap="none" normalizeH="0" baseline="0" dirty="0">
                <a:ln>
                  <a:noFill/>
                </a:ln>
                <a:solidFill>
                  <a:schemeClr val="tx1"/>
                </a:solidFill>
                <a:effectLst/>
                <a:latin typeface="Arial" panose="020B0604020202020204" pitchFamily="34" charset="0"/>
              </a:rPr>
              <a:t>multicollinearity</a:t>
            </a:r>
            <a:r>
              <a:rPr kumimoji="0" lang="en-US" altLang="en-US" sz="1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Appliance energy consumption is influenced by a combination of multiple features rather than any single variable. </a:t>
            </a:r>
          </a:p>
        </p:txBody>
      </p:sp>
      <p:sp>
        <p:nvSpPr>
          <p:cNvPr id="10" name="TextBox 9">
            <a:extLst>
              <a:ext uri="{FF2B5EF4-FFF2-40B4-BE49-F238E27FC236}">
                <a16:creationId xmlns:a16="http://schemas.microsoft.com/office/drawing/2014/main" id="{98A7B551-C68A-C38E-E2E4-3B6DE5D66A40}"/>
              </a:ext>
            </a:extLst>
          </p:cNvPr>
          <p:cNvSpPr txBox="1"/>
          <p:nvPr/>
        </p:nvSpPr>
        <p:spPr>
          <a:xfrm>
            <a:off x="0" y="0"/>
            <a:ext cx="2710294" cy="369332"/>
          </a:xfrm>
          <a:prstGeom prst="rect">
            <a:avLst/>
          </a:prstGeom>
          <a:noFill/>
        </p:spPr>
        <p:txBody>
          <a:bodyPr wrap="none" rtlCol="0">
            <a:spAutoFit/>
          </a:bodyPr>
          <a:lstStyle/>
          <a:p>
            <a:r>
              <a:rPr lang="en-US" dirty="0"/>
              <a:t>CORRELATION HEATMAP</a:t>
            </a:r>
            <a:endParaRPr lang="en-IN" dirty="0"/>
          </a:p>
        </p:txBody>
      </p:sp>
    </p:spTree>
    <p:extLst>
      <p:ext uri="{BB962C8B-B14F-4D97-AF65-F5344CB8AC3E}">
        <p14:creationId xmlns:p14="http://schemas.microsoft.com/office/powerpoint/2010/main" val="4287338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D35A23-3B1C-9091-E86D-0DB3E2CDACDC}"/>
              </a:ext>
            </a:extLst>
          </p:cNvPr>
          <p:cNvSpPr txBox="1"/>
          <p:nvPr/>
        </p:nvSpPr>
        <p:spPr>
          <a:xfrm>
            <a:off x="3790156" y="116632"/>
            <a:ext cx="7404591" cy="646331"/>
          </a:xfrm>
          <a:prstGeom prst="rect">
            <a:avLst/>
          </a:prstGeom>
          <a:noFill/>
        </p:spPr>
        <p:txBody>
          <a:bodyPr wrap="none" rtlCol="0">
            <a:spAutoFit/>
          </a:bodyPr>
          <a:lstStyle/>
          <a:p>
            <a:r>
              <a:rPr lang="en-IN" sz="3600" b="1" dirty="0"/>
              <a:t>Feature Engineering &amp; Data Pipeline</a:t>
            </a:r>
          </a:p>
        </p:txBody>
      </p:sp>
      <p:sp>
        <p:nvSpPr>
          <p:cNvPr id="5" name="Rectangle 4">
            <a:extLst>
              <a:ext uri="{FF2B5EF4-FFF2-40B4-BE49-F238E27FC236}">
                <a16:creationId xmlns:a16="http://schemas.microsoft.com/office/drawing/2014/main" id="{A6C1BF9D-BEB7-4839-71DF-0CC3EE0EA51E}"/>
              </a:ext>
            </a:extLst>
          </p:cNvPr>
          <p:cNvSpPr/>
          <p:nvPr/>
        </p:nvSpPr>
        <p:spPr>
          <a:xfrm>
            <a:off x="4407296" y="1257604"/>
            <a:ext cx="6223620" cy="51521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O</a:t>
            </a:r>
          </a:p>
          <a:p>
            <a:r>
              <a:rPr lang="en-US" sz="1400" b="1" dirty="0">
                <a:solidFill>
                  <a:schemeClr val="bg1"/>
                </a:solidFill>
              </a:rPr>
              <a:t>Outlier Treatment</a:t>
            </a:r>
            <a:r>
              <a:rPr lang="en-US" sz="1400" dirty="0">
                <a:solidFill>
                  <a:schemeClr val="bg1"/>
                </a:solidFill>
              </a:rPr>
              <a:t>→ Applied IQR method and capped extreme values to reduce the impact of outliers.</a:t>
            </a:r>
          </a:p>
          <a:p>
            <a:pPr algn="ctr"/>
            <a:endParaRPr lang="en-IN" dirty="0">
              <a:solidFill>
                <a:schemeClr val="bg1"/>
              </a:solidFill>
            </a:endParaRPr>
          </a:p>
        </p:txBody>
      </p:sp>
      <p:sp>
        <p:nvSpPr>
          <p:cNvPr id="6" name="Rectangle 5">
            <a:extLst>
              <a:ext uri="{FF2B5EF4-FFF2-40B4-BE49-F238E27FC236}">
                <a16:creationId xmlns:a16="http://schemas.microsoft.com/office/drawing/2014/main" id="{A9BCDC31-16C1-9651-851A-BB156E7C5C21}"/>
              </a:ext>
            </a:extLst>
          </p:cNvPr>
          <p:cNvSpPr/>
          <p:nvPr/>
        </p:nvSpPr>
        <p:spPr>
          <a:xfrm>
            <a:off x="4407296" y="1959667"/>
            <a:ext cx="6192688" cy="41147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400" b="1" dirty="0">
                <a:solidFill>
                  <a:schemeClr val="bg1"/>
                </a:solidFill>
              </a:rPr>
              <a:t>Feature Engineering </a:t>
            </a:r>
            <a:r>
              <a:rPr lang="en-US" sz="1400" dirty="0">
                <a:solidFill>
                  <a:schemeClr val="bg1"/>
                </a:solidFill>
              </a:rPr>
              <a:t>→ Created </a:t>
            </a:r>
            <a:r>
              <a:rPr lang="en-US" sz="1400" b="1" dirty="0">
                <a:solidFill>
                  <a:schemeClr val="bg1"/>
                </a:solidFill>
              </a:rPr>
              <a:t>Average Temperature</a:t>
            </a:r>
            <a:r>
              <a:rPr lang="en-US" sz="1400" dirty="0">
                <a:solidFill>
                  <a:schemeClr val="bg1"/>
                </a:solidFill>
              </a:rPr>
              <a:t>, </a:t>
            </a:r>
            <a:r>
              <a:rPr lang="en-US" sz="1400" b="1" dirty="0">
                <a:solidFill>
                  <a:schemeClr val="bg1"/>
                </a:solidFill>
              </a:rPr>
              <a:t>Average Humidity</a:t>
            </a:r>
            <a:r>
              <a:rPr lang="en-US" sz="1400" dirty="0">
                <a:solidFill>
                  <a:schemeClr val="bg1"/>
                </a:solidFill>
              </a:rPr>
              <a:t>, </a:t>
            </a:r>
            <a:r>
              <a:rPr lang="en-US" sz="1400" b="1" dirty="0">
                <a:solidFill>
                  <a:schemeClr val="bg1"/>
                </a:solidFill>
              </a:rPr>
              <a:t>Temperature Difference</a:t>
            </a:r>
            <a:r>
              <a:rPr lang="en-US" sz="1400" dirty="0">
                <a:solidFill>
                  <a:schemeClr val="bg1"/>
                </a:solidFill>
              </a:rPr>
              <a:t>, and </a:t>
            </a:r>
            <a:r>
              <a:rPr lang="en-US" sz="1400" b="1" dirty="0">
                <a:solidFill>
                  <a:schemeClr val="bg1"/>
                </a:solidFill>
              </a:rPr>
              <a:t>Humidity Difference</a:t>
            </a:r>
            <a:r>
              <a:rPr lang="en-US" sz="1400" dirty="0">
                <a:solidFill>
                  <a:schemeClr val="bg1"/>
                </a:solidFill>
              </a:rPr>
              <a:t> features.</a:t>
            </a:r>
            <a:endParaRPr lang="en-IN" sz="1400" b="1" dirty="0">
              <a:solidFill>
                <a:schemeClr val="bg1"/>
              </a:solidFill>
            </a:endParaRPr>
          </a:p>
        </p:txBody>
      </p:sp>
      <p:sp>
        <p:nvSpPr>
          <p:cNvPr id="7" name="Rectangle 6">
            <a:extLst>
              <a:ext uri="{FF2B5EF4-FFF2-40B4-BE49-F238E27FC236}">
                <a16:creationId xmlns:a16="http://schemas.microsoft.com/office/drawing/2014/main" id="{1E23BFFD-A1E2-28A9-DAD4-54EF5480DA4F}"/>
              </a:ext>
            </a:extLst>
          </p:cNvPr>
          <p:cNvSpPr/>
          <p:nvPr/>
        </p:nvSpPr>
        <p:spPr>
          <a:xfrm>
            <a:off x="4415104" y="2434689"/>
            <a:ext cx="6223620" cy="51521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solidFill>
            </a:endParaRPr>
          </a:p>
          <a:p>
            <a:r>
              <a:rPr lang="en-US" sz="1400" b="1" dirty="0">
                <a:solidFill>
                  <a:schemeClr val="bg1"/>
                </a:solidFill>
              </a:rPr>
              <a:t>Multicollinearity Check</a:t>
            </a:r>
            <a:r>
              <a:rPr lang="en-US" sz="1400" dirty="0">
                <a:solidFill>
                  <a:schemeClr val="bg1"/>
                </a:solidFill>
              </a:rPr>
              <a:t>→ Calculated VIF scores and removed highly correlated features to reduce multicollinearity.</a:t>
            </a:r>
          </a:p>
          <a:p>
            <a:pPr algn="ctr"/>
            <a:endParaRPr lang="en-IN" dirty="0"/>
          </a:p>
        </p:txBody>
      </p:sp>
      <p:sp>
        <p:nvSpPr>
          <p:cNvPr id="8" name="Rectangle 7">
            <a:extLst>
              <a:ext uri="{FF2B5EF4-FFF2-40B4-BE49-F238E27FC236}">
                <a16:creationId xmlns:a16="http://schemas.microsoft.com/office/drawing/2014/main" id="{A36C040C-C7D8-167A-EA13-B0454C50615F}"/>
              </a:ext>
            </a:extLst>
          </p:cNvPr>
          <p:cNvSpPr/>
          <p:nvPr/>
        </p:nvSpPr>
        <p:spPr>
          <a:xfrm>
            <a:off x="4453847" y="3105603"/>
            <a:ext cx="6161756" cy="4572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solidFill>
            </a:endParaRPr>
          </a:p>
          <a:p>
            <a:r>
              <a:rPr lang="en-US" sz="1400" b="1" dirty="0">
                <a:solidFill>
                  <a:schemeClr val="bg1"/>
                </a:solidFill>
              </a:rPr>
              <a:t>Feature Selection</a:t>
            </a:r>
            <a:r>
              <a:rPr lang="en-US" sz="1400" dirty="0">
                <a:solidFill>
                  <a:schemeClr val="bg1"/>
                </a:solidFill>
              </a:rPr>
              <a:t>→ Retained the most relevant features and removed low-impact variables to improve model performance.</a:t>
            </a:r>
          </a:p>
          <a:p>
            <a:pPr algn="ctr"/>
            <a:endParaRPr lang="en-IN" dirty="0"/>
          </a:p>
        </p:txBody>
      </p:sp>
      <p:sp>
        <p:nvSpPr>
          <p:cNvPr id="9" name="Rectangle 8">
            <a:extLst>
              <a:ext uri="{FF2B5EF4-FFF2-40B4-BE49-F238E27FC236}">
                <a16:creationId xmlns:a16="http://schemas.microsoft.com/office/drawing/2014/main" id="{BB7B3496-7D56-37D5-70A8-0D92EF5CD249}"/>
              </a:ext>
            </a:extLst>
          </p:cNvPr>
          <p:cNvSpPr/>
          <p:nvPr/>
        </p:nvSpPr>
        <p:spPr>
          <a:xfrm>
            <a:off x="4453846" y="3815329"/>
            <a:ext cx="6146137" cy="45606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solidFill>
            </a:endParaRPr>
          </a:p>
          <a:p>
            <a:r>
              <a:rPr lang="en-US" sz="1400" b="1" dirty="0">
                <a:solidFill>
                  <a:schemeClr val="bg1"/>
                </a:solidFill>
              </a:rPr>
              <a:t>Data Transformation</a:t>
            </a:r>
            <a:r>
              <a:rPr lang="en-US" sz="1400" dirty="0">
                <a:solidFill>
                  <a:schemeClr val="bg1"/>
                </a:solidFill>
              </a:rPr>
              <a:t>→ Applied Log Transformation on </a:t>
            </a:r>
            <a:r>
              <a:rPr lang="en-US" sz="1400" b="1" dirty="0">
                <a:solidFill>
                  <a:schemeClr val="bg1"/>
                </a:solidFill>
              </a:rPr>
              <a:t>Appliances</a:t>
            </a:r>
            <a:r>
              <a:rPr lang="en-US" sz="1400" dirty="0">
                <a:solidFill>
                  <a:schemeClr val="bg1"/>
                </a:solidFill>
              </a:rPr>
              <a:t> and </a:t>
            </a:r>
            <a:r>
              <a:rPr lang="en-US" sz="1400" b="1" dirty="0">
                <a:solidFill>
                  <a:schemeClr val="bg1"/>
                </a:solidFill>
              </a:rPr>
              <a:t>Windspeed</a:t>
            </a:r>
            <a:r>
              <a:rPr lang="en-US" sz="1400" dirty="0">
                <a:solidFill>
                  <a:schemeClr val="bg1"/>
                </a:solidFill>
              </a:rPr>
              <a:t> to reduce skewness and normalize distributions.</a:t>
            </a:r>
          </a:p>
          <a:p>
            <a:pPr algn="ctr"/>
            <a:endParaRPr lang="en-IN" dirty="0"/>
          </a:p>
        </p:txBody>
      </p:sp>
      <p:sp>
        <p:nvSpPr>
          <p:cNvPr id="10" name="Rectangle 9">
            <a:extLst>
              <a:ext uri="{FF2B5EF4-FFF2-40B4-BE49-F238E27FC236}">
                <a16:creationId xmlns:a16="http://schemas.microsoft.com/office/drawing/2014/main" id="{46FBDD34-B4BB-50D4-7AAB-614FE3A5F3C8}"/>
              </a:ext>
            </a:extLst>
          </p:cNvPr>
          <p:cNvSpPr/>
          <p:nvPr/>
        </p:nvSpPr>
        <p:spPr>
          <a:xfrm>
            <a:off x="4484779" y="4462316"/>
            <a:ext cx="6146137" cy="45606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solidFill>
            </a:endParaRPr>
          </a:p>
          <a:p>
            <a:r>
              <a:rPr lang="en-US" sz="1400" b="1" dirty="0">
                <a:solidFill>
                  <a:schemeClr val="bg1"/>
                </a:solidFill>
              </a:rPr>
              <a:t>Train-Test Split</a:t>
            </a:r>
            <a:r>
              <a:rPr lang="en-US" sz="1400" dirty="0">
                <a:solidFill>
                  <a:schemeClr val="bg1"/>
                </a:solidFill>
              </a:rPr>
              <a:t>→ Split the dataset into </a:t>
            </a:r>
            <a:r>
              <a:rPr lang="en-US" sz="1400" b="1" dirty="0">
                <a:solidFill>
                  <a:schemeClr val="bg1"/>
                </a:solidFill>
              </a:rPr>
              <a:t>80% training</a:t>
            </a:r>
            <a:r>
              <a:rPr lang="en-US" sz="1400" dirty="0">
                <a:solidFill>
                  <a:schemeClr val="bg1"/>
                </a:solidFill>
              </a:rPr>
              <a:t> and </a:t>
            </a:r>
            <a:r>
              <a:rPr lang="en-US" sz="1400" b="1" dirty="0">
                <a:solidFill>
                  <a:schemeClr val="bg1"/>
                </a:solidFill>
              </a:rPr>
              <a:t>20% testing</a:t>
            </a:r>
            <a:r>
              <a:rPr lang="en-US" sz="1400" dirty="0">
                <a:solidFill>
                  <a:schemeClr val="bg1"/>
                </a:solidFill>
              </a:rPr>
              <a:t> sets for model evaluation.</a:t>
            </a:r>
          </a:p>
          <a:p>
            <a:pPr algn="ctr"/>
            <a:endParaRPr lang="en-IN" dirty="0"/>
          </a:p>
        </p:txBody>
      </p:sp>
      <p:sp>
        <p:nvSpPr>
          <p:cNvPr id="11" name="Rectangle 10">
            <a:extLst>
              <a:ext uri="{FF2B5EF4-FFF2-40B4-BE49-F238E27FC236}">
                <a16:creationId xmlns:a16="http://schemas.microsoft.com/office/drawing/2014/main" id="{2D03209B-969B-8934-A529-25760AC381D5}"/>
              </a:ext>
            </a:extLst>
          </p:cNvPr>
          <p:cNvSpPr/>
          <p:nvPr/>
        </p:nvSpPr>
        <p:spPr>
          <a:xfrm>
            <a:off x="4484779" y="5182344"/>
            <a:ext cx="6146137" cy="57606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400" b="1" dirty="0">
              <a:solidFill>
                <a:schemeClr val="bg1"/>
              </a:solidFill>
            </a:endParaRPr>
          </a:p>
          <a:p>
            <a:r>
              <a:rPr lang="en-US" sz="1400" b="1" dirty="0">
                <a:solidFill>
                  <a:schemeClr val="bg1"/>
                </a:solidFill>
              </a:rPr>
              <a:t>Feature Scaling</a:t>
            </a:r>
            <a:r>
              <a:rPr lang="en-US" sz="1400" dirty="0">
                <a:solidFill>
                  <a:schemeClr val="bg1"/>
                </a:solidFill>
              </a:rPr>
              <a:t>→ Applied </a:t>
            </a:r>
            <a:r>
              <a:rPr lang="en-US" sz="1400" b="1" dirty="0" err="1">
                <a:solidFill>
                  <a:schemeClr val="bg1"/>
                </a:solidFill>
              </a:rPr>
              <a:t>MinMaxScaler</a:t>
            </a:r>
            <a:r>
              <a:rPr lang="en-US" sz="1400" dirty="0">
                <a:solidFill>
                  <a:schemeClr val="bg1"/>
                </a:solidFill>
              </a:rPr>
              <a:t> to normalize feature values before model training.</a:t>
            </a:r>
          </a:p>
          <a:p>
            <a:pPr algn="ctr"/>
            <a:endParaRPr lang="en-IN" dirty="0"/>
          </a:p>
        </p:txBody>
      </p:sp>
      <p:sp>
        <p:nvSpPr>
          <p:cNvPr id="12" name="Flowchart: Connector 11">
            <a:extLst>
              <a:ext uri="{FF2B5EF4-FFF2-40B4-BE49-F238E27FC236}">
                <a16:creationId xmlns:a16="http://schemas.microsoft.com/office/drawing/2014/main" id="{ACE13292-E04B-25B4-7209-B0A6A2375A1B}"/>
              </a:ext>
            </a:extLst>
          </p:cNvPr>
          <p:cNvSpPr/>
          <p:nvPr/>
        </p:nvSpPr>
        <p:spPr>
          <a:xfrm>
            <a:off x="3190056" y="3814192"/>
            <a:ext cx="504056" cy="432048"/>
          </a:xfrm>
          <a:prstGeom prst="flowChartConnector">
            <a:avLst/>
          </a:prstGeom>
          <a:solidFill>
            <a:schemeClr val="bg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endParaRPr lang="en-IN" dirty="0"/>
          </a:p>
        </p:txBody>
      </p:sp>
      <p:sp>
        <p:nvSpPr>
          <p:cNvPr id="13" name="Flowchart: Connector 12">
            <a:extLst>
              <a:ext uri="{FF2B5EF4-FFF2-40B4-BE49-F238E27FC236}">
                <a16:creationId xmlns:a16="http://schemas.microsoft.com/office/drawing/2014/main" id="{868C0FF9-35FA-E35D-33FC-B272817CB24F}"/>
              </a:ext>
            </a:extLst>
          </p:cNvPr>
          <p:cNvSpPr/>
          <p:nvPr/>
        </p:nvSpPr>
        <p:spPr>
          <a:xfrm>
            <a:off x="3159630" y="3153544"/>
            <a:ext cx="457200" cy="457200"/>
          </a:xfrm>
          <a:prstGeom prst="flowChartConnector">
            <a:avLst/>
          </a:prstGeom>
          <a:solidFill>
            <a:schemeClr val="bg2">
              <a:lumMod val="75000"/>
              <a:lumOff val="2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endParaRPr lang="en-IN" dirty="0"/>
          </a:p>
        </p:txBody>
      </p:sp>
      <p:sp>
        <p:nvSpPr>
          <p:cNvPr id="14" name="Flowchart: Connector 13">
            <a:extLst>
              <a:ext uri="{FF2B5EF4-FFF2-40B4-BE49-F238E27FC236}">
                <a16:creationId xmlns:a16="http://schemas.microsoft.com/office/drawing/2014/main" id="{40AE9107-EFBD-AE48-D8C8-C12BCA337CCA}"/>
              </a:ext>
            </a:extLst>
          </p:cNvPr>
          <p:cNvSpPr/>
          <p:nvPr/>
        </p:nvSpPr>
        <p:spPr>
          <a:xfrm>
            <a:off x="3240665" y="5236955"/>
            <a:ext cx="457200" cy="457200"/>
          </a:xfrm>
          <a:prstGeom prst="flowChartConnector">
            <a:avLst/>
          </a:prstGeom>
          <a:solidFill>
            <a:schemeClr val="bg2">
              <a:lumMod val="75000"/>
              <a:lumOff val="2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7</a:t>
            </a:r>
            <a:endParaRPr lang="en-IN" dirty="0"/>
          </a:p>
        </p:txBody>
      </p:sp>
      <p:sp>
        <p:nvSpPr>
          <p:cNvPr id="15" name="Flowchart: Connector 14">
            <a:extLst>
              <a:ext uri="{FF2B5EF4-FFF2-40B4-BE49-F238E27FC236}">
                <a16:creationId xmlns:a16="http://schemas.microsoft.com/office/drawing/2014/main" id="{D3F4500E-C05F-985D-70E3-0C232195CA73}"/>
              </a:ext>
            </a:extLst>
          </p:cNvPr>
          <p:cNvSpPr/>
          <p:nvPr/>
        </p:nvSpPr>
        <p:spPr>
          <a:xfrm>
            <a:off x="3213484" y="4488539"/>
            <a:ext cx="457200" cy="457200"/>
          </a:xfrm>
          <a:prstGeom prst="flowChartConnector">
            <a:avLst/>
          </a:prstGeom>
          <a:solidFill>
            <a:schemeClr val="bg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endParaRPr lang="en-IN" dirty="0"/>
          </a:p>
        </p:txBody>
      </p:sp>
      <p:sp>
        <p:nvSpPr>
          <p:cNvPr id="16" name="Flowchart: Connector 15">
            <a:extLst>
              <a:ext uri="{FF2B5EF4-FFF2-40B4-BE49-F238E27FC236}">
                <a16:creationId xmlns:a16="http://schemas.microsoft.com/office/drawing/2014/main" id="{5315BD65-E289-3994-9435-BB286E52226A}"/>
              </a:ext>
            </a:extLst>
          </p:cNvPr>
          <p:cNvSpPr/>
          <p:nvPr/>
        </p:nvSpPr>
        <p:spPr>
          <a:xfrm>
            <a:off x="3188940" y="1909077"/>
            <a:ext cx="457200" cy="457200"/>
          </a:xfrm>
          <a:prstGeom prst="flowChartConnector">
            <a:avLst/>
          </a:prstGeom>
          <a:solidFill>
            <a:schemeClr val="bg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N" dirty="0"/>
          </a:p>
        </p:txBody>
      </p:sp>
      <p:sp>
        <p:nvSpPr>
          <p:cNvPr id="17" name="Flowchart: Connector 16">
            <a:extLst>
              <a:ext uri="{FF2B5EF4-FFF2-40B4-BE49-F238E27FC236}">
                <a16:creationId xmlns:a16="http://schemas.microsoft.com/office/drawing/2014/main" id="{4BD91E61-5D2E-6C5E-0591-409A33BB7819}"/>
              </a:ext>
            </a:extLst>
          </p:cNvPr>
          <p:cNvSpPr/>
          <p:nvPr/>
        </p:nvSpPr>
        <p:spPr>
          <a:xfrm>
            <a:off x="3188940" y="1257604"/>
            <a:ext cx="457200" cy="457200"/>
          </a:xfrm>
          <a:prstGeom prst="flowChartConnector">
            <a:avLst/>
          </a:prstGeom>
          <a:solidFill>
            <a:schemeClr val="bg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18" name="Flowchart: Connector 17">
            <a:extLst>
              <a:ext uri="{FF2B5EF4-FFF2-40B4-BE49-F238E27FC236}">
                <a16:creationId xmlns:a16="http://schemas.microsoft.com/office/drawing/2014/main" id="{69FA5B4F-643C-7964-0B4A-60AF84747577}"/>
              </a:ext>
            </a:extLst>
          </p:cNvPr>
          <p:cNvSpPr/>
          <p:nvPr/>
        </p:nvSpPr>
        <p:spPr>
          <a:xfrm>
            <a:off x="3188940" y="2560550"/>
            <a:ext cx="457200" cy="457200"/>
          </a:xfrm>
          <a:prstGeom prst="flowChartConnector">
            <a:avLst/>
          </a:prstGeom>
          <a:solidFill>
            <a:schemeClr val="bg2">
              <a:lumMod val="75000"/>
              <a:lumOff val="2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N" dirty="0"/>
          </a:p>
        </p:txBody>
      </p:sp>
      <p:cxnSp>
        <p:nvCxnSpPr>
          <p:cNvPr id="20" name="Straight Connector 19">
            <a:extLst>
              <a:ext uri="{FF2B5EF4-FFF2-40B4-BE49-F238E27FC236}">
                <a16:creationId xmlns:a16="http://schemas.microsoft.com/office/drawing/2014/main" id="{2187601B-850F-7491-F113-3F86A1B19789}"/>
              </a:ext>
            </a:extLst>
          </p:cNvPr>
          <p:cNvCxnSpPr>
            <a:cxnSpLocks/>
          </p:cNvCxnSpPr>
          <p:nvPr/>
        </p:nvCxnSpPr>
        <p:spPr>
          <a:xfrm>
            <a:off x="3417540" y="1302061"/>
            <a:ext cx="0" cy="657606"/>
          </a:xfrm>
          <a:prstGeom prst="line">
            <a:avLst/>
          </a:prstGeom>
          <a:ln>
            <a:solidFill>
              <a:schemeClr val="bg2">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0681F25-47A9-3C6F-954A-054FB6A20AFA}"/>
              </a:ext>
            </a:extLst>
          </p:cNvPr>
          <p:cNvCxnSpPr>
            <a:cxnSpLocks/>
          </p:cNvCxnSpPr>
          <p:nvPr/>
        </p:nvCxnSpPr>
        <p:spPr>
          <a:xfrm>
            <a:off x="3421293" y="2201966"/>
            <a:ext cx="0" cy="358584"/>
          </a:xfrm>
          <a:prstGeom prst="line">
            <a:avLst/>
          </a:prstGeom>
          <a:ln>
            <a:solidFill>
              <a:schemeClr val="bg2">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C4003C3-C13B-E56A-B35E-4FCFB395A367}"/>
              </a:ext>
            </a:extLst>
          </p:cNvPr>
          <p:cNvCxnSpPr>
            <a:cxnSpLocks/>
          </p:cNvCxnSpPr>
          <p:nvPr/>
        </p:nvCxnSpPr>
        <p:spPr>
          <a:xfrm>
            <a:off x="3407297" y="3562803"/>
            <a:ext cx="0" cy="345030"/>
          </a:xfrm>
          <a:prstGeom prst="line">
            <a:avLst/>
          </a:prstGeom>
          <a:ln>
            <a:solidFill>
              <a:schemeClr val="bg2">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E0882E8-4C62-DAAA-FE17-28DBF9E8000E}"/>
              </a:ext>
            </a:extLst>
          </p:cNvPr>
          <p:cNvCxnSpPr>
            <a:cxnSpLocks/>
          </p:cNvCxnSpPr>
          <p:nvPr/>
        </p:nvCxnSpPr>
        <p:spPr>
          <a:xfrm>
            <a:off x="3442084" y="4124386"/>
            <a:ext cx="0" cy="457200"/>
          </a:xfrm>
          <a:prstGeom prst="line">
            <a:avLst/>
          </a:prstGeom>
          <a:ln>
            <a:solidFill>
              <a:schemeClr val="bg2">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F76E533-DADF-D050-F606-4B906470792A}"/>
              </a:ext>
            </a:extLst>
          </p:cNvPr>
          <p:cNvCxnSpPr>
            <a:cxnSpLocks/>
          </p:cNvCxnSpPr>
          <p:nvPr/>
        </p:nvCxnSpPr>
        <p:spPr>
          <a:xfrm>
            <a:off x="3417540" y="2981942"/>
            <a:ext cx="0" cy="288032"/>
          </a:xfrm>
          <a:prstGeom prst="line">
            <a:avLst/>
          </a:prstGeom>
          <a:ln>
            <a:solidFill>
              <a:schemeClr val="bg2">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5AD4E27-6B75-40F8-7884-D4A3986F5D35}"/>
              </a:ext>
            </a:extLst>
          </p:cNvPr>
          <p:cNvCxnSpPr>
            <a:cxnSpLocks/>
            <a:stCxn id="15" idx="4"/>
          </p:cNvCxnSpPr>
          <p:nvPr/>
        </p:nvCxnSpPr>
        <p:spPr>
          <a:xfrm>
            <a:off x="3442084" y="4945739"/>
            <a:ext cx="27181" cy="485020"/>
          </a:xfrm>
          <a:prstGeom prst="line">
            <a:avLst/>
          </a:prstGeom>
          <a:ln>
            <a:solidFill>
              <a:schemeClr val="bg2">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73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41BDE8B-819B-759C-FBA7-D023662A1C4A}"/>
              </a:ext>
            </a:extLst>
          </p:cNvPr>
          <p:cNvSpPr txBox="1"/>
          <p:nvPr/>
        </p:nvSpPr>
        <p:spPr>
          <a:xfrm>
            <a:off x="4150196" y="188640"/>
            <a:ext cx="2916183" cy="369332"/>
          </a:xfrm>
          <a:prstGeom prst="rect">
            <a:avLst/>
          </a:prstGeom>
          <a:noFill/>
        </p:spPr>
        <p:txBody>
          <a:bodyPr wrap="none" rtlCol="0">
            <a:spAutoFit/>
          </a:bodyPr>
          <a:lstStyle/>
          <a:p>
            <a:r>
              <a:rPr lang="en-US" b="1" kern="0" spc="300" dirty="0">
                <a:solidFill>
                  <a:srgbClr val="FFFFFF"/>
                </a:solidFill>
                <a:latin typeface="Calibri" panose="020F0502020204030204" pitchFamily="34" charset="0"/>
                <a:ea typeface="Calibri" panose="020F0502020204030204" pitchFamily="34" charset="-122"/>
                <a:cs typeface="Calibri" panose="020F0502020204030204" pitchFamily="34" charset="-120"/>
              </a:rPr>
              <a:t>MODEL COMPARISON</a:t>
            </a:r>
            <a:endParaRPr lang="en-IN" dirty="0"/>
          </a:p>
        </p:txBody>
      </p:sp>
      <p:sp>
        <p:nvSpPr>
          <p:cNvPr id="5" name="TextBox 4">
            <a:extLst>
              <a:ext uri="{FF2B5EF4-FFF2-40B4-BE49-F238E27FC236}">
                <a16:creationId xmlns:a16="http://schemas.microsoft.com/office/drawing/2014/main" id="{D2F3F6E4-CC99-327A-CEC5-82D385D1E880}"/>
              </a:ext>
            </a:extLst>
          </p:cNvPr>
          <p:cNvSpPr txBox="1"/>
          <p:nvPr/>
        </p:nvSpPr>
        <p:spPr>
          <a:xfrm>
            <a:off x="3142084" y="692696"/>
            <a:ext cx="6670993" cy="523220"/>
          </a:xfrm>
          <a:prstGeom prst="rect">
            <a:avLst/>
          </a:prstGeom>
          <a:noFill/>
        </p:spPr>
        <p:txBody>
          <a:bodyPr wrap="none" rtlCol="0">
            <a:spAutoFit/>
          </a:bodyPr>
          <a:lstStyle/>
          <a:p>
            <a:r>
              <a:rPr lang="en-US" sz="2800" b="1" dirty="0">
                <a:latin typeface="Calibri" panose="020F0502020204030204" pitchFamily="34" charset="0"/>
                <a:ea typeface="Calibri" panose="020F0502020204030204" pitchFamily="34" charset="-122"/>
                <a:cs typeface="Calibri" panose="020F0502020204030204" pitchFamily="34" charset="-120"/>
              </a:rPr>
              <a:t>8 Models Evaluated — Random Forest Wins</a:t>
            </a:r>
            <a:endParaRPr lang="en-IN" sz="2800" dirty="0"/>
          </a:p>
        </p:txBody>
      </p:sp>
      <p:graphicFrame>
        <p:nvGraphicFramePr>
          <p:cNvPr id="6" name="Table 5">
            <a:extLst>
              <a:ext uri="{FF2B5EF4-FFF2-40B4-BE49-F238E27FC236}">
                <a16:creationId xmlns:a16="http://schemas.microsoft.com/office/drawing/2014/main" id="{E369A1DE-71BD-5C16-E99E-C2AEBC17311E}"/>
              </a:ext>
            </a:extLst>
          </p:cNvPr>
          <p:cNvGraphicFramePr>
            <a:graphicFrameLocks noGrp="1"/>
          </p:cNvGraphicFramePr>
          <p:nvPr>
            <p:extLst>
              <p:ext uri="{D42A27DB-BD31-4B8C-83A1-F6EECF244321}">
                <p14:modId xmlns:p14="http://schemas.microsoft.com/office/powerpoint/2010/main" val="1192593105"/>
              </p:ext>
            </p:extLst>
          </p:nvPr>
        </p:nvGraphicFramePr>
        <p:xfrm>
          <a:off x="-26268" y="1844825"/>
          <a:ext cx="6912767" cy="3600396"/>
        </p:xfrm>
        <a:graphic>
          <a:graphicData uri="http://schemas.openxmlformats.org/drawingml/2006/table">
            <a:tbl>
              <a:tblPr firstRow="1" bandRow="1">
                <a:tableStyleId>{5C22544A-7EE6-4342-B048-85BDC9FD1C3A}</a:tableStyleId>
              </a:tblPr>
              <a:tblGrid>
                <a:gridCol w="2320889">
                  <a:extLst>
                    <a:ext uri="{9D8B030D-6E8A-4147-A177-3AD203B41FA5}">
                      <a16:colId xmlns:a16="http://schemas.microsoft.com/office/drawing/2014/main" val="1462741632"/>
                    </a:ext>
                  </a:extLst>
                </a:gridCol>
                <a:gridCol w="2295939">
                  <a:extLst>
                    <a:ext uri="{9D8B030D-6E8A-4147-A177-3AD203B41FA5}">
                      <a16:colId xmlns:a16="http://schemas.microsoft.com/office/drawing/2014/main" val="369476662"/>
                    </a:ext>
                  </a:extLst>
                </a:gridCol>
                <a:gridCol w="2295939">
                  <a:extLst>
                    <a:ext uri="{9D8B030D-6E8A-4147-A177-3AD203B41FA5}">
                      <a16:colId xmlns:a16="http://schemas.microsoft.com/office/drawing/2014/main" val="2843429774"/>
                    </a:ext>
                  </a:extLst>
                </a:gridCol>
              </a:tblGrid>
              <a:tr h="400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MAE </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FFFFFF"/>
                          </a:solidFill>
                          <a:latin typeface="Calibri" panose="020F0502020204030204" pitchFamily="34" charset="0"/>
                          <a:ea typeface="Calibri" panose="020F0502020204030204" pitchFamily="34" charset="-122"/>
                          <a:cs typeface="Calibri" panose="020F0502020204030204" pitchFamily="34" charset="-120"/>
                        </a:rPr>
                        <a:t>R²</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862651540"/>
                  </a:ext>
                </a:extLst>
              </a:tr>
              <a:tr h="400044">
                <a:tc>
                  <a:txBody>
                    <a:bodyPr/>
                    <a:lstStyle/>
                    <a:p>
                      <a:r>
                        <a:rPr lang="en-IN" dirty="0" err="1"/>
                        <a:t>LinearRegresseion</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Agency FB" panose="020B0503020202020204" pitchFamily="34" charset="0"/>
                          <a:ea typeface="+mn-ea"/>
                          <a:cs typeface="+mn-cs"/>
                        </a:rPr>
                        <a:t>0.06882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Agency FB" panose="020B0503020202020204" pitchFamily="34" charset="0"/>
                          <a:ea typeface="+mn-ea"/>
                          <a:cs typeface="+mn-cs"/>
                        </a:rPr>
                        <a:t>0.152333</a:t>
                      </a:r>
                    </a:p>
                  </a:txBody>
                  <a:tcPr/>
                </a:tc>
                <a:extLst>
                  <a:ext uri="{0D108BD9-81ED-4DB2-BD59-A6C34878D82A}">
                    <a16:rowId xmlns:a16="http://schemas.microsoft.com/office/drawing/2014/main" val="688877683"/>
                  </a:ext>
                </a:extLst>
              </a:tr>
              <a:tr h="400044">
                <a:tc>
                  <a:txBody>
                    <a:bodyPr/>
                    <a:lstStyle/>
                    <a:p>
                      <a:r>
                        <a:rPr lang="en-IN" dirty="0"/>
                        <a:t>ridge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Agency FB" panose="020B0503020202020204" pitchFamily="34" charset="0"/>
                          <a:ea typeface="+mn-ea"/>
                          <a:cs typeface="+mn-cs"/>
                        </a:rPr>
                        <a:t> 0.06885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Agency FB" panose="020B0503020202020204" pitchFamily="34" charset="0"/>
                          <a:ea typeface="+mn-ea"/>
                          <a:cs typeface="+mn-cs"/>
                        </a:rPr>
                        <a:t> 0.15190369</a:t>
                      </a:r>
                    </a:p>
                  </a:txBody>
                  <a:tcPr/>
                </a:tc>
                <a:extLst>
                  <a:ext uri="{0D108BD9-81ED-4DB2-BD59-A6C34878D82A}">
                    <a16:rowId xmlns:a16="http://schemas.microsoft.com/office/drawing/2014/main" val="674416437"/>
                  </a:ext>
                </a:extLst>
              </a:tr>
              <a:tr h="400044">
                <a:tc>
                  <a:txBody>
                    <a:bodyPr/>
                    <a:lstStyle/>
                    <a:p>
                      <a:r>
                        <a:rPr lang="en-US" dirty="0"/>
                        <a:t>Lasso</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Agency FB" panose="020B0503020202020204" pitchFamily="34" charset="0"/>
                          <a:ea typeface="+mn-ea"/>
                          <a:cs typeface="+mn-cs"/>
                        </a:rPr>
                        <a:t> 0.081211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Agency FB" panose="020B0503020202020204" pitchFamily="34" charset="0"/>
                          <a:ea typeface="+mn-ea"/>
                          <a:cs typeface="+mn-cs"/>
                        </a:rPr>
                        <a:t>-0.0002329</a:t>
                      </a:r>
                    </a:p>
                  </a:txBody>
                  <a:tcPr/>
                </a:tc>
                <a:extLst>
                  <a:ext uri="{0D108BD9-81ED-4DB2-BD59-A6C34878D82A}">
                    <a16:rowId xmlns:a16="http://schemas.microsoft.com/office/drawing/2014/main" val="620278690"/>
                  </a:ext>
                </a:extLst>
              </a:tr>
              <a:tr h="400044">
                <a:tc>
                  <a:txBody>
                    <a:bodyPr/>
                    <a:lstStyle/>
                    <a:p>
                      <a:r>
                        <a:rPr lang="en-IN" dirty="0" err="1"/>
                        <a:t>DecisionTree</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Agency FB" panose="020B0503020202020204" pitchFamily="34" charset="0"/>
                          <a:ea typeface="+mn-ea"/>
                          <a:cs typeface="+mn-cs"/>
                        </a:rPr>
                        <a:t> 0.0380289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Agency FB" panose="020B0503020202020204" pitchFamily="34" charset="0"/>
                          <a:ea typeface="+mn-ea"/>
                          <a:cs typeface="+mn-cs"/>
                        </a:rPr>
                        <a:t>0.53162</a:t>
                      </a:r>
                    </a:p>
                  </a:txBody>
                  <a:tcPr/>
                </a:tc>
                <a:extLst>
                  <a:ext uri="{0D108BD9-81ED-4DB2-BD59-A6C34878D82A}">
                    <a16:rowId xmlns:a16="http://schemas.microsoft.com/office/drawing/2014/main" val="1936519813"/>
                  </a:ext>
                </a:extLst>
              </a:tr>
              <a:tr h="400044">
                <a:tc>
                  <a:txBody>
                    <a:bodyPr/>
                    <a:lstStyle/>
                    <a:p>
                      <a:r>
                        <a:rPr lang="en-US" sz="1800" b="1" dirty="0">
                          <a:solidFill>
                            <a:srgbClr val="0A2342"/>
                          </a:solidFill>
                          <a:highlight>
                            <a:srgbClr val="FFFF00"/>
                          </a:highlight>
                          <a:latin typeface="Calibri" panose="020F0502020204030204" pitchFamily="34" charset="0"/>
                          <a:ea typeface="Calibri" panose="020F0502020204030204" pitchFamily="34" charset="-122"/>
                          <a:cs typeface="Calibri" panose="020F0502020204030204" pitchFamily="34" charset="-120"/>
                        </a:rPr>
                        <a:t>🏆</a:t>
                      </a:r>
                      <a:r>
                        <a:rPr lang="en-US" dirty="0">
                          <a:highlight>
                            <a:srgbClr val="FFFF00"/>
                          </a:highlight>
                        </a:rPr>
                        <a:t>Random Forest </a:t>
                      </a:r>
                      <a:endParaRPr lang="en-IN" dirty="0">
                        <a:highlight>
                          <a:srgbClr val="FFFF00"/>
                        </a:highlight>
                      </a:endParaRPr>
                    </a:p>
                  </a:txBody>
                  <a:tcPr>
                    <a:solidFill>
                      <a:srgbClr val="FFFF00"/>
                    </a:solidFill>
                  </a:tcPr>
                </a:tc>
                <a:tc>
                  <a:txBody>
                    <a:bodyPr/>
                    <a:lstStyle/>
                    <a:p>
                      <a:r>
                        <a:rPr lang="en-IN" sz="1800" b="0" i="0" kern="1200" dirty="0">
                          <a:solidFill>
                            <a:schemeClr val="dk1"/>
                          </a:solidFill>
                          <a:effectLst/>
                          <a:highlight>
                            <a:srgbClr val="FFFF00"/>
                          </a:highlight>
                          <a:latin typeface="Agency FB" panose="020B0503020202020204" pitchFamily="34" charset="0"/>
                          <a:ea typeface="+mn-ea"/>
                          <a:cs typeface="+mn-cs"/>
                        </a:rPr>
                        <a:t> 0.02391</a:t>
                      </a:r>
                      <a:endParaRPr lang="en-IN" dirty="0">
                        <a:highlight>
                          <a:srgbClr val="FFFF00"/>
                        </a:highlight>
                        <a:latin typeface="Agency FB" panose="020B0503020202020204" pitchFamily="34" charset="0"/>
                      </a:endParaRPr>
                    </a:p>
                  </a:txBody>
                  <a:tcP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highlight>
                            <a:srgbClr val="FFFF00"/>
                          </a:highlight>
                          <a:latin typeface="Agency FB" panose="020B0503020202020204" pitchFamily="34" charset="0"/>
                          <a:ea typeface="+mn-ea"/>
                          <a:cs typeface="+mn-cs"/>
                        </a:rPr>
                        <a:t> 0.705438</a:t>
                      </a:r>
                    </a:p>
                  </a:txBody>
                  <a:tcPr>
                    <a:solidFill>
                      <a:srgbClr val="FFFF00"/>
                    </a:solidFill>
                  </a:tcPr>
                </a:tc>
                <a:extLst>
                  <a:ext uri="{0D108BD9-81ED-4DB2-BD59-A6C34878D82A}">
                    <a16:rowId xmlns:a16="http://schemas.microsoft.com/office/drawing/2014/main" val="676045117"/>
                  </a:ext>
                </a:extLst>
              </a:tr>
              <a:tr h="400044">
                <a:tc>
                  <a:txBody>
                    <a:bodyPr/>
                    <a:lstStyle/>
                    <a:p>
                      <a:r>
                        <a:rPr lang="en-US" dirty="0"/>
                        <a:t>XGBOOST</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Agency FB" panose="020B0503020202020204" pitchFamily="34" charset="0"/>
                          <a:ea typeface="+mn-ea"/>
                          <a:cs typeface="+mn-cs"/>
                        </a:rPr>
                        <a:t>0.03465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Agency FB" panose="020B0503020202020204" pitchFamily="34" charset="0"/>
                          <a:ea typeface="+mn-ea"/>
                          <a:cs typeface="+mn-cs"/>
                        </a:rPr>
                        <a:t>0.57317</a:t>
                      </a:r>
                    </a:p>
                  </a:txBody>
                  <a:tcPr/>
                </a:tc>
                <a:extLst>
                  <a:ext uri="{0D108BD9-81ED-4DB2-BD59-A6C34878D82A}">
                    <a16:rowId xmlns:a16="http://schemas.microsoft.com/office/drawing/2014/main" val="1438851989"/>
                  </a:ext>
                </a:extLst>
              </a:tr>
              <a:tr h="400044">
                <a:tc>
                  <a:txBody>
                    <a:bodyPr/>
                    <a:lstStyle/>
                    <a:p>
                      <a:r>
                        <a:rPr lang="en-US" dirty="0"/>
                        <a:t>Gradient </a:t>
                      </a:r>
                      <a:r>
                        <a:rPr lang="en-US" dirty="0" err="1"/>
                        <a:t>bossting</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Agency FB" panose="020B0503020202020204" pitchFamily="34" charset="0"/>
                          <a:ea typeface="+mn-ea"/>
                          <a:cs typeface="+mn-cs"/>
                        </a:rPr>
                        <a:t>0.40121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Agency FB" panose="020B0503020202020204" pitchFamily="34" charset="0"/>
                          <a:ea typeface="+mn-ea"/>
                          <a:cs typeface="+mn-cs"/>
                        </a:rPr>
                        <a:t>0.0486169</a:t>
                      </a:r>
                    </a:p>
                  </a:txBody>
                  <a:tcPr/>
                </a:tc>
                <a:extLst>
                  <a:ext uri="{0D108BD9-81ED-4DB2-BD59-A6C34878D82A}">
                    <a16:rowId xmlns:a16="http://schemas.microsoft.com/office/drawing/2014/main" val="2665193265"/>
                  </a:ext>
                </a:extLst>
              </a:tr>
              <a:tr h="400044">
                <a:tc>
                  <a:txBody>
                    <a:bodyPr/>
                    <a:lstStyle/>
                    <a:p>
                      <a:r>
                        <a:rPr lang="en-US" dirty="0"/>
                        <a:t>LGBM</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Agency FB" panose="020B0503020202020204" pitchFamily="34" charset="0"/>
                          <a:ea typeface="+mn-ea"/>
                          <a:cs typeface="+mn-cs"/>
                        </a:rPr>
                        <a:t>0.0351424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Agency FB" panose="020B0503020202020204" pitchFamily="34" charset="0"/>
                          <a:ea typeface="+mn-ea"/>
                          <a:cs typeface="+mn-cs"/>
                        </a:rPr>
                        <a:t>0.56717</a:t>
                      </a:r>
                    </a:p>
                  </a:txBody>
                  <a:tcPr/>
                </a:tc>
                <a:extLst>
                  <a:ext uri="{0D108BD9-81ED-4DB2-BD59-A6C34878D82A}">
                    <a16:rowId xmlns:a16="http://schemas.microsoft.com/office/drawing/2014/main" val="299464809"/>
                  </a:ext>
                </a:extLst>
              </a:tr>
            </a:tbl>
          </a:graphicData>
        </a:graphic>
      </p:graphicFrame>
      <p:pic>
        <p:nvPicPr>
          <p:cNvPr id="8" name="Picture 7">
            <a:extLst>
              <a:ext uri="{FF2B5EF4-FFF2-40B4-BE49-F238E27FC236}">
                <a16:creationId xmlns:a16="http://schemas.microsoft.com/office/drawing/2014/main" id="{6B3D3BCA-F0E7-FFA8-ECE2-5377C6DFAD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6580" y="1700808"/>
            <a:ext cx="4523605" cy="5157192"/>
          </a:xfrm>
          <a:prstGeom prst="rect">
            <a:avLst/>
          </a:prstGeom>
        </p:spPr>
      </p:pic>
    </p:spTree>
    <p:extLst>
      <p:ext uri="{BB962C8B-B14F-4D97-AF65-F5344CB8AC3E}">
        <p14:creationId xmlns:p14="http://schemas.microsoft.com/office/powerpoint/2010/main" val="151287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F07D43-A22B-1FAF-1263-AA26AC6F653D}"/>
              </a:ext>
            </a:extLst>
          </p:cNvPr>
          <p:cNvSpPr txBox="1"/>
          <p:nvPr/>
        </p:nvSpPr>
        <p:spPr>
          <a:xfrm>
            <a:off x="3286100" y="3448"/>
            <a:ext cx="4226093" cy="369332"/>
          </a:xfrm>
          <a:prstGeom prst="rect">
            <a:avLst/>
          </a:prstGeom>
          <a:noFill/>
        </p:spPr>
        <p:txBody>
          <a:bodyPr wrap="none" rtlCol="0">
            <a:spAutoFit/>
          </a:bodyPr>
          <a:lstStyle/>
          <a:p>
            <a:r>
              <a:rPr lang="en-IN" dirty="0"/>
              <a:t>Cross Validation &amp; Hyperparameter Tuning</a:t>
            </a:r>
          </a:p>
        </p:txBody>
      </p:sp>
      <p:sp>
        <p:nvSpPr>
          <p:cNvPr id="5" name="TextBox 4">
            <a:extLst>
              <a:ext uri="{FF2B5EF4-FFF2-40B4-BE49-F238E27FC236}">
                <a16:creationId xmlns:a16="http://schemas.microsoft.com/office/drawing/2014/main" id="{EB280A87-C513-4007-2055-330ABF33D6BF}"/>
              </a:ext>
            </a:extLst>
          </p:cNvPr>
          <p:cNvSpPr txBox="1"/>
          <p:nvPr/>
        </p:nvSpPr>
        <p:spPr>
          <a:xfrm>
            <a:off x="0" y="476672"/>
            <a:ext cx="11678582" cy="6278642"/>
          </a:xfrm>
          <a:prstGeom prst="rect">
            <a:avLst/>
          </a:prstGeom>
          <a:noFill/>
        </p:spPr>
        <p:txBody>
          <a:bodyPr wrap="none" rtlCol="0">
            <a:spAutoFit/>
          </a:bodyPr>
          <a:lstStyle/>
          <a:p>
            <a:r>
              <a:rPr lang="en-IN" sz="1600" b="1" dirty="0"/>
              <a:t>Objective</a:t>
            </a:r>
          </a:p>
          <a:p>
            <a:pPr marL="285750" indent="-285750">
              <a:buFont typeface="Arial" panose="020B0604020202020204" pitchFamily="34" charset="0"/>
              <a:buChar char="•"/>
            </a:pPr>
            <a:r>
              <a:rPr lang="en-IN" sz="1600" dirty="0"/>
              <a:t>Optimize the Random Forest model by selecting the best combination of hyperparameters using </a:t>
            </a:r>
            <a:r>
              <a:rPr lang="en-IN" sz="1600" dirty="0" err="1"/>
              <a:t>GridSearchCV</a:t>
            </a:r>
            <a:r>
              <a:rPr lang="en-IN" sz="1600" dirty="0"/>
              <a:t> and Cross Validation.</a:t>
            </a:r>
          </a:p>
          <a:p>
            <a:r>
              <a:rPr lang="en-IN" sz="1600" b="1" dirty="0"/>
              <a:t>Parameters Tuned</a:t>
            </a:r>
          </a:p>
          <a:p>
            <a:pPr marL="285750" indent="-285750">
              <a:buFont typeface="Arial" panose="020B0604020202020204" pitchFamily="34" charset="0"/>
              <a:buChar char="•"/>
            </a:pPr>
            <a:r>
              <a:rPr lang="en-IN" sz="1600" dirty="0"/>
              <a:t>Number of Trees (</a:t>
            </a:r>
            <a:r>
              <a:rPr lang="en-IN" sz="1600" b="1" dirty="0" err="1"/>
              <a:t>n_estimators</a:t>
            </a:r>
            <a:r>
              <a:rPr lang="en-IN" sz="1600" dirty="0"/>
              <a:t>) : 100, 150, 200 </a:t>
            </a:r>
          </a:p>
          <a:p>
            <a:pPr marL="285750" indent="-285750">
              <a:buFont typeface="Arial" panose="020B0604020202020204" pitchFamily="34" charset="0"/>
              <a:buChar char="•"/>
            </a:pPr>
            <a:r>
              <a:rPr lang="en-IN" sz="1600" dirty="0"/>
              <a:t>Maximum Tree Depth (</a:t>
            </a:r>
            <a:r>
              <a:rPr lang="en-IN" sz="1600" b="1" dirty="0" err="1"/>
              <a:t>max_depth</a:t>
            </a:r>
            <a:r>
              <a:rPr lang="en-IN" sz="1600" dirty="0"/>
              <a:t>) : 10, 20, 30, None </a:t>
            </a:r>
          </a:p>
          <a:p>
            <a:pPr marL="285750" indent="-285750">
              <a:buFont typeface="Arial" panose="020B0604020202020204" pitchFamily="34" charset="0"/>
              <a:buChar char="•"/>
            </a:pPr>
            <a:r>
              <a:rPr lang="en-IN" sz="1600" dirty="0"/>
              <a:t>Minimum Samples per Leaf (</a:t>
            </a:r>
            <a:r>
              <a:rPr lang="en-IN" sz="1600" b="1" dirty="0" err="1"/>
              <a:t>min_samples_leaf</a:t>
            </a:r>
            <a:r>
              <a:rPr lang="en-IN" sz="1600" dirty="0"/>
              <a:t>) : 1, 2, 5 </a:t>
            </a:r>
          </a:p>
          <a:p>
            <a:pPr marL="285750" indent="-285750">
              <a:buFont typeface="Arial" panose="020B0604020202020204" pitchFamily="34" charset="0"/>
              <a:buChar char="•"/>
            </a:pPr>
            <a:r>
              <a:rPr lang="en-IN" sz="1600" dirty="0"/>
              <a:t>Maximum Features (</a:t>
            </a:r>
            <a:r>
              <a:rPr lang="en-IN" sz="1600" b="1" dirty="0" err="1"/>
              <a:t>max_features</a:t>
            </a:r>
            <a:r>
              <a:rPr lang="en-IN" sz="1600" dirty="0"/>
              <a:t>) : sqrt, log2 </a:t>
            </a:r>
          </a:p>
          <a:p>
            <a:pPr marL="285750" indent="-285750">
              <a:buFont typeface="Arial" panose="020B0604020202020204" pitchFamily="34" charset="0"/>
              <a:buChar char="•"/>
            </a:pPr>
            <a:r>
              <a:rPr lang="en-IN" sz="1600" dirty="0"/>
              <a:t>Bootstrap Sampling : True, False </a:t>
            </a:r>
          </a:p>
          <a:p>
            <a:r>
              <a:rPr lang="en-IN" sz="1600" b="1" dirty="0"/>
              <a:t>Methodology</a:t>
            </a:r>
          </a:p>
          <a:p>
            <a:pPr marL="285750" indent="-285750">
              <a:buFont typeface="Arial" panose="020B0604020202020204" pitchFamily="34" charset="0"/>
              <a:buChar char="•"/>
            </a:pPr>
            <a:r>
              <a:rPr lang="en-IN" sz="1600" dirty="0"/>
              <a:t>Applied </a:t>
            </a:r>
            <a:r>
              <a:rPr lang="en-IN" sz="1600" b="1" dirty="0"/>
              <a:t>3-Fold Cross Validation</a:t>
            </a:r>
            <a:r>
              <a:rPr lang="en-IN" sz="1600" dirty="0"/>
              <a:t> </a:t>
            </a:r>
          </a:p>
          <a:p>
            <a:pPr marL="285750" indent="-285750">
              <a:buFont typeface="Arial" panose="020B0604020202020204" pitchFamily="34" charset="0"/>
              <a:buChar char="•"/>
            </a:pPr>
            <a:r>
              <a:rPr lang="en-IN" sz="1600" dirty="0"/>
              <a:t>Evaluated multiple parameter combinations using </a:t>
            </a:r>
            <a:r>
              <a:rPr lang="en-IN" sz="1600" b="1" dirty="0" err="1"/>
              <a:t>GridSearchCV</a:t>
            </a:r>
            <a:r>
              <a:rPr lang="en-IN" sz="1600" dirty="0"/>
              <a:t> </a:t>
            </a:r>
          </a:p>
          <a:p>
            <a:pPr marL="285750" indent="-285750">
              <a:buFont typeface="Arial" panose="020B0604020202020204" pitchFamily="34" charset="0"/>
              <a:buChar char="•"/>
            </a:pPr>
            <a:r>
              <a:rPr lang="en-IN" sz="1600" dirty="0"/>
              <a:t>Selected the model with the highest validation performance </a:t>
            </a:r>
          </a:p>
          <a:p>
            <a:r>
              <a:rPr lang="en-IN" sz="1600" b="1" dirty="0"/>
              <a:t>Best Parameters</a:t>
            </a:r>
          </a:p>
          <a:p>
            <a:pPr marL="285750" indent="-285750">
              <a:buFont typeface="Arial" panose="020B0604020202020204" pitchFamily="34" charset="0"/>
              <a:buChar char="•"/>
            </a:pPr>
            <a:r>
              <a:rPr lang="en-IN" sz="1600" dirty="0"/>
              <a:t>Bootstrap = False </a:t>
            </a:r>
          </a:p>
          <a:p>
            <a:pPr marL="285750" indent="-285750">
              <a:buFont typeface="Arial" panose="020B0604020202020204" pitchFamily="34" charset="0"/>
              <a:buChar char="•"/>
            </a:pPr>
            <a:r>
              <a:rPr lang="en-IN" sz="1600" dirty="0"/>
              <a:t>Max Depth = 30 </a:t>
            </a:r>
          </a:p>
          <a:p>
            <a:pPr marL="285750" indent="-285750">
              <a:buFont typeface="Arial" panose="020B0604020202020204" pitchFamily="34" charset="0"/>
              <a:buChar char="•"/>
            </a:pPr>
            <a:r>
              <a:rPr lang="en-IN" sz="1600" dirty="0"/>
              <a:t>Max Features = sqrt </a:t>
            </a:r>
          </a:p>
          <a:p>
            <a:pPr marL="285750" indent="-285750">
              <a:buFont typeface="Arial" panose="020B0604020202020204" pitchFamily="34" charset="0"/>
              <a:buChar char="•"/>
            </a:pPr>
            <a:r>
              <a:rPr lang="en-IN" sz="1600" dirty="0"/>
              <a:t>Min Samples Leaf = 1 </a:t>
            </a:r>
          </a:p>
          <a:p>
            <a:pPr marL="285750" indent="-285750">
              <a:buFont typeface="Arial" panose="020B0604020202020204" pitchFamily="34" charset="0"/>
              <a:buChar char="•"/>
            </a:pPr>
            <a:r>
              <a:rPr lang="en-IN" sz="1600" dirty="0"/>
              <a:t>Number of Estimators = 200 </a:t>
            </a:r>
          </a:p>
          <a:p>
            <a:pPr marL="285750" indent="-285750">
              <a:buFont typeface="Arial" panose="020B0604020202020204" pitchFamily="34" charset="0"/>
              <a:buChar char="•"/>
            </a:pPr>
            <a:r>
              <a:rPr lang="en-IN" sz="1600" b="1" dirty="0"/>
              <a:t>Final Performance</a:t>
            </a:r>
          </a:p>
          <a:p>
            <a:pPr marL="285750" indent="-285750">
              <a:buFont typeface="Arial" panose="020B0604020202020204" pitchFamily="34" charset="0"/>
              <a:buChar char="•"/>
            </a:pPr>
            <a:r>
              <a:rPr lang="en-IN" sz="1600" b="1" dirty="0"/>
              <a:t>R² Score = 0.736</a:t>
            </a:r>
            <a:r>
              <a:rPr lang="en-IN" sz="1600" dirty="0"/>
              <a:t> </a:t>
            </a:r>
          </a:p>
          <a:p>
            <a:pPr marL="285750" indent="-285750">
              <a:buFont typeface="Arial" panose="020B0604020202020204" pitchFamily="34" charset="0"/>
              <a:buChar char="•"/>
            </a:pPr>
            <a:r>
              <a:rPr lang="en-IN" sz="1600" b="1" dirty="0"/>
              <a:t>MSE = 0.0214</a:t>
            </a:r>
            <a:r>
              <a:rPr lang="en-IN" sz="1600" dirty="0"/>
              <a:t> </a:t>
            </a:r>
          </a:p>
          <a:p>
            <a:r>
              <a:rPr lang="en-IN" sz="1600" dirty="0"/>
              <a:t>Conclusion</a:t>
            </a:r>
          </a:p>
          <a:p>
            <a:pPr marL="285750" indent="-285750">
              <a:buFont typeface="Arial" panose="020B0604020202020204" pitchFamily="34" charset="0"/>
              <a:buChar char="•"/>
            </a:pPr>
            <a:r>
              <a:rPr lang="en-IN" sz="1600" dirty="0"/>
              <a:t>Hyperparameter tuning improved the Random Forest model performance. </a:t>
            </a:r>
          </a:p>
          <a:p>
            <a:pPr marL="285750" indent="-285750">
              <a:buFont typeface="Arial" panose="020B0604020202020204" pitchFamily="34" charset="0"/>
              <a:buChar char="•"/>
            </a:pPr>
            <a:r>
              <a:rPr lang="en-IN" sz="1600" dirty="0"/>
              <a:t>The tuned model achieved the highest predictive accuracy and was selected as the final model. </a:t>
            </a:r>
          </a:p>
          <a:p>
            <a:endParaRPr lang="en-IN" dirty="0"/>
          </a:p>
        </p:txBody>
      </p:sp>
    </p:spTree>
    <p:extLst>
      <p:ext uri="{BB962C8B-B14F-4D97-AF65-F5344CB8AC3E}">
        <p14:creationId xmlns:p14="http://schemas.microsoft.com/office/powerpoint/2010/main" val="3607834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63DD43-D5A7-318B-EF75-798D3F6BD7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1964" y="836712"/>
            <a:ext cx="7554379" cy="5904655"/>
          </a:xfrm>
          <a:prstGeom prst="rect">
            <a:avLst/>
          </a:prstGeom>
        </p:spPr>
      </p:pic>
      <p:sp>
        <p:nvSpPr>
          <p:cNvPr id="6" name="TextBox 5">
            <a:extLst>
              <a:ext uri="{FF2B5EF4-FFF2-40B4-BE49-F238E27FC236}">
                <a16:creationId xmlns:a16="http://schemas.microsoft.com/office/drawing/2014/main" id="{91755A95-346D-6311-390B-E9E7E2E89C64}"/>
              </a:ext>
            </a:extLst>
          </p:cNvPr>
          <p:cNvSpPr txBox="1"/>
          <p:nvPr/>
        </p:nvSpPr>
        <p:spPr>
          <a:xfrm>
            <a:off x="3934172" y="0"/>
            <a:ext cx="2153154" cy="646331"/>
          </a:xfrm>
          <a:prstGeom prst="rect">
            <a:avLst/>
          </a:prstGeom>
          <a:noFill/>
        </p:spPr>
        <p:txBody>
          <a:bodyPr wrap="none" rtlCol="0">
            <a:spAutoFit/>
          </a:bodyPr>
          <a:lstStyle/>
          <a:p>
            <a:r>
              <a:rPr lang="en-IN" b="1" dirty="0"/>
              <a:t>Feature Importance</a:t>
            </a:r>
          </a:p>
          <a:p>
            <a:endParaRPr lang="en-IN" dirty="0"/>
          </a:p>
        </p:txBody>
      </p:sp>
    </p:spTree>
    <p:extLst>
      <p:ext uri="{BB962C8B-B14F-4D97-AF65-F5344CB8AC3E}">
        <p14:creationId xmlns:p14="http://schemas.microsoft.com/office/powerpoint/2010/main" val="2155242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69601-62DA-22B1-EA33-6429AA208977}"/>
              </a:ext>
            </a:extLst>
          </p:cNvPr>
          <p:cNvSpPr>
            <a:spLocks noGrp="1"/>
          </p:cNvSpPr>
          <p:nvPr>
            <p:ph type="title"/>
          </p:nvPr>
        </p:nvSpPr>
        <p:spPr>
          <a:xfrm>
            <a:off x="1269876" y="22312"/>
            <a:ext cx="9144001" cy="843880"/>
          </a:xfrm>
        </p:spPr>
        <p:txBody>
          <a:bodyPr/>
          <a:lstStyle/>
          <a:p>
            <a:pPr algn="ctr"/>
            <a:r>
              <a:rPr lang="en-US" dirty="0"/>
              <a:t>ACTUAL VS PREDICTED</a:t>
            </a:r>
            <a:endParaRPr lang="en-IN" dirty="0"/>
          </a:p>
        </p:txBody>
      </p:sp>
      <p:pic>
        <p:nvPicPr>
          <p:cNvPr id="5" name="Picture 4">
            <a:extLst>
              <a:ext uri="{FF2B5EF4-FFF2-40B4-BE49-F238E27FC236}">
                <a16:creationId xmlns:a16="http://schemas.microsoft.com/office/drawing/2014/main" id="{2D811476-9ED9-7A2A-EFCF-F0B53CBFD3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68" y="1124744"/>
            <a:ext cx="5963482" cy="5710944"/>
          </a:xfrm>
          <a:prstGeom prst="rect">
            <a:avLst/>
          </a:prstGeom>
        </p:spPr>
      </p:pic>
      <p:sp>
        <p:nvSpPr>
          <p:cNvPr id="6" name="Rectangle 5">
            <a:extLst>
              <a:ext uri="{FF2B5EF4-FFF2-40B4-BE49-F238E27FC236}">
                <a16:creationId xmlns:a16="http://schemas.microsoft.com/office/drawing/2014/main" id="{3C03BF29-7173-A7F0-2F14-7CDE4D2FC5CC}"/>
              </a:ext>
            </a:extLst>
          </p:cNvPr>
          <p:cNvSpPr/>
          <p:nvPr/>
        </p:nvSpPr>
        <p:spPr>
          <a:xfrm rot="10800000">
            <a:off x="9836089" y="7930437"/>
            <a:ext cx="1673389"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1">
            <a:extLst>
              <a:ext uri="{FF2B5EF4-FFF2-40B4-BE49-F238E27FC236}">
                <a16:creationId xmlns:a16="http://schemas.microsoft.com/office/drawing/2014/main" id="{E1FD0DAC-1C4B-0BBF-F2EB-869FF25D1DBE}"/>
              </a:ext>
            </a:extLst>
          </p:cNvPr>
          <p:cNvSpPr>
            <a:spLocks noChangeArrowheads="1"/>
          </p:cNvSpPr>
          <p:nvPr/>
        </p:nvSpPr>
        <p:spPr bwMode="auto">
          <a:xfrm rot="10800000" flipV="1">
            <a:off x="6146340" y="2060848"/>
            <a:ext cx="578071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Random Forest model demonstrates good predictive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close alignment of points with the diagonal line confirms that the model can effectively estimate appliance energy consumption.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obtained </a:t>
            </a:r>
            <a:r>
              <a:rPr kumimoji="0" lang="en-US" altLang="en-US" sz="1800" b="1" i="0" u="none" strike="noStrike" cap="none" normalizeH="0" baseline="0">
                <a:ln>
                  <a:noFill/>
                </a:ln>
                <a:solidFill>
                  <a:schemeClr val="tx1"/>
                </a:solidFill>
                <a:effectLst/>
                <a:latin typeface="Arial" panose="020B0604020202020204" pitchFamily="34" charset="0"/>
              </a:rPr>
              <a:t>R² score of 0.736</a:t>
            </a:r>
            <a:r>
              <a:rPr kumimoji="0" lang="en-US" altLang="en-US" sz="1800" b="0" i="0" u="none" strike="noStrike" cap="none" normalizeH="0" baseline="0">
                <a:ln>
                  <a:noFill/>
                </a:ln>
                <a:solidFill>
                  <a:schemeClr val="tx1"/>
                </a:solidFill>
                <a:effectLst/>
                <a:latin typeface="Arial" panose="020B0604020202020204" pitchFamily="34" charset="0"/>
              </a:rPr>
              <a:t> indicates a strong fit between actual and predicted values. </a:t>
            </a:r>
          </a:p>
        </p:txBody>
      </p:sp>
    </p:spTree>
    <p:extLst>
      <p:ext uri="{BB962C8B-B14F-4D97-AF65-F5344CB8AC3E}">
        <p14:creationId xmlns:p14="http://schemas.microsoft.com/office/powerpoint/2010/main" val="4026924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A9A7E-3A8F-FC06-6462-02DB136962EB}"/>
              </a:ext>
            </a:extLst>
          </p:cNvPr>
          <p:cNvSpPr>
            <a:spLocks noGrp="1"/>
          </p:cNvSpPr>
          <p:nvPr>
            <p:ph type="title"/>
          </p:nvPr>
        </p:nvSpPr>
        <p:spPr>
          <a:xfrm>
            <a:off x="1197868" y="0"/>
            <a:ext cx="9144001" cy="699864"/>
          </a:xfrm>
        </p:spPr>
        <p:txBody>
          <a:bodyPr/>
          <a:lstStyle/>
          <a:p>
            <a:pPr algn="ctr"/>
            <a:r>
              <a:rPr lang="en-US" dirty="0"/>
              <a:t>SHAP ANALYSIS</a:t>
            </a:r>
            <a:endParaRPr lang="en-IN" dirty="0"/>
          </a:p>
        </p:txBody>
      </p:sp>
      <p:pic>
        <p:nvPicPr>
          <p:cNvPr id="5" name="Picture 4">
            <a:extLst>
              <a:ext uri="{FF2B5EF4-FFF2-40B4-BE49-F238E27FC236}">
                <a16:creationId xmlns:a16="http://schemas.microsoft.com/office/drawing/2014/main" id="{D385DA74-1ADC-0CB2-905B-7EC734C77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80728"/>
            <a:ext cx="6670476" cy="5877272"/>
          </a:xfrm>
          <a:prstGeom prst="rect">
            <a:avLst/>
          </a:prstGeom>
        </p:spPr>
      </p:pic>
      <p:sp>
        <p:nvSpPr>
          <p:cNvPr id="7" name="Rectangle 1">
            <a:extLst>
              <a:ext uri="{FF2B5EF4-FFF2-40B4-BE49-F238E27FC236}">
                <a16:creationId xmlns:a16="http://schemas.microsoft.com/office/drawing/2014/main" id="{4AD53EDB-7C83-4EC5-703A-9DBD63055D89}"/>
              </a:ext>
            </a:extLst>
          </p:cNvPr>
          <p:cNvSpPr>
            <a:spLocks noChangeArrowheads="1"/>
          </p:cNvSpPr>
          <p:nvPr/>
        </p:nvSpPr>
        <p:spPr bwMode="auto">
          <a:xfrm rot="10800000" flipV="1">
            <a:off x="7174532" y="847746"/>
            <a:ext cx="4464496"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SHAP analysis identifies the features that have the greatest impact on appliance energy consumption predictions.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Feature 7</a:t>
            </a:r>
            <a:r>
              <a:rPr kumimoji="0" lang="en-US" altLang="en-US" sz="1800" b="0" i="0" u="none" strike="noStrike" cap="none" normalizeH="0" baseline="0" dirty="0">
                <a:ln>
                  <a:noFill/>
                </a:ln>
                <a:solidFill>
                  <a:schemeClr val="tx1"/>
                </a:solidFill>
                <a:effectLst/>
                <a:latin typeface="Arial" panose="020B0604020202020204" pitchFamily="34" charset="0"/>
              </a:rPr>
              <a:t> has the highest influence on the model output, followed by </a:t>
            </a:r>
            <a:r>
              <a:rPr kumimoji="0" lang="en-US" altLang="en-US" sz="1800" b="1" i="0" u="none" strike="noStrike" cap="none" normalizeH="0" baseline="0" dirty="0">
                <a:ln>
                  <a:noFill/>
                </a:ln>
                <a:solidFill>
                  <a:schemeClr val="tx1"/>
                </a:solidFill>
                <a:effectLst/>
                <a:latin typeface="Arial" panose="020B0604020202020204" pitchFamily="34" charset="0"/>
              </a:rPr>
              <a:t>Feature 2</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Feature 0</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Features at the top of the plot contribute more significantly to predictions than those at the bottom.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Positive SHAP values increase the predicted energy consumption, while negative SHAP values decrease it.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color gradient indicates feature values, where red represents higher values and blue represents lower values.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model relies on a combination of multiple features rather than a single dominant variable. </a:t>
            </a:r>
          </a:p>
        </p:txBody>
      </p:sp>
    </p:spTree>
    <p:extLst>
      <p:ext uri="{BB962C8B-B14F-4D97-AF65-F5344CB8AC3E}">
        <p14:creationId xmlns:p14="http://schemas.microsoft.com/office/powerpoint/2010/main" val="4086989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F3554E-7CAA-097B-7CF0-F85CE2F2370A}"/>
              </a:ext>
            </a:extLst>
          </p:cNvPr>
          <p:cNvSpPr txBox="1"/>
          <p:nvPr/>
        </p:nvSpPr>
        <p:spPr>
          <a:xfrm>
            <a:off x="189756" y="260648"/>
            <a:ext cx="1552926" cy="369332"/>
          </a:xfrm>
          <a:prstGeom prst="rect">
            <a:avLst/>
          </a:prstGeom>
          <a:noFill/>
        </p:spPr>
        <p:txBody>
          <a:bodyPr wrap="none" rtlCol="0">
            <a:spAutoFit/>
          </a:bodyPr>
          <a:lstStyle/>
          <a:p>
            <a:r>
              <a:rPr lang="en-US" b="1" dirty="0"/>
              <a:t>LIMITATIONS</a:t>
            </a:r>
            <a:endParaRPr lang="en-IN" b="1" dirty="0"/>
          </a:p>
        </p:txBody>
      </p:sp>
      <p:sp>
        <p:nvSpPr>
          <p:cNvPr id="6" name="Rectangle 1">
            <a:extLst>
              <a:ext uri="{FF2B5EF4-FFF2-40B4-BE49-F238E27FC236}">
                <a16:creationId xmlns:a16="http://schemas.microsoft.com/office/drawing/2014/main" id="{23E0C08A-4DB0-DB17-B43A-D3EC19641681}"/>
              </a:ext>
            </a:extLst>
          </p:cNvPr>
          <p:cNvSpPr>
            <a:spLocks noChangeArrowheads="1"/>
          </p:cNvSpPr>
          <p:nvPr/>
        </p:nvSpPr>
        <p:spPr bwMode="auto">
          <a:xfrm>
            <a:off x="-7606" y="281554"/>
            <a:ext cx="10558908"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The dataset covers only </a:t>
            </a:r>
            <a:r>
              <a:rPr kumimoji="0" lang="en-US" altLang="en-US" sz="1600" b="1" i="0" u="none" strike="noStrike" cap="none" normalizeH="0" baseline="0" dirty="0">
                <a:ln>
                  <a:noFill/>
                </a:ln>
                <a:solidFill>
                  <a:schemeClr val="tx1"/>
                </a:solidFill>
                <a:effectLst/>
                <a:latin typeface="Arial" panose="020B0604020202020204" pitchFamily="34" charset="0"/>
              </a:rPr>
              <a:t>4.5 months</a:t>
            </a:r>
            <a:r>
              <a:rPr kumimoji="0" lang="en-US" altLang="en-US" sz="1600" b="0" i="0" u="none" strike="noStrike" cap="none" normalizeH="0" baseline="0" dirty="0">
                <a:ln>
                  <a:noFill/>
                </a:ln>
                <a:solidFill>
                  <a:schemeClr val="tx1"/>
                </a:solidFill>
                <a:effectLst/>
                <a:latin typeface="Arial" panose="020B0604020202020204" pitchFamily="34" charset="0"/>
              </a:rPr>
              <a:t> of observations, limiting the capture of long-term seasonal trends.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Appliance energy consumption is influenced by </a:t>
            </a:r>
            <a:r>
              <a:rPr kumimoji="0" lang="en-US" altLang="en-US" sz="1600" b="1" i="0" u="none" strike="noStrike" cap="none" normalizeH="0" baseline="0" dirty="0">
                <a:ln>
                  <a:noFill/>
                </a:ln>
                <a:solidFill>
                  <a:schemeClr val="tx1"/>
                </a:solidFill>
                <a:effectLst/>
                <a:latin typeface="Arial" panose="020B0604020202020204" pitchFamily="34" charset="0"/>
              </a:rPr>
              <a:t>occupant behavior</a:t>
            </a:r>
            <a:r>
              <a:rPr kumimoji="0" lang="en-US" altLang="en-US" sz="1600" b="0" i="0" u="none" strike="noStrike" cap="none" normalizeH="0" baseline="0" dirty="0">
                <a:ln>
                  <a:noFill/>
                </a:ln>
                <a:solidFill>
                  <a:schemeClr val="tx1"/>
                </a:solidFill>
                <a:effectLst/>
                <a:latin typeface="Arial" panose="020B0604020202020204" pitchFamily="34" charset="0"/>
              </a:rPr>
              <a:t>, which is not directly included in the dataset.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Several temperature and humidity features exhibit </a:t>
            </a:r>
            <a:r>
              <a:rPr kumimoji="0" lang="en-US" altLang="en-US" sz="1600" b="1" i="0" u="none" strike="noStrike" cap="none" normalizeH="0" baseline="0" dirty="0">
                <a:ln>
                  <a:noFill/>
                </a:ln>
                <a:solidFill>
                  <a:schemeClr val="tx1"/>
                </a:solidFill>
                <a:effectLst/>
                <a:latin typeface="Arial" panose="020B0604020202020204" pitchFamily="34" charset="0"/>
              </a:rPr>
              <a:t>multicollinearity</a:t>
            </a:r>
            <a:r>
              <a:rPr kumimoji="0" lang="en-US" altLang="en-US" sz="1600" b="0" i="0" u="none" strike="noStrike" cap="none" normalizeH="0" baseline="0" dirty="0">
                <a:ln>
                  <a:noFill/>
                </a:ln>
                <a:solidFill>
                  <a:schemeClr val="tx1"/>
                </a:solidFill>
                <a:effectLst/>
                <a:latin typeface="Arial" panose="020B0604020202020204" pitchFamily="34" charset="0"/>
              </a:rPr>
              <a:t>, affecting feature interpretability.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The model was trained on data from a </a:t>
            </a:r>
            <a:r>
              <a:rPr kumimoji="0" lang="en-US" altLang="en-US" sz="1600" b="1" i="0" u="none" strike="noStrike" cap="none" normalizeH="0" baseline="0" dirty="0">
                <a:ln>
                  <a:noFill/>
                </a:ln>
                <a:solidFill>
                  <a:schemeClr val="tx1"/>
                </a:solidFill>
                <a:effectLst/>
                <a:latin typeface="Arial" panose="020B0604020202020204" pitchFamily="34" charset="0"/>
              </a:rPr>
              <a:t>specific household environment</a:t>
            </a:r>
            <a:r>
              <a:rPr kumimoji="0" lang="en-US" altLang="en-US" sz="1600" b="0" i="0" u="none" strike="noStrike" cap="none" normalizeH="0" baseline="0" dirty="0">
                <a:ln>
                  <a:noFill/>
                </a:ln>
                <a:solidFill>
                  <a:schemeClr val="tx1"/>
                </a:solidFill>
                <a:effectLst/>
                <a:latin typeface="Arial" panose="020B0604020202020204" pitchFamily="34" charset="0"/>
              </a:rPr>
              <a:t>, which may limit generalization to other homes.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External factors such as appliance type, occupancy patterns, and lifestyle habits are not fully represented.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Prediction accuracy may decrease when applied to environments significantly different from the training data.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The model explains approximately </a:t>
            </a:r>
            <a:r>
              <a:rPr kumimoji="0" lang="en-US" altLang="en-US" sz="1600" b="1" i="0" u="none" strike="noStrike" cap="none" normalizeH="0" baseline="0" dirty="0">
                <a:ln>
                  <a:noFill/>
                </a:ln>
                <a:solidFill>
                  <a:schemeClr val="tx1"/>
                </a:solidFill>
                <a:effectLst/>
                <a:latin typeface="Arial" panose="020B0604020202020204" pitchFamily="34" charset="0"/>
              </a:rPr>
              <a:t>73.6%</a:t>
            </a:r>
            <a:r>
              <a:rPr kumimoji="0" lang="en-US" altLang="en-US" sz="1600" b="0" i="0" u="none" strike="noStrike" cap="none" normalizeH="0" baseline="0" dirty="0">
                <a:ln>
                  <a:noFill/>
                </a:ln>
                <a:solidFill>
                  <a:schemeClr val="tx1"/>
                </a:solidFill>
                <a:effectLst/>
                <a:latin typeface="Arial" panose="020B0604020202020204" pitchFamily="34" charset="0"/>
              </a:rPr>
              <a:t> of the variance, indicating that some factors influencing energy consumption remain unaccounted for. </a:t>
            </a:r>
          </a:p>
        </p:txBody>
      </p:sp>
      <p:sp>
        <p:nvSpPr>
          <p:cNvPr id="7" name="TextBox 6">
            <a:extLst>
              <a:ext uri="{FF2B5EF4-FFF2-40B4-BE49-F238E27FC236}">
                <a16:creationId xmlns:a16="http://schemas.microsoft.com/office/drawing/2014/main" id="{179B96A1-B08B-1F15-A9FB-E14F004BC9AC}"/>
              </a:ext>
            </a:extLst>
          </p:cNvPr>
          <p:cNvSpPr txBox="1"/>
          <p:nvPr/>
        </p:nvSpPr>
        <p:spPr>
          <a:xfrm>
            <a:off x="117748" y="3437722"/>
            <a:ext cx="10153128" cy="2585323"/>
          </a:xfrm>
          <a:prstGeom prst="rect">
            <a:avLst/>
          </a:prstGeom>
          <a:noFill/>
        </p:spPr>
        <p:txBody>
          <a:bodyPr wrap="square" rtlCol="0">
            <a:spAutoFit/>
          </a:bodyPr>
          <a:lstStyle/>
          <a:p>
            <a:r>
              <a:rPr lang="en-US" b="1" dirty="0"/>
              <a:t>Future Enhancements</a:t>
            </a:r>
          </a:p>
          <a:p>
            <a:pPr marL="285750" indent="-285750">
              <a:buFont typeface="Arial" panose="020B0604020202020204" pitchFamily="34" charset="0"/>
              <a:buChar char="•"/>
            </a:pPr>
            <a:r>
              <a:rPr lang="en-US" dirty="0"/>
              <a:t>Incorporate additional features such as occupancy patterns, appliance usage schedules, and smart meter data to improve prediction accuracy. </a:t>
            </a:r>
          </a:p>
          <a:p>
            <a:pPr marL="285750" indent="-285750">
              <a:buFont typeface="Arial" panose="020B0604020202020204" pitchFamily="34" charset="0"/>
              <a:buChar char="•"/>
            </a:pPr>
            <a:r>
              <a:rPr lang="en-US" dirty="0"/>
              <a:t>Explore advanced deep learning models such as </a:t>
            </a:r>
            <a:r>
              <a:rPr lang="en-US" b="1" dirty="0"/>
              <a:t>LSTM</a:t>
            </a:r>
            <a:r>
              <a:rPr lang="en-US" dirty="0"/>
              <a:t> and </a:t>
            </a:r>
            <a:r>
              <a:rPr lang="en-US" b="1" dirty="0"/>
              <a:t>GRU</a:t>
            </a:r>
            <a:r>
              <a:rPr lang="en-US" dirty="0"/>
              <a:t> for capturing temporal patterns in energy consumption. </a:t>
            </a:r>
          </a:p>
          <a:p>
            <a:pPr marL="285750" indent="-285750">
              <a:buFont typeface="Arial" panose="020B0604020202020204" pitchFamily="34" charset="0"/>
              <a:buChar char="•"/>
            </a:pPr>
            <a:r>
              <a:rPr lang="en-US" dirty="0"/>
              <a:t>Develop a real-time energy monitoring and prediction system for smart home applications. </a:t>
            </a:r>
          </a:p>
          <a:p>
            <a:pPr marL="285750" indent="-285750">
              <a:buFont typeface="Arial" panose="020B0604020202020204" pitchFamily="34" charset="0"/>
              <a:buChar char="•"/>
            </a:pPr>
            <a:r>
              <a:rPr lang="en-US" dirty="0"/>
              <a:t>Integrate renewable energy and weather forecasting data to support intelligent energy management and optimization.</a:t>
            </a:r>
          </a:p>
          <a:p>
            <a:endParaRPr lang="en-IN" dirty="0"/>
          </a:p>
        </p:txBody>
      </p:sp>
    </p:spTree>
    <p:extLst>
      <p:ext uri="{BB962C8B-B14F-4D97-AF65-F5344CB8AC3E}">
        <p14:creationId xmlns:p14="http://schemas.microsoft.com/office/powerpoint/2010/main" val="2022620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A924CB-1854-1A57-2827-2726B1CC4D5D}"/>
              </a:ext>
            </a:extLst>
          </p:cNvPr>
          <p:cNvSpPr/>
          <p:nvPr/>
        </p:nvSpPr>
        <p:spPr>
          <a:xfrm>
            <a:off x="1053852" y="1268760"/>
            <a:ext cx="3096344" cy="1368152"/>
          </a:xfrm>
          <a:prstGeom prst="rect">
            <a:avLst/>
          </a:prstGeom>
          <a:solidFill>
            <a:schemeClr val="bg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Random Forest achieved the best performance with R² = 0.736 and MSE = 0.0214 among all evaluated models.</a:t>
            </a:r>
            <a:endParaRPr lang="en-IN" dirty="0"/>
          </a:p>
        </p:txBody>
      </p:sp>
      <p:sp>
        <p:nvSpPr>
          <p:cNvPr id="7" name="Rectangle 6">
            <a:extLst>
              <a:ext uri="{FF2B5EF4-FFF2-40B4-BE49-F238E27FC236}">
                <a16:creationId xmlns:a16="http://schemas.microsoft.com/office/drawing/2014/main" id="{8D5272ED-628A-903A-536B-DA260584839B}"/>
              </a:ext>
            </a:extLst>
          </p:cNvPr>
          <p:cNvSpPr/>
          <p:nvPr/>
        </p:nvSpPr>
        <p:spPr>
          <a:xfrm>
            <a:off x="7462564" y="1196752"/>
            <a:ext cx="3528392" cy="1512168"/>
          </a:xfrm>
          <a:prstGeom prst="rect">
            <a:avLst/>
          </a:prstGeom>
          <a:solidFill>
            <a:schemeClr val="bg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Feature engineering, log transformation, and hyperparameter tuning significantly improved prediction accuracy.</a:t>
            </a:r>
            <a:endParaRPr lang="en-IN" dirty="0"/>
          </a:p>
        </p:txBody>
      </p:sp>
      <p:sp>
        <p:nvSpPr>
          <p:cNvPr id="8" name="Rectangle 7">
            <a:extLst>
              <a:ext uri="{FF2B5EF4-FFF2-40B4-BE49-F238E27FC236}">
                <a16:creationId xmlns:a16="http://schemas.microsoft.com/office/drawing/2014/main" id="{6B007708-4B55-36F8-5959-247C19962CCF}"/>
              </a:ext>
            </a:extLst>
          </p:cNvPr>
          <p:cNvSpPr/>
          <p:nvPr/>
        </p:nvSpPr>
        <p:spPr>
          <a:xfrm>
            <a:off x="1125860" y="3501008"/>
            <a:ext cx="2952328" cy="1440160"/>
          </a:xfrm>
          <a:prstGeom prst="rect">
            <a:avLst/>
          </a:prstGeom>
          <a:solidFill>
            <a:schemeClr val="bg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Temperature, humidity, weather, and time-related features collectively influenced appliance energy consumption.</a:t>
            </a:r>
            <a:endParaRPr lang="en-IN" dirty="0"/>
          </a:p>
        </p:txBody>
      </p:sp>
      <p:sp>
        <p:nvSpPr>
          <p:cNvPr id="9" name="Rectangle 8">
            <a:extLst>
              <a:ext uri="{FF2B5EF4-FFF2-40B4-BE49-F238E27FC236}">
                <a16:creationId xmlns:a16="http://schemas.microsoft.com/office/drawing/2014/main" id="{F31478B5-E72C-BCD5-0AD9-196375D29246}"/>
              </a:ext>
            </a:extLst>
          </p:cNvPr>
          <p:cNvSpPr/>
          <p:nvPr/>
        </p:nvSpPr>
        <p:spPr>
          <a:xfrm>
            <a:off x="7462564" y="3501007"/>
            <a:ext cx="3528392" cy="1565109"/>
          </a:xfrm>
          <a:prstGeom prst="rect">
            <a:avLst/>
          </a:prstGeom>
          <a:solidFill>
            <a:schemeClr val="bg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developed model can support smart energy management and efficient household energy planning.</a:t>
            </a:r>
            <a:endParaRPr lang="en-IN" dirty="0"/>
          </a:p>
        </p:txBody>
      </p:sp>
      <p:sp>
        <p:nvSpPr>
          <p:cNvPr id="10" name="TextBox 9">
            <a:extLst>
              <a:ext uri="{FF2B5EF4-FFF2-40B4-BE49-F238E27FC236}">
                <a16:creationId xmlns:a16="http://schemas.microsoft.com/office/drawing/2014/main" id="{362D866A-17AB-6942-4419-9EF0CCD1A69A}"/>
              </a:ext>
            </a:extLst>
          </p:cNvPr>
          <p:cNvSpPr txBox="1"/>
          <p:nvPr/>
        </p:nvSpPr>
        <p:spPr>
          <a:xfrm>
            <a:off x="4510236" y="188640"/>
            <a:ext cx="2965877" cy="646331"/>
          </a:xfrm>
          <a:prstGeom prst="rect">
            <a:avLst/>
          </a:prstGeom>
          <a:noFill/>
        </p:spPr>
        <p:txBody>
          <a:bodyPr wrap="none" rtlCol="0">
            <a:spAutoFit/>
          </a:bodyPr>
          <a:lstStyle/>
          <a:p>
            <a:r>
              <a:rPr lang="en-US" sz="3600" dirty="0"/>
              <a:t>CONCLUSION</a:t>
            </a:r>
            <a:endParaRPr lang="en-IN" sz="3600" dirty="0"/>
          </a:p>
        </p:txBody>
      </p:sp>
    </p:spTree>
    <p:extLst>
      <p:ext uri="{BB962C8B-B14F-4D97-AF65-F5344CB8AC3E}">
        <p14:creationId xmlns:p14="http://schemas.microsoft.com/office/powerpoint/2010/main" val="4183728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0CD46-E203-D613-C2D7-31BF21F51D90}"/>
              </a:ext>
            </a:extLst>
          </p:cNvPr>
          <p:cNvSpPr>
            <a:spLocks noGrp="1"/>
          </p:cNvSpPr>
          <p:nvPr>
            <p:ph type="title"/>
          </p:nvPr>
        </p:nvSpPr>
        <p:spPr>
          <a:xfrm>
            <a:off x="1053852" y="1700808"/>
            <a:ext cx="9144001" cy="1371600"/>
          </a:xfrm>
        </p:spPr>
        <p:txBody>
          <a:bodyPr/>
          <a:lstStyle/>
          <a:p>
            <a:pPr algn="ctr"/>
            <a:r>
              <a:rPr lang="en-US" dirty="0"/>
              <a:t>THANK YOU </a:t>
            </a:r>
            <a:endParaRPr lang="en-IN" dirty="0"/>
          </a:p>
        </p:txBody>
      </p:sp>
    </p:spTree>
    <p:extLst>
      <p:ext uri="{BB962C8B-B14F-4D97-AF65-F5344CB8AC3E}">
        <p14:creationId xmlns:p14="http://schemas.microsoft.com/office/powerpoint/2010/main" val="185267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95261.potx" id="{4CBF9558-C12D-4F51-9AA3-9D0796951DBC}" vid="{FFC159E6-A134-46E7-B1A0-C306E39FC295}"/>
    </a:ext>
  </a:extLst>
</a:theme>
</file>

<file path=ppt/theme/theme2.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digital blue tunnel presentation (widescreen)</Template>
  <TotalTime>170</TotalTime>
  <Words>1826</Words>
  <Application>Microsoft Office PowerPoint</Application>
  <PresentationFormat>Custom</PresentationFormat>
  <Paragraphs>206</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Agency FB</vt:lpstr>
      <vt:lpstr>Arial</vt:lpstr>
      <vt:lpstr>Calibri</vt:lpstr>
      <vt:lpstr>Corbel</vt:lpstr>
      <vt:lpstr>Digital Blue Tunnel 16x9</vt:lpstr>
      <vt:lpstr>Predicting Appliance Energy Consumption in Households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ACTUAL VS PREDICTED</vt:lpstr>
      <vt:lpstr>SHAP ANALYSIS</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Ritesh Kumar</dc:creator>
  <cp:lastModifiedBy>Ritesh Kumar</cp:lastModifiedBy>
  <cp:revision>1</cp:revision>
  <dcterms:created xsi:type="dcterms:W3CDTF">2026-06-12T08:30:34Z</dcterms:created>
  <dcterms:modified xsi:type="dcterms:W3CDTF">2026-06-12T11:21:21Z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