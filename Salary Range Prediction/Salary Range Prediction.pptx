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Default Extension="svg" ContentType="image/svg+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4"/>
  </p:notesMasterIdLst>
  <p:handoutMasterIdLst>
    <p:handoutMasterId r:id="rId25"/>
  </p:handoutMasterIdLst>
  <p:sldIdLst>
    <p:sldId id="256" r:id="rId5"/>
    <p:sldId id="277"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9" r:id="rId20"/>
    <p:sldId id="311" r:id="rId21"/>
    <p:sldId id="310"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9E6D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3464" autoAdjust="0"/>
  </p:normalViewPr>
  <p:slideViewPr>
    <p:cSldViewPr snapToGrid="0">
      <p:cViewPr varScale="1">
        <p:scale>
          <a:sx n="81" d="100"/>
          <a:sy n="81" d="100"/>
        </p:scale>
        <p:origin x="-754" y="-8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pPr/>
              <a:t>4/22/2026</a:t>
            </a:fld>
            <a:endParaRPr lang="en-US" dirty="0"/>
          </a:p>
        </p:txBody>
      </p:sp>
      <p:sp>
        <p:nvSpPr>
          <p:cNvPr id="4" name="Footer Placeholder 3">
            <a:extLst>
              <a:ext uri="{FF2B5EF4-FFF2-40B4-BE49-F238E27FC236}">
                <a16:creationId xmlns:a16="http://schemas.microsoft.com/office/drawing/2014/main" xmlns=""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pPr/>
              <a:t>‹#›</a:t>
            </a:fld>
            <a:endParaRPr lang="en-US" dirty="0"/>
          </a:p>
        </p:txBody>
      </p:sp>
    </p:spTree>
    <p:extLst>
      <p:ext uri="{BB962C8B-B14F-4D97-AF65-F5344CB8AC3E}">
        <p14:creationId xmlns:p14="http://schemas.microsoft.com/office/powerpoint/2010/main" xmlns=""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pPr/>
              <a:t>4/22/2026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pPr/>
              <a:t>‹#›</a:t>
            </a:fld>
            <a:endParaRPr lang="en-US" dirty="0"/>
          </a:p>
        </p:txBody>
      </p:sp>
    </p:spTree>
    <p:extLst>
      <p:ext uri="{BB962C8B-B14F-4D97-AF65-F5344CB8AC3E}">
        <p14:creationId xmlns:p14="http://schemas.microsoft.com/office/powerpoint/2010/main" xmlns=""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B9A9E5-4F7F-4A7D-9DE1-899232329269}" type="slidenum">
              <a:rPr lang="en-US" smtClean="0"/>
              <a:pPr/>
              <a:t>2</a:t>
            </a:fld>
            <a:endParaRPr lang="en-US" dirty="0"/>
          </a:p>
        </p:txBody>
      </p:sp>
    </p:spTree>
    <p:extLst>
      <p:ext uri="{BB962C8B-B14F-4D97-AF65-F5344CB8AC3E}">
        <p14:creationId xmlns:p14="http://schemas.microsoft.com/office/powerpoint/2010/main" xmlns="" val="4198378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B9A9E5-4F7F-4A7D-9DE1-899232329269}" type="slidenum">
              <a:rPr lang="en-US" smtClean="0"/>
              <a:pPr/>
              <a:t>6</a:t>
            </a:fld>
            <a:endParaRPr lang="en-US" dirty="0"/>
          </a:p>
        </p:txBody>
      </p:sp>
    </p:spTree>
    <p:extLst>
      <p:ext uri="{BB962C8B-B14F-4D97-AF65-F5344CB8AC3E}">
        <p14:creationId xmlns:p14="http://schemas.microsoft.com/office/powerpoint/2010/main" xmlns="" val="3538155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B9A9E5-4F7F-4A7D-9DE1-899232329269}" type="slidenum">
              <a:rPr lang="en-US" smtClean="0"/>
              <a:pPr/>
              <a:t>9</a:t>
            </a:fld>
            <a:endParaRPr lang="en-US" dirty="0"/>
          </a:p>
        </p:txBody>
      </p:sp>
    </p:spTree>
    <p:extLst>
      <p:ext uri="{BB962C8B-B14F-4D97-AF65-F5344CB8AC3E}">
        <p14:creationId xmlns:p14="http://schemas.microsoft.com/office/powerpoint/2010/main" xmlns="" val="34489149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xmlns=""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xmlns="" id="{A04F1E16-9A84-4D0E-9706-79C396AF6AE6}"/>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xmlns=""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xmlns="" id="{D514C6BF-376E-43E8-881D-2E767426990A}"/>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xmlns=""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xmlns=""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xmlns=""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xmlns=""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xmlns="" id="{9D2AF524-D4B4-4A3A-9CE4-EDAFE1D5A37B}"/>
              </a:ext>
              <a:ext uri="{C183D7F6-B498-43B3-948B-1728B52AA6E4}">
                <adec:decorative xmlns:adec="http://schemas.microsoft.com/office/drawing/2017/decorative" xmlns=""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xmlns=""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xmlns=""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xmlns=""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xmlns=""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xmlns=""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xmlns=""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xmlns=""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xmlns=""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xmlns="" id="{D3795F91-C721-4363-956D-756673AE7957}"/>
              </a:ext>
              <a:ext uri="{C183D7F6-B498-43B3-948B-1728B52AA6E4}">
                <adec:decorative xmlns:adec="http://schemas.microsoft.com/office/drawing/2017/decorative" xmlns=""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xmlns="" id="{8AC14461-E27D-413D-B31A-47B74646AF25}"/>
              </a:ext>
              <a:ext uri="{C183D7F6-B498-43B3-948B-1728B52AA6E4}">
                <adec:decorative xmlns:adec="http://schemas.microsoft.com/office/drawing/2017/decorative" xmlns=""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xmlns="" id="{4D6AEA4C-7710-4829-BA87-8DD77F15932C}"/>
              </a:ext>
              <a:ext uri="{C183D7F6-B498-43B3-948B-1728B52AA6E4}">
                <adec:decorative xmlns:adec="http://schemas.microsoft.com/office/drawing/2017/decorative" xmlns=""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xmlns="" id="{E9BD473E-6203-491C-87AC-54AC0AB23333}"/>
              </a:ext>
              <a:ext uri="{C183D7F6-B498-43B3-948B-1728B52AA6E4}">
                <adec:decorative xmlns:adec="http://schemas.microsoft.com/office/drawing/2017/decorative" xmlns=""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xmlns=""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xmlns=""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xmlns=""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xmlns=""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xmlns=""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xmlns=""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xmlns=""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xmlns=""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xmlns=""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xmlns=""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xmlns=""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xmlns=""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xmlns=""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xmlns=""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xmlns="" id="{158BDCB2-D8C3-4571-8154-76BEA9AE41A8}"/>
              </a:ext>
            </a:extLst>
          </p:cNvPr>
          <p:cNvSpPr>
            <a:spLocks noGrp="1"/>
          </p:cNvSpPr>
          <p:nvPr>
            <p:ph type="sldNum" sz="quarter" idx="22"/>
          </p:nvPr>
        </p:nvSpPr>
        <p:spPr/>
        <p:txBody>
          <a:bodyPr/>
          <a:lstStyle/>
          <a:p>
            <a:fld id="{B5CEABB6-07DC-46E8-9B57-56EC44A396E5}" type="slidenum">
              <a:rPr lang="en-US" smtClean="0"/>
              <a:pPr/>
              <a:t>‹#›</a:t>
            </a:fld>
            <a:endParaRPr lang="en-US" dirty="0"/>
          </a:p>
        </p:txBody>
      </p:sp>
      <p:cxnSp>
        <p:nvCxnSpPr>
          <p:cNvPr id="2" name="Straight Connector 1">
            <a:extLst>
              <a:ext uri="{FF2B5EF4-FFF2-40B4-BE49-F238E27FC236}">
                <a16:creationId xmlns:a16="http://schemas.microsoft.com/office/drawing/2014/main" xmlns="" id="{9298DCF7-7DC1-4618-8133-F63847B0AFE2}"/>
              </a:ext>
              <a:ext uri="{C183D7F6-B498-43B3-948B-1728B52AA6E4}">
                <adec:decorative xmlns:adec="http://schemas.microsoft.com/office/drawing/2017/decorative" xmlns=""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653A6567-233D-4A3B-B52B-DE7E5E35A175}"/>
              </a:ext>
              <a:ext uri="{C183D7F6-B498-43B3-948B-1728B52AA6E4}">
                <adec:decorative xmlns:adec="http://schemas.microsoft.com/office/drawing/2017/decorative" xmlns=""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xmlns="" id="{64D564EB-CA78-42C6-AD76-3C4E7B3AEA8D}"/>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xmlns="" id="{1CFFBB3A-BDCF-4878-8D04-E8BB9A050E71}"/>
              </a:ext>
              <a:ext uri="{C183D7F6-B498-43B3-948B-1728B52AA6E4}">
                <adec:decorative xmlns:adec="http://schemas.microsoft.com/office/drawing/2017/decorative" xmlns="" val="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xmlns=""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xmlns=""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xmlns=""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xmlns=""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xmlns=""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xmlns=""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xmlns=""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xmlns=""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xmlns=""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xmlns=""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xmlns=""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xmlns=""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xmlns=""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xmlns="" id="{6D8D9106-8780-461D-9091-E074B0A3C956}"/>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xmlns=""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xmlns=""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xmlns=""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xmlns=""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xmlns=""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xmlns="" id="{F05D2CCB-CCFC-4A8A-ADA9-C1E4D13B968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xmlns=""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AEE644D4-F9A4-4237-BD5C-4B97ABA9337E}"/>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xmlns=""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xmlns=""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xmlns=""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xmlns=""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xmlns=""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xmlns=""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xmlns=""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xmlns=""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xmlns=""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xmlns=""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xmlns=""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xmlns=""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6" name="Straight Connector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xmlns=""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xmlns=""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xmlns="" id="{B38B0D13-BD5F-460B-B337-F4A9342026D0}"/>
              </a:ext>
              <a:ext uri="{C183D7F6-B498-43B3-948B-1728B52AA6E4}">
                <adec:decorative xmlns:adec="http://schemas.microsoft.com/office/drawing/2017/decorative" xmlns="" val="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xmlns="" id="{BE72876B-D3DA-4462-9E24-3354D8D02A27}"/>
              </a:ext>
              <a:ext uri="{C183D7F6-B498-43B3-948B-1728B52AA6E4}">
                <adec:decorative xmlns:adec="http://schemas.microsoft.com/office/drawing/2017/decorative" xmlns="" val="1"/>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xmlns="" id="{14A539B6-6E3F-41BA-ACE2-76E8BB651636}"/>
              </a:ext>
              <a:ext uri="{C183D7F6-B498-43B3-948B-1728B52AA6E4}">
                <adec:decorative xmlns:adec="http://schemas.microsoft.com/office/drawing/2017/decorative" xmlns="" val="1"/>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xmlns=""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xmlns=""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xmlns=""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pic>
        <p:nvPicPr>
          <p:cNvPr id="11" name="Graphic 10">
            <a:extLst>
              <a:ext uri="{FF2B5EF4-FFF2-40B4-BE49-F238E27FC236}">
                <a16:creationId xmlns:a16="http://schemas.microsoft.com/office/drawing/2014/main" xmlns="" id="{EE24E1DB-1F20-4C28-8069-D9219D1F8BBD}"/>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xmlns=""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xmlns="" id="{AE202E03-5C65-4305-B969-65220AD41002}"/>
              </a:ext>
              <a:ext uri="{C183D7F6-B498-43B3-948B-1728B52AA6E4}">
                <adec:decorative xmlns:adec="http://schemas.microsoft.com/office/drawing/2017/decorative" xmlns="" val="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xmlns=""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xmlns=""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xmlns=""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xmlns=""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xmlns=""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xmlns=""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xmlns=""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xmlns=""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xmlns=""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xmlns=""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2376933483"/>
      </p:ext>
    </p:extLst>
  </p:cSld>
  <p:clrMapOvr>
    <a:masterClrMapping/>
  </p:clrMapOvr>
  <p:extLst>
    <p:ext uri="{DCECCB84-F9BA-43D5-87BE-67443E8EF086}">
      <p15:sldGuideLst xmlns:p15="http://schemas.microsoft.com/office/powerpoint/2012/main" xmlns="">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xmlns=""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xmlns=""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xmlns=""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xmlns=""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xmlns=""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xmlns=""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xmlns=""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xmlns=""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xmlns=""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xmlns=""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xmlns=""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xmlns=""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xmlns=""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xmlns=""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xmlns=""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xmlns=""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xmlns=""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xmlns=""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xmlns=""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xmlns=""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xmlns=""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xmlns=""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xmlns=""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xmlns=""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xmlns=""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xmlns=""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xmlns=""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xmlns=""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xmlns=""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xmlns=""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xmlns=""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pPr/>
              <a:t>‹#›</a:t>
            </a:fld>
            <a:endParaRPr lang="en-US" noProof="0" dirty="0"/>
          </a:p>
        </p:txBody>
      </p:sp>
    </p:spTree>
    <p:extLst>
      <p:ext uri="{BB962C8B-B14F-4D97-AF65-F5344CB8AC3E}">
        <p14:creationId xmlns:p14="http://schemas.microsoft.com/office/powerpoint/2010/main" xmlns=""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xmlns=""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xmlns=""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xmlns=""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xmlns=""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
        <p:nvSpPr>
          <p:cNvPr id="8" name="Content Placeholder 7">
            <a:extLst>
              <a:ext uri="{FF2B5EF4-FFF2-40B4-BE49-F238E27FC236}">
                <a16:creationId xmlns:a16="http://schemas.microsoft.com/office/drawing/2014/main" xmlns=""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xmlns=""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xmlns=""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xmlns=""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xmlns=""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xmlns=""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xmlns=""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xmlns=""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xmlns=""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xmlns=""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xmlns=""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xmlns=""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xmlns=""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cxnSp>
        <p:nvCxnSpPr>
          <p:cNvPr id="10" name="Straight Connector 9">
            <a:extLst>
              <a:ext uri="{FF2B5EF4-FFF2-40B4-BE49-F238E27FC236}">
                <a16:creationId xmlns:a16="http://schemas.microsoft.com/office/drawing/2014/main" xmlns="" id="{4E4B72DA-52CB-4D39-A342-8857B4D959B2}"/>
              </a:ext>
              <a:ext uri="{C183D7F6-B498-43B3-948B-1728B52AA6E4}">
                <adec:decorative xmlns:adec="http://schemas.microsoft.com/office/drawing/2017/decorative" xmlns=""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21D9BCDA-DFB7-41A4-A7C7-CEE86CEDCBE5}"/>
              </a:ext>
              <a:ext uri="{C183D7F6-B498-43B3-948B-1728B52AA6E4}">
                <adec:decorative xmlns:adec="http://schemas.microsoft.com/office/drawing/2017/decorative" xmlns=""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xmlns="">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xmlns=""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xmlns=""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xmlns=""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xmlns=""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xmlns=""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xmlns=""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xmlns=""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xmlns=""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xmlns=""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xmlns=""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xmlns=""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xmlns=""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xmlns=""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xmlns=""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xmlns=""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xmlns=""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xmlns=""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xmlns=""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xmlns=""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xmlns=""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xmlns=""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xmlns=""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xmlns=""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pPr/>
              <a:t>‹#›</a:t>
            </a:fld>
            <a:endParaRPr lang="en-US" dirty="0"/>
          </a:p>
        </p:txBody>
      </p:sp>
      <p:pic>
        <p:nvPicPr>
          <p:cNvPr id="13" name="Graphic 12">
            <a:extLst>
              <a:ext uri="{FF2B5EF4-FFF2-40B4-BE49-F238E27FC236}">
                <a16:creationId xmlns:a16="http://schemas.microsoft.com/office/drawing/2014/main" xmlns="" id="{B0DFD584-E5CF-41EF-B51E-679CE22DDF93}"/>
              </a:ext>
              <a:ext uri="{C183D7F6-B498-43B3-948B-1728B52AA6E4}">
                <adec:decorative xmlns:adec="http://schemas.microsoft.com/office/drawing/2017/decorative" xmlns="" val="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xmlns="" id="{E5C02DDF-25A6-42C7-9525-F279CE2095C0}"/>
              </a:ext>
              <a:ext uri="{C183D7F6-B498-43B3-948B-1728B52AA6E4}">
                <adec:decorative xmlns:adec="http://schemas.microsoft.com/office/drawing/2017/decorative" xmlns="" val="1"/>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xmlns=""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xmlns=""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xmlns=""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xmlns=""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xmlns=""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xmlns=""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xmlns=""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xmlns=""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xmlns=""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xmlns=""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xmlns=""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xmlns=""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xmlns=""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xmlns=""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xmlns=""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xmlns=""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xmlns=""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xmlns=""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xmlns=""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xmlns=""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xmlns=""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xmlns=""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xmlns=""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xmlns=""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xmlns=""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616316768"/>
      </p:ext>
    </p:extLst>
  </p:cSld>
  <p:clrMapOvr>
    <a:masterClrMapping/>
  </p:clrMapOvr>
  <p:extLst>
    <p:ext uri="{DCECCB84-F9BA-43D5-87BE-67443E8EF086}">
      <p15:sldGuideLst xmlns:p15="http://schemas.microsoft.com/office/powerpoint/2012/main" xmlns="">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xmlns=""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xmlns="" id="{ED3361C9-310A-4255-A94E-B77588962DA5}"/>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xmlns=""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xmlns=""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xmlns=""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xmlns=""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xmlns=""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xmlns=""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6815C6-3AD0-46E6-A74A-1967BD91AF50}"/>
              </a:ext>
            </a:extLst>
          </p:cNvPr>
          <p:cNvSpPr>
            <a:spLocks noGrp="1"/>
          </p:cNvSpPr>
          <p:nvPr>
            <p:ph type="ctrTitle"/>
          </p:nvPr>
        </p:nvSpPr>
        <p:spPr>
          <a:xfrm>
            <a:off x="1231736" y="448914"/>
            <a:ext cx="9728528" cy="3218518"/>
          </a:xfrm>
        </p:spPr>
        <p:txBody>
          <a:bodyPr/>
          <a:lstStyle/>
          <a:p>
            <a:pPr algn="ctr"/>
            <a:r>
              <a:rPr lang="en-US" sz="4000" dirty="0"/>
              <a:t>Salary Range Prediction for Job listings</a:t>
            </a:r>
            <a:br>
              <a:rPr lang="en-US" sz="4000" dirty="0"/>
            </a:br>
            <a:r>
              <a:rPr lang="en-US" sz="4000" dirty="0"/>
              <a:t/>
            </a:r>
            <a:br>
              <a:rPr lang="en-US" sz="4000" dirty="0"/>
            </a:br>
            <a:endParaRPr lang="en-US" sz="4000" dirty="0"/>
          </a:p>
        </p:txBody>
      </p:sp>
      <p:sp>
        <p:nvSpPr>
          <p:cNvPr id="3" name="Subtitle 2">
            <a:extLst>
              <a:ext uri="{FF2B5EF4-FFF2-40B4-BE49-F238E27FC236}">
                <a16:creationId xmlns:a16="http://schemas.microsoft.com/office/drawing/2014/main" xmlns="" id="{1901B20D-4C28-4DA3-ABBD-718C22A5E58B}"/>
              </a:ext>
            </a:extLst>
          </p:cNvPr>
          <p:cNvSpPr>
            <a:spLocks noGrp="1"/>
          </p:cNvSpPr>
          <p:nvPr>
            <p:ph type="subTitle" idx="1"/>
          </p:nvPr>
        </p:nvSpPr>
        <p:spPr>
          <a:xfrm>
            <a:off x="1671484" y="2973346"/>
            <a:ext cx="8898193" cy="1529828"/>
          </a:xfrm>
        </p:spPr>
        <p:txBody>
          <a:bodyPr>
            <a:normAutofit/>
          </a:bodyPr>
          <a:lstStyle/>
          <a:p>
            <a:pPr algn="ctr"/>
            <a:r>
              <a:rPr lang="en-US" sz="2400" dirty="0"/>
              <a:t>Using Machine Learning Models</a:t>
            </a:r>
            <a:br>
              <a:rPr lang="en-US" sz="2400" dirty="0"/>
            </a:br>
            <a:r>
              <a:rPr lang="en-US" sz="2400" dirty="0"/>
              <a:t/>
            </a:r>
            <a:br>
              <a:rPr lang="en-US" sz="2400" dirty="0"/>
            </a:br>
            <a:r>
              <a:rPr lang="en-US" sz="2400" dirty="0"/>
              <a:t>By Ritesh Kumar  </a:t>
            </a:r>
          </a:p>
        </p:txBody>
      </p:sp>
    </p:spTree>
    <p:extLst>
      <p:ext uri="{BB962C8B-B14F-4D97-AF65-F5344CB8AC3E}">
        <p14:creationId xmlns:p14="http://schemas.microsoft.com/office/powerpoint/2010/main" xmlns=""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19F29B-F233-48AF-8261-F33A4E079E3E}"/>
              </a:ext>
              <a:ext uri="{C183D7F6-B498-43B3-948B-1728B52AA6E4}">
                <adec:decorative xmlns:adec="http://schemas.microsoft.com/office/drawing/2017/decorative" xmlns="" val="0"/>
              </a:ext>
            </a:extLst>
          </p:cNvPr>
          <p:cNvSpPr>
            <a:spLocks noGrp="1"/>
          </p:cNvSpPr>
          <p:nvPr>
            <p:ph type="title"/>
          </p:nvPr>
        </p:nvSpPr>
        <p:spPr>
          <a:xfrm>
            <a:off x="4597808" y="136525"/>
            <a:ext cx="3171825" cy="468047"/>
          </a:xfrm>
        </p:spPr>
        <p:txBody>
          <a:bodyPr>
            <a:normAutofit fontScale="90000"/>
          </a:bodyPr>
          <a:lstStyle/>
          <a:p>
            <a:r>
              <a:rPr lang="en-IN" dirty="0"/>
              <a:t>Introduction</a:t>
            </a:r>
            <a:endParaRPr lang="en-US" dirty="0"/>
          </a:p>
        </p:txBody>
      </p:sp>
      <p:sp>
        <p:nvSpPr>
          <p:cNvPr id="6" name="Date Placeholder 5">
            <a:extLst>
              <a:ext uri="{FF2B5EF4-FFF2-40B4-BE49-F238E27FC236}">
                <a16:creationId xmlns:a16="http://schemas.microsoft.com/office/drawing/2014/main" xmlns="" id="{B69DF042-37C5-4E09-AA4C-AA66649C9533}"/>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xmlns="" id="{AF29EA23-F34E-486A-B8B2-0C3019266975}"/>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xmlns=""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
        <p:nvSpPr>
          <p:cNvPr id="7" name="TextBox 6">
            <a:extLst>
              <a:ext uri="{FF2B5EF4-FFF2-40B4-BE49-F238E27FC236}">
                <a16:creationId xmlns:a16="http://schemas.microsoft.com/office/drawing/2014/main" xmlns="" id="{19E5C242-E62A-BDD0-0611-84E5C9CDB3E5}"/>
              </a:ext>
            </a:extLst>
          </p:cNvPr>
          <p:cNvSpPr txBox="1"/>
          <p:nvPr/>
        </p:nvSpPr>
        <p:spPr>
          <a:xfrm>
            <a:off x="560439" y="678426"/>
            <a:ext cx="10734773" cy="2031325"/>
          </a:xfrm>
          <a:prstGeom prst="rect">
            <a:avLst/>
          </a:prstGeom>
          <a:noFill/>
        </p:spPr>
        <p:txBody>
          <a:bodyPr wrap="square" rtlCol="0">
            <a:spAutoFit/>
          </a:bodyPr>
          <a:lstStyle/>
          <a:p>
            <a:r>
              <a:rPr lang="en-US" dirty="0"/>
              <a:t>In today’s competitive job market, determining appropriate salary ranges is a crucial aspect of the recruitment process. Organizations often face challenges in setting fair and competitive salaries due to variations in job roles, experience levels, and market trends. Inaccurate salary estimation can lead to poor hiring decisions and reduced candidate satisfaction.</a:t>
            </a:r>
          </a:p>
          <a:p>
            <a:endParaRPr lang="en-US" dirty="0"/>
          </a:p>
          <a:p>
            <a:r>
              <a:rPr lang="en-US" dirty="0"/>
              <a:t>Therefore, there is a need for a reliable and data-driven approach to estimate salary ranges more effectively.</a:t>
            </a:r>
            <a:endParaRPr lang="en-IN" dirty="0"/>
          </a:p>
        </p:txBody>
      </p:sp>
      <p:sp>
        <p:nvSpPr>
          <p:cNvPr id="8" name="TextBox 7">
            <a:extLst>
              <a:ext uri="{FF2B5EF4-FFF2-40B4-BE49-F238E27FC236}">
                <a16:creationId xmlns:a16="http://schemas.microsoft.com/office/drawing/2014/main" xmlns="" id="{367D3968-C1D5-A261-56E2-95713AC6BB61}"/>
              </a:ext>
            </a:extLst>
          </p:cNvPr>
          <p:cNvSpPr txBox="1"/>
          <p:nvPr/>
        </p:nvSpPr>
        <p:spPr>
          <a:xfrm>
            <a:off x="5072863" y="2783605"/>
            <a:ext cx="1914435" cy="523220"/>
          </a:xfrm>
          <a:prstGeom prst="rect">
            <a:avLst/>
          </a:prstGeom>
          <a:noFill/>
        </p:spPr>
        <p:txBody>
          <a:bodyPr wrap="none" rtlCol="0">
            <a:spAutoFit/>
          </a:bodyPr>
          <a:lstStyle/>
          <a:p>
            <a:pPr algn="ctr"/>
            <a:r>
              <a:rPr lang="en-US" sz="2800" dirty="0"/>
              <a:t>OVERVIEW</a:t>
            </a:r>
            <a:r>
              <a:rPr lang="en-US" dirty="0"/>
              <a:t> </a:t>
            </a:r>
            <a:endParaRPr lang="en-IN" dirty="0"/>
          </a:p>
        </p:txBody>
      </p:sp>
      <p:sp>
        <p:nvSpPr>
          <p:cNvPr id="9" name="TextBox 8">
            <a:extLst>
              <a:ext uri="{FF2B5EF4-FFF2-40B4-BE49-F238E27FC236}">
                <a16:creationId xmlns:a16="http://schemas.microsoft.com/office/drawing/2014/main" xmlns="" id="{49AB71F0-8F55-9613-68F6-928F5530B749}"/>
              </a:ext>
            </a:extLst>
          </p:cNvPr>
          <p:cNvSpPr txBox="1"/>
          <p:nvPr/>
        </p:nvSpPr>
        <p:spPr>
          <a:xfrm>
            <a:off x="670687" y="3429000"/>
            <a:ext cx="11334500" cy="2308324"/>
          </a:xfrm>
          <a:prstGeom prst="rect">
            <a:avLst/>
          </a:prstGeom>
          <a:noFill/>
        </p:spPr>
        <p:txBody>
          <a:bodyPr wrap="square" rtlCol="0">
            <a:spAutoFit/>
          </a:bodyPr>
          <a:lstStyle/>
          <a:p>
            <a:r>
              <a:rPr lang="en-US" dirty="0"/>
              <a:t>This project focuses on predicting salary ranges for job listings using machine learning techniques.</a:t>
            </a:r>
          </a:p>
          <a:p>
            <a:endParaRPr lang="en-US" dirty="0"/>
          </a:p>
          <a:p>
            <a:r>
              <a:rPr lang="en-US" dirty="0"/>
              <a:t>The goal is to build a model that can estimate minimum and maximum salaries based on job-related features.</a:t>
            </a:r>
          </a:p>
          <a:p>
            <a:endParaRPr lang="en-US" dirty="0"/>
          </a:p>
          <a:p>
            <a:r>
              <a:rPr lang="en-US" dirty="0"/>
              <a:t>Key Benefits:</a:t>
            </a:r>
          </a:p>
          <a:p>
            <a:r>
              <a:rPr lang="en-US" dirty="0"/>
              <a:t>• Improves hiring decisions  </a:t>
            </a:r>
          </a:p>
          <a:p>
            <a:r>
              <a:rPr lang="en-US" dirty="0"/>
              <a:t>• Enhances salary transparency  </a:t>
            </a:r>
          </a:p>
          <a:p>
            <a:r>
              <a:rPr lang="en-US" dirty="0"/>
              <a:t>• Supports data-driven insights </a:t>
            </a:r>
            <a:endParaRPr lang="en-IN" dirty="0"/>
          </a:p>
        </p:txBody>
      </p:sp>
    </p:spTree>
    <p:extLst>
      <p:ext uri="{BB962C8B-B14F-4D97-AF65-F5344CB8AC3E}">
        <p14:creationId xmlns:p14="http://schemas.microsoft.com/office/powerpoint/2010/main" xmlns=""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4A92C2-261E-708A-B5D6-B8FC4EFF3E3C}"/>
              </a:ext>
            </a:extLst>
          </p:cNvPr>
          <p:cNvSpPr>
            <a:spLocks noGrp="1"/>
          </p:cNvSpPr>
          <p:nvPr>
            <p:ph type="title"/>
          </p:nvPr>
        </p:nvSpPr>
        <p:spPr>
          <a:xfrm>
            <a:off x="3992959" y="136525"/>
            <a:ext cx="4074243" cy="497543"/>
          </a:xfrm>
        </p:spPr>
        <p:txBody>
          <a:bodyPr/>
          <a:lstStyle/>
          <a:p>
            <a:r>
              <a:rPr lang="en-IN" dirty="0"/>
              <a:t>Dataset Overview</a:t>
            </a:r>
          </a:p>
        </p:txBody>
      </p:sp>
      <p:sp>
        <p:nvSpPr>
          <p:cNvPr id="4" name="Date Placeholder 3">
            <a:extLst>
              <a:ext uri="{FF2B5EF4-FFF2-40B4-BE49-F238E27FC236}">
                <a16:creationId xmlns:a16="http://schemas.microsoft.com/office/drawing/2014/main" xmlns="" id="{6B24987D-B9E0-B72D-948C-44177E54B69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85092CC7-064F-52D8-589B-810237E1F365}"/>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BE24CC2C-AA28-EF63-108C-08CE60C357B7}"/>
              </a:ext>
            </a:extLst>
          </p:cNvPr>
          <p:cNvSpPr>
            <a:spLocks noGrp="1"/>
          </p:cNvSpPr>
          <p:nvPr>
            <p:ph type="sldNum" sz="quarter" idx="12"/>
          </p:nvPr>
        </p:nvSpPr>
        <p:spPr/>
        <p:txBody>
          <a:bodyPr/>
          <a:lstStyle/>
          <a:p>
            <a:fld id="{B5CEABB6-07DC-46E8-9B57-56EC44A396E5}" type="slidenum">
              <a:rPr lang="en-US" smtClean="0"/>
              <a:pPr/>
              <a:t>3</a:t>
            </a:fld>
            <a:endParaRPr lang="en-US" dirty="0"/>
          </a:p>
        </p:txBody>
      </p:sp>
      <p:sp>
        <p:nvSpPr>
          <p:cNvPr id="9" name="TextBox 8">
            <a:extLst>
              <a:ext uri="{FF2B5EF4-FFF2-40B4-BE49-F238E27FC236}">
                <a16:creationId xmlns:a16="http://schemas.microsoft.com/office/drawing/2014/main" xmlns="" id="{81CF23C6-8843-60D8-DA49-CD3999A4BC08}"/>
              </a:ext>
            </a:extLst>
          </p:cNvPr>
          <p:cNvSpPr txBox="1"/>
          <p:nvPr/>
        </p:nvSpPr>
        <p:spPr>
          <a:xfrm>
            <a:off x="540775" y="724038"/>
            <a:ext cx="10836012" cy="5632311"/>
          </a:xfrm>
          <a:prstGeom prst="rect">
            <a:avLst/>
          </a:prstGeom>
          <a:noFill/>
        </p:spPr>
        <p:txBody>
          <a:bodyPr wrap="square" rtlCol="0">
            <a:spAutoFit/>
          </a:bodyPr>
          <a:lstStyle/>
          <a:p>
            <a:r>
              <a:rPr lang="en-US" dirty="0"/>
              <a:t>Dataset: NYC Job Postings Dataset</a:t>
            </a:r>
            <a:br>
              <a:rPr lang="en-US" dirty="0"/>
            </a:br>
            <a:r>
              <a:rPr lang="en-US" dirty="0"/>
              <a:t/>
            </a:r>
            <a:br>
              <a:rPr lang="en-US" dirty="0"/>
            </a:br>
            <a:r>
              <a:rPr lang="en-US" dirty="0"/>
              <a:t>The dataset consists of 5,120 job listings and includes 30 features capturing detailed information about job roles, organizational structure, and salary details.</a:t>
            </a:r>
            <a:br>
              <a:rPr lang="en-US" dirty="0"/>
            </a:br>
            <a:r>
              <a:rPr lang="en-US" dirty="0"/>
              <a:t/>
            </a:r>
            <a:br>
              <a:rPr lang="en-US" dirty="0"/>
            </a:br>
            <a:r>
              <a:rPr lang="en-US" dirty="0"/>
              <a:t>It contains both structured and textual data related to job postings, such as job titles, agencies, categories, locations, and required skills.</a:t>
            </a:r>
            <a:br>
              <a:rPr lang="en-US" dirty="0"/>
            </a:br>
            <a:r>
              <a:rPr lang="en-US" dirty="0"/>
              <a:t/>
            </a:r>
            <a:br>
              <a:rPr lang="en-US" dirty="0"/>
            </a:br>
            <a:r>
              <a:rPr lang="en-US" dirty="0"/>
              <a:t>Key Features:</a:t>
            </a:r>
            <a:br>
              <a:rPr lang="en-US" dirty="0"/>
            </a:br>
            <a:r>
              <a:rPr lang="en-US" dirty="0"/>
              <a:t>• Job-related attributes: Job Title, Agency, Posting Type, Job Category </a:t>
            </a:r>
            <a:br>
              <a:rPr lang="en-US" dirty="0"/>
            </a:br>
            <a:r>
              <a:rPr lang="en-US" dirty="0"/>
              <a:t>• Organizational details: Division/Unit, Work Location, Career Level </a:t>
            </a:r>
            <a:br>
              <a:rPr lang="en-US" dirty="0"/>
            </a:br>
            <a:r>
              <a:rPr lang="en-US" dirty="0"/>
              <a:t>• Text-based information: Job Description, Preferred Skills, Qualification Requirements </a:t>
            </a:r>
            <a:br>
              <a:rPr lang="en-US" dirty="0"/>
            </a:br>
            <a:r>
              <a:rPr lang="en-US" dirty="0"/>
              <a:t>• Salary attributes: Salary Range From and Salary Range To </a:t>
            </a:r>
            <a:br>
              <a:rPr lang="en-US" dirty="0"/>
            </a:br>
            <a:r>
              <a:rPr lang="en-US" dirty="0"/>
              <a:t/>
            </a:r>
            <a:br>
              <a:rPr lang="en-US" dirty="0"/>
            </a:br>
            <a:r>
              <a:rPr lang="en-US" dirty="0"/>
              <a:t>Target Variables:</a:t>
            </a:r>
            <a:br>
              <a:rPr lang="en-US" dirty="0"/>
            </a:br>
            <a:r>
              <a:rPr lang="en-US" dirty="0"/>
              <a:t>• Minimum Salary (Salary Range From) </a:t>
            </a:r>
            <a:br>
              <a:rPr lang="en-US" dirty="0"/>
            </a:br>
            <a:r>
              <a:rPr lang="en-US" dirty="0"/>
              <a:t>• Maximum Salary (Salary Range To) </a:t>
            </a:r>
            <a:br>
              <a:rPr lang="en-US" dirty="0"/>
            </a:br>
            <a:r>
              <a:rPr lang="en-US" dirty="0"/>
              <a:t/>
            </a:r>
            <a:br>
              <a:rPr lang="en-US" dirty="0"/>
            </a:br>
            <a:r>
              <a:rPr lang="en-US" dirty="0"/>
              <a:t>This dataset provides a comprehensive foundation for building machine learning models to predict salary ranges accurately based on job-specific features.</a:t>
            </a:r>
            <a:endParaRPr lang="en-IN" dirty="0"/>
          </a:p>
        </p:txBody>
      </p:sp>
    </p:spTree>
    <p:extLst>
      <p:ext uri="{BB962C8B-B14F-4D97-AF65-F5344CB8AC3E}">
        <p14:creationId xmlns:p14="http://schemas.microsoft.com/office/powerpoint/2010/main" xmlns="" val="416992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613CC-B0FD-87B6-1299-39063F5577AC}"/>
              </a:ext>
            </a:extLst>
          </p:cNvPr>
          <p:cNvSpPr>
            <a:spLocks noGrp="1"/>
          </p:cNvSpPr>
          <p:nvPr>
            <p:ph type="title"/>
          </p:nvPr>
        </p:nvSpPr>
        <p:spPr>
          <a:xfrm>
            <a:off x="2669886" y="136525"/>
            <a:ext cx="3985753" cy="438550"/>
          </a:xfrm>
        </p:spPr>
        <p:txBody>
          <a:bodyPr>
            <a:normAutofit fontScale="90000"/>
          </a:bodyPr>
          <a:lstStyle/>
          <a:p>
            <a:r>
              <a:rPr lang="en-IN" dirty="0"/>
              <a:t>DATA PREPROCESSING</a:t>
            </a:r>
          </a:p>
        </p:txBody>
      </p:sp>
      <p:sp>
        <p:nvSpPr>
          <p:cNvPr id="4" name="Date Placeholder 3">
            <a:extLst>
              <a:ext uri="{FF2B5EF4-FFF2-40B4-BE49-F238E27FC236}">
                <a16:creationId xmlns:a16="http://schemas.microsoft.com/office/drawing/2014/main" xmlns="" id="{9DEFDC03-F7E7-5D14-A600-3881FDB67F92}"/>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85E6668C-8AF8-24A8-B11D-697927FA473D}"/>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9F3AE413-0C11-9519-3F92-4E8366C1F7EA}"/>
              </a:ext>
            </a:extLst>
          </p:cNvPr>
          <p:cNvSpPr>
            <a:spLocks noGrp="1"/>
          </p:cNvSpPr>
          <p:nvPr>
            <p:ph type="sldNum" sz="quarter" idx="12"/>
          </p:nvPr>
        </p:nvSpPr>
        <p:spPr/>
        <p:txBody>
          <a:bodyPr/>
          <a:lstStyle/>
          <a:p>
            <a:fld id="{B5CEABB6-07DC-46E8-9B57-56EC44A396E5}" type="slidenum">
              <a:rPr lang="en-US" smtClean="0"/>
              <a:pPr/>
              <a:t>4</a:t>
            </a:fld>
            <a:endParaRPr lang="en-US" dirty="0"/>
          </a:p>
        </p:txBody>
      </p:sp>
      <p:pic>
        <p:nvPicPr>
          <p:cNvPr id="8" name="Picture 7">
            <a:extLst>
              <a:ext uri="{FF2B5EF4-FFF2-40B4-BE49-F238E27FC236}">
                <a16:creationId xmlns:a16="http://schemas.microsoft.com/office/drawing/2014/main" xmlns="" id="{9A1190B6-A1B7-FCEA-C4CD-FD32185E380E}"/>
              </a:ext>
            </a:extLst>
          </p:cNvPr>
          <p:cNvPicPr>
            <a:picLocks noChangeAspect="1"/>
          </p:cNvPicPr>
          <p:nvPr/>
        </p:nvPicPr>
        <p:blipFill>
          <a:blip r:embed="rId2"/>
          <a:stretch>
            <a:fillRect/>
          </a:stretch>
        </p:blipFill>
        <p:spPr>
          <a:xfrm>
            <a:off x="8714890" y="1"/>
            <a:ext cx="3477110" cy="6966154"/>
          </a:xfrm>
          <a:prstGeom prst="rect">
            <a:avLst/>
          </a:prstGeom>
        </p:spPr>
      </p:pic>
      <p:sp>
        <p:nvSpPr>
          <p:cNvPr id="9" name="TextBox 8">
            <a:extLst>
              <a:ext uri="{FF2B5EF4-FFF2-40B4-BE49-F238E27FC236}">
                <a16:creationId xmlns:a16="http://schemas.microsoft.com/office/drawing/2014/main" xmlns="" id="{EBDC121C-75E5-2FBA-8A19-DAD61A427A46}"/>
              </a:ext>
            </a:extLst>
          </p:cNvPr>
          <p:cNvSpPr txBox="1"/>
          <p:nvPr/>
        </p:nvSpPr>
        <p:spPr>
          <a:xfrm>
            <a:off x="203833" y="507507"/>
            <a:ext cx="8917858" cy="6186309"/>
          </a:xfrm>
          <a:prstGeom prst="rect">
            <a:avLst/>
          </a:prstGeom>
          <a:noFill/>
        </p:spPr>
        <p:txBody>
          <a:bodyPr wrap="square" rtlCol="0">
            <a:spAutoFit/>
          </a:bodyPr>
          <a:lstStyle/>
          <a:p>
            <a:r>
              <a:rPr lang="en-US" dirty="0"/>
              <a:t>To ensure high-quality input for model building, several preprocessing steps were performed on the dataset.</a:t>
            </a:r>
          </a:p>
          <a:p>
            <a:r>
              <a:rPr lang="en-US" dirty="0"/>
              <a:t>• Missing Values Analysis:</a:t>
            </a:r>
            <a:br>
              <a:rPr lang="en-US" dirty="0"/>
            </a:br>
            <a:r>
              <a:rPr lang="en-US" dirty="0"/>
              <a:t>Missing values were identified using </a:t>
            </a:r>
            <a:r>
              <a:rPr lang="en-US" dirty="0" err="1"/>
              <a:t>df.isnull</a:t>
            </a:r>
            <a:r>
              <a:rPr lang="en-US" dirty="0"/>
              <a:t>().sum(). Columns with high missing values such as Preferred Skills, Additional Information, Hours/Shift, and Work Location 1 were handled appropriately by either filling or removing them.</a:t>
            </a:r>
          </a:p>
          <a:p>
            <a:r>
              <a:rPr lang="en-US" dirty="0"/>
              <a:t>• Dropping Irrelevant Columns:</a:t>
            </a:r>
            <a:br>
              <a:rPr lang="en-US" dirty="0"/>
            </a:br>
            <a:r>
              <a:rPr lang="en-US" dirty="0"/>
              <a:t>Columns such as Job ID, Recruitment Contact, Posting Dates, Process Date, and other non-informative fields were removed as they do not contribute to salary prediction.</a:t>
            </a:r>
          </a:p>
          <a:p>
            <a:r>
              <a:rPr lang="en-IN" dirty="0"/>
              <a:t>• Handling Missing Data:</a:t>
            </a:r>
          </a:p>
          <a:p>
            <a:pPr marL="285750" indent="-285750">
              <a:buFontTx/>
              <a:buChar char="-"/>
            </a:pPr>
            <a:r>
              <a:rPr lang="en-US" dirty="0"/>
              <a:t>Categorical features such as Preferred Skills, Minimum Qualification Requirements, and Additional Information were filled with empty strings.</a:t>
            </a:r>
            <a:br>
              <a:rPr lang="en-US" dirty="0"/>
            </a:br>
            <a:r>
              <a:rPr lang="en-US" dirty="0"/>
              <a:t>- The Full-Time/Part-Time indicator was filled using the mode value.</a:t>
            </a:r>
            <a:br>
              <a:rPr lang="en-US" dirty="0"/>
            </a:br>
            <a:r>
              <a:rPr lang="en-US" dirty="0"/>
              <a:t>- Columns with a high proportion of missing values, such as Hours/Shift and Work Location 1, were removed from the dataset.</a:t>
            </a:r>
          </a:p>
          <a:p>
            <a:r>
              <a:rPr lang="en-US" dirty="0"/>
              <a:t>• Removing Duplicates:</a:t>
            </a:r>
            <a:br>
              <a:rPr lang="en-US" dirty="0"/>
            </a:br>
            <a:r>
              <a:rPr lang="en-US" dirty="0"/>
              <a:t>Duplicate records (31 rows) were identified and removed to maintain data integrity.</a:t>
            </a:r>
          </a:p>
          <a:p>
            <a:pPr marL="285750" indent="-285750">
              <a:buFont typeface="Arial" panose="020B0604020202020204" pitchFamily="34" charset="0"/>
              <a:buChar char="•"/>
            </a:pPr>
            <a:r>
              <a:rPr lang="en-US" dirty="0"/>
              <a:t>Additionally, a new feature called "Average Salary" was created using Salary Range From and Salary Range To </a:t>
            </a:r>
            <a:r>
              <a:rPr lang="en-US" dirty="0" err="1"/>
              <a:t>to</a:t>
            </a:r>
            <a:r>
              <a:rPr lang="en-US" dirty="0"/>
              <a:t> support further analysis and modeling.</a:t>
            </a:r>
          </a:p>
          <a:p>
            <a:pPr marL="285750" indent="-285750">
              <a:buFont typeface="Arial" panose="020B0604020202020204" pitchFamily="34" charset="0"/>
              <a:buChar char="•"/>
            </a:pPr>
            <a:r>
              <a:rPr lang="en-US" dirty="0"/>
              <a:t>These preprocessing steps resulted in a clean, structured, and reliable dataset, which is essential for building accurate and robust machine learning models.</a:t>
            </a:r>
            <a:br>
              <a:rPr lang="en-US" dirty="0"/>
            </a:br>
            <a:endParaRPr lang="en-IN" dirty="0"/>
          </a:p>
        </p:txBody>
      </p:sp>
    </p:spTree>
    <p:extLst>
      <p:ext uri="{BB962C8B-B14F-4D97-AF65-F5344CB8AC3E}">
        <p14:creationId xmlns:p14="http://schemas.microsoft.com/office/powerpoint/2010/main" xmlns="" val="117945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1A978E-0C59-66B5-C799-B062ACFF5336}"/>
              </a:ext>
            </a:extLst>
          </p:cNvPr>
          <p:cNvSpPr>
            <a:spLocks noGrp="1"/>
          </p:cNvSpPr>
          <p:nvPr>
            <p:ph type="title"/>
          </p:nvPr>
        </p:nvSpPr>
        <p:spPr>
          <a:xfrm>
            <a:off x="2474041" y="0"/>
            <a:ext cx="6404488" cy="458214"/>
          </a:xfrm>
        </p:spPr>
        <p:txBody>
          <a:bodyPr>
            <a:normAutofit fontScale="90000"/>
          </a:bodyPr>
          <a:lstStyle/>
          <a:p>
            <a:r>
              <a:rPr lang="en-IN" dirty="0"/>
              <a:t>Exploratory Data Analysis (EDA)</a:t>
            </a:r>
          </a:p>
        </p:txBody>
      </p:sp>
      <p:sp>
        <p:nvSpPr>
          <p:cNvPr id="4" name="Date Placeholder 3">
            <a:extLst>
              <a:ext uri="{FF2B5EF4-FFF2-40B4-BE49-F238E27FC236}">
                <a16:creationId xmlns:a16="http://schemas.microsoft.com/office/drawing/2014/main" xmlns="" id="{F2EDD145-2DB6-0C1A-6E53-DA59372CB597}"/>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6B136CBC-9118-33AD-DFEC-3FE5BCD7B5A4}"/>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EA255B69-91E4-A514-6193-E38A9E4B2221}"/>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
        <p:nvSpPr>
          <p:cNvPr id="9" name="TextBox 8">
            <a:extLst>
              <a:ext uri="{FF2B5EF4-FFF2-40B4-BE49-F238E27FC236}">
                <a16:creationId xmlns:a16="http://schemas.microsoft.com/office/drawing/2014/main" xmlns="" id="{40944C13-B52F-171D-BA9C-C201D5ED365B}"/>
              </a:ext>
            </a:extLst>
          </p:cNvPr>
          <p:cNvSpPr txBox="1"/>
          <p:nvPr/>
        </p:nvSpPr>
        <p:spPr>
          <a:xfrm>
            <a:off x="389117" y="570270"/>
            <a:ext cx="11232611" cy="646331"/>
          </a:xfrm>
          <a:prstGeom prst="rect">
            <a:avLst/>
          </a:prstGeom>
          <a:noFill/>
        </p:spPr>
        <p:txBody>
          <a:bodyPr wrap="square" rtlCol="0">
            <a:spAutoFit/>
          </a:bodyPr>
          <a:lstStyle/>
          <a:p>
            <a:r>
              <a:rPr lang="en-US" dirty="0"/>
              <a:t>EDA was performed to understand the distribution of salary values and identify key patterns and relationships in the dataset.</a:t>
            </a:r>
            <a:endParaRPr lang="en-IN" dirty="0"/>
          </a:p>
        </p:txBody>
      </p:sp>
      <p:sp>
        <p:nvSpPr>
          <p:cNvPr id="10" name="TextBox 9">
            <a:extLst>
              <a:ext uri="{FF2B5EF4-FFF2-40B4-BE49-F238E27FC236}">
                <a16:creationId xmlns:a16="http://schemas.microsoft.com/office/drawing/2014/main" xmlns="" id="{AE65A7B2-BC11-4C37-B2BF-A072617BEC39}"/>
              </a:ext>
            </a:extLst>
          </p:cNvPr>
          <p:cNvSpPr txBox="1"/>
          <p:nvPr/>
        </p:nvSpPr>
        <p:spPr>
          <a:xfrm>
            <a:off x="4375355" y="1484671"/>
            <a:ext cx="2061205" cy="369332"/>
          </a:xfrm>
          <a:prstGeom prst="rect">
            <a:avLst/>
          </a:prstGeom>
          <a:noFill/>
        </p:spPr>
        <p:txBody>
          <a:bodyPr wrap="none" rtlCol="0">
            <a:spAutoFit/>
          </a:bodyPr>
          <a:lstStyle/>
          <a:p>
            <a:r>
              <a:rPr lang="en-IN" b="1" dirty="0"/>
              <a:t>Salary Distribution</a:t>
            </a:r>
            <a:endParaRPr lang="en-IN" dirty="0"/>
          </a:p>
        </p:txBody>
      </p:sp>
      <p:pic>
        <p:nvPicPr>
          <p:cNvPr id="12" name="Picture 11">
            <a:extLst>
              <a:ext uri="{FF2B5EF4-FFF2-40B4-BE49-F238E27FC236}">
                <a16:creationId xmlns:a16="http://schemas.microsoft.com/office/drawing/2014/main" xmlns="" id="{6FA752A8-951B-8971-FBB7-DD2B52600C11}"/>
              </a:ext>
            </a:extLst>
          </p:cNvPr>
          <p:cNvPicPr>
            <a:picLocks noChangeAspect="1"/>
          </p:cNvPicPr>
          <p:nvPr/>
        </p:nvPicPr>
        <p:blipFill>
          <a:blip r:embed="rId2"/>
          <a:stretch>
            <a:fillRect/>
          </a:stretch>
        </p:blipFill>
        <p:spPr>
          <a:xfrm>
            <a:off x="6523857" y="1900262"/>
            <a:ext cx="5630061" cy="4957738"/>
          </a:xfrm>
          <a:prstGeom prst="rect">
            <a:avLst/>
          </a:prstGeom>
        </p:spPr>
      </p:pic>
      <p:sp>
        <p:nvSpPr>
          <p:cNvPr id="13" name="TextBox 12">
            <a:extLst>
              <a:ext uri="{FF2B5EF4-FFF2-40B4-BE49-F238E27FC236}">
                <a16:creationId xmlns:a16="http://schemas.microsoft.com/office/drawing/2014/main" xmlns="" id="{A763AF4C-5494-A362-64AF-AD92E298B8A4}"/>
              </a:ext>
            </a:extLst>
          </p:cNvPr>
          <p:cNvSpPr txBox="1"/>
          <p:nvPr/>
        </p:nvSpPr>
        <p:spPr>
          <a:xfrm>
            <a:off x="264941" y="1900262"/>
            <a:ext cx="6027175" cy="5355312"/>
          </a:xfrm>
          <a:prstGeom prst="rect">
            <a:avLst/>
          </a:prstGeom>
          <a:noFill/>
        </p:spPr>
        <p:txBody>
          <a:bodyPr wrap="square" rtlCol="0">
            <a:spAutoFit/>
          </a:bodyPr>
          <a:lstStyle/>
          <a:p>
            <a:pPr marL="285750" indent="-285750">
              <a:buFont typeface="Arial" panose="020B0604020202020204" pitchFamily="34" charset="0"/>
              <a:buChar char="•"/>
            </a:pPr>
            <a:r>
              <a:rPr lang="en-US" dirty="0"/>
              <a:t> The histogram illustrates the distribution of average salary across job listings.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Salary values are primarily concentrated within the range of 50,000 to 100,000.</a:t>
            </a:r>
          </a:p>
          <a:p>
            <a:r>
              <a:rPr lang="en-US" dirty="0"/>
              <a:t/>
            </a:r>
            <a:br>
              <a:rPr lang="en-US" dirty="0"/>
            </a:br>
            <a:endParaRPr lang="en-US" dirty="0"/>
          </a:p>
          <a:p>
            <a:pPr marL="285750" indent="-285750">
              <a:buFont typeface="Arial" panose="020B0604020202020204" pitchFamily="34" charset="0"/>
              <a:buChar char="•"/>
            </a:pPr>
            <a:r>
              <a:rPr lang="en-US" dirty="0"/>
              <a:t>The distribution is positively skewed, indicating the presence of higher salary values.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 few job roles have very high salary values, indicating outliers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small number of lower salary values are also observed in the dataset.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analysis helps in understanding salary patterns and identifying outliers .</a:t>
            </a:r>
          </a:p>
          <a:p>
            <a:endParaRPr lang="en-IN" dirty="0"/>
          </a:p>
        </p:txBody>
      </p:sp>
    </p:spTree>
    <p:extLst>
      <p:ext uri="{BB962C8B-B14F-4D97-AF65-F5344CB8AC3E}">
        <p14:creationId xmlns:p14="http://schemas.microsoft.com/office/powerpoint/2010/main" xmlns="" val="1784238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AEB4190F-0376-3CF2-4D51-06000501DC70}"/>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248378E9-C9A0-102D-6FA0-03592F857E1F}"/>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DB2CE4EB-ED02-C08E-6D4F-82B40C8C5719}"/>
              </a:ext>
            </a:extLst>
          </p:cNvPr>
          <p:cNvSpPr>
            <a:spLocks noGrp="1"/>
          </p:cNvSpPr>
          <p:nvPr>
            <p:ph type="sldNum" sz="quarter" idx="12"/>
          </p:nvPr>
        </p:nvSpPr>
        <p:spPr/>
        <p:txBody>
          <a:bodyPr/>
          <a:lstStyle/>
          <a:p>
            <a:fld id="{B5CEABB6-07DC-46E8-9B57-56EC44A396E5}" type="slidenum">
              <a:rPr lang="en-US" smtClean="0"/>
              <a:pPr/>
              <a:t>6</a:t>
            </a:fld>
            <a:endParaRPr lang="en-US" dirty="0"/>
          </a:p>
        </p:txBody>
      </p:sp>
      <p:pic>
        <p:nvPicPr>
          <p:cNvPr id="8" name="Picture 7">
            <a:extLst>
              <a:ext uri="{FF2B5EF4-FFF2-40B4-BE49-F238E27FC236}">
                <a16:creationId xmlns:a16="http://schemas.microsoft.com/office/drawing/2014/main" xmlns="" id="{384D422B-77C9-7F2D-6AD0-6A07A55E5192}"/>
              </a:ext>
            </a:extLst>
          </p:cNvPr>
          <p:cNvPicPr>
            <a:picLocks noChangeAspect="1"/>
          </p:cNvPicPr>
          <p:nvPr/>
        </p:nvPicPr>
        <p:blipFill>
          <a:blip r:embed="rId3"/>
          <a:stretch>
            <a:fillRect/>
          </a:stretch>
        </p:blipFill>
        <p:spPr>
          <a:xfrm>
            <a:off x="0" y="136525"/>
            <a:ext cx="6523857" cy="3292475"/>
          </a:xfrm>
          <a:prstGeom prst="rect">
            <a:avLst/>
          </a:prstGeom>
        </p:spPr>
      </p:pic>
      <p:pic>
        <p:nvPicPr>
          <p:cNvPr id="10" name="Picture 9">
            <a:extLst>
              <a:ext uri="{FF2B5EF4-FFF2-40B4-BE49-F238E27FC236}">
                <a16:creationId xmlns:a16="http://schemas.microsoft.com/office/drawing/2014/main" xmlns="" id="{584112DE-0087-06D4-5BF8-228E5974BF88}"/>
              </a:ext>
            </a:extLst>
          </p:cNvPr>
          <p:cNvPicPr>
            <a:picLocks noChangeAspect="1"/>
          </p:cNvPicPr>
          <p:nvPr/>
        </p:nvPicPr>
        <p:blipFill>
          <a:blip r:embed="rId4"/>
          <a:stretch>
            <a:fillRect/>
          </a:stretch>
        </p:blipFill>
        <p:spPr>
          <a:xfrm>
            <a:off x="5945643" y="3152258"/>
            <a:ext cx="6246357" cy="3705742"/>
          </a:xfrm>
          <a:prstGeom prst="rect">
            <a:avLst/>
          </a:prstGeom>
        </p:spPr>
      </p:pic>
      <p:sp>
        <p:nvSpPr>
          <p:cNvPr id="11" name="TextBox 10">
            <a:extLst>
              <a:ext uri="{FF2B5EF4-FFF2-40B4-BE49-F238E27FC236}">
                <a16:creationId xmlns:a16="http://schemas.microsoft.com/office/drawing/2014/main" xmlns="" id="{37015DAC-7074-2A08-8E08-9C2479E70EB9}"/>
              </a:ext>
            </a:extLst>
          </p:cNvPr>
          <p:cNvSpPr txBox="1"/>
          <p:nvPr/>
        </p:nvSpPr>
        <p:spPr>
          <a:xfrm>
            <a:off x="6400801" y="275303"/>
            <a:ext cx="5791200" cy="2308324"/>
          </a:xfrm>
          <a:prstGeom prst="rect">
            <a:avLst/>
          </a:prstGeom>
          <a:noFill/>
        </p:spPr>
        <p:txBody>
          <a:bodyPr wrap="square" rtlCol="0">
            <a:spAutoFit/>
          </a:bodyPr>
          <a:lstStyle/>
          <a:p>
            <a:r>
              <a:rPr lang="en-IN" b="1" dirty="0"/>
              <a:t>Top Job Categories:</a:t>
            </a:r>
          </a:p>
          <a:p>
            <a:pPr marL="285750" indent="-285750">
              <a:buFont typeface="Arial" panose="020B0604020202020204" pitchFamily="34" charset="0"/>
              <a:buChar char="•"/>
            </a:pPr>
            <a:r>
              <a:rPr lang="en-US" dirty="0"/>
              <a:t>Engineering, Architecture &amp; Planning is the most dominant job category .</a:t>
            </a:r>
          </a:p>
          <a:p>
            <a:pPr marL="285750" indent="-285750">
              <a:buFont typeface="Arial" panose="020B0604020202020204" pitchFamily="34" charset="0"/>
              <a:buChar char="•"/>
            </a:pPr>
            <a:r>
              <a:rPr lang="en-US" dirty="0"/>
              <a:t>Other major categories include Social Services and Technology, Data &amp; Innovation .</a:t>
            </a:r>
          </a:p>
          <a:p>
            <a:pPr marL="285750" indent="-285750">
              <a:buFont typeface="Arial" panose="020B0604020202020204" pitchFamily="34" charset="0"/>
              <a:buChar char="•"/>
            </a:pPr>
            <a:r>
              <a:rPr lang="en-US" dirty="0"/>
              <a:t>Indicates higher demand for technical and public service roles .</a:t>
            </a:r>
            <a:br>
              <a:rPr lang="en-US" dirty="0"/>
            </a:br>
            <a:endParaRPr lang="en-IN" dirty="0"/>
          </a:p>
        </p:txBody>
      </p:sp>
      <p:sp>
        <p:nvSpPr>
          <p:cNvPr id="12" name="TextBox 11">
            <a:extLst>
              <a:ext uri="{FF2B5EF4-FFF2-40B4-BE49-F238E27FC236}">
                <a16:creationId xmlns:a16="http://schemas.microsoft.com/office/drawing/2014/main" xmlns="" id="{B25D59ED-881E-9E4B-E073-D9650548F8FE}"/>
              </a:ext>
            </a:extLst>
          </p:cNvPr>
          <p:cNvSpPr txBox="1"/>
          <p:nvPr/>
        </p:nvSpPr>
        <p:spPr>
          <a:xfrm>
            <a:off x="268005" y="3657600"/>
            <a:ext cx="5987845" cy="1477328"/>
          </a:xfrm>
          <a:prstGeom prst="rect">
            <a:avLst/>
          </a:prstGeom>
          <a:noFill/>
        </p:spPr>
        <p:txBody>
          <a:bodyPr wrap="square" rtlCol="0">
            <a:spAutoFit/>
          </a:bodyPr>
          <a:lstStyle/>
          <a:p>
            <a:r>
              <a:rPr lang="en-IN" b="1" dirty="0"/>
              <a:t>Posting Type Distribution:</a:t>
            </a:r>
          </a:p>
          <a:p>
            <a:pPr marL="285750" indent="-285750">
              <a:buFont typeface="Arial" panose="020B0604020202020204" pitchFamily="34" charset="0"/>
              <a:buChar char="•"/>
            </a:pPr>
            <a:r>
              <a:rPr lang="en-US" dirty="0"/>
              <a:t>Internal and External job postings are nearly balanced .</a:t>
            </a:r>
          </a:p>
          <a:p>
            <a:pPr marL="285750" indent="-285750">
              <a:buFont typeface="Arial" panose="020B0604020202020204" pitchFamily="34" charset="0"/>
              <a:buChar char="•"/>
            </a:pPr>
            <a:r>
              <a:rPr lang="en-US" dirty="0"/>
              <a:t>Slight variation indicates consistent hiring across both categories.</a:t>
            </a:r>
          </a:p>
          <a:p>
            <a:pPr marL="285750" indent="-285750">
              <a:buFont typeface="Arial" panose="020B0604020202020204" pitchFamily="34" charset="0"/>
              <a:buChar char="•"/>
            </a:pPr>
            <a:r>
              <a:rPr lang="en-US" dirty="0"/>
              <a:t>Reflects stable recruitment patterns in the dataset.</a:t>
            </a:r>
            <a:endParaRPr lang="en-IN" dirty="0"/>
          </a:p>
        </p:txBody>
      </p:sp>
    </p:spTree>
    <p:extLst>
      <p:ext uri="{BB962C8B-B14F-4D97-AF65-F5344CB8AC3E}">
        <p14:creationId xmlns:p14="http://schemas.microsoft.com/office/powerpoint/2010/main" xmlns="" val="3471026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DFA6E1E1-C974-6796-4392-CBEC0326CE4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BD750758-53D5-B5FA-BBC7-BFFAFA388774}"/>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FF1371FE-33D6-E6F6-6AD0-3FA701C1C8B6}"/>
              </a:ext>
            </a:extLst>
          </p:cNvPr>
          <p:cNvSpPr>
            <a:spLocks noGrp="1"/>
          </p:cNvSpPr>
          <p:nvPr>
            <p:ph type="sldNum" sz="quarter" idx="12"/>
          </p:nvPr>
        </p:nvSpPr>
        <p:spPr/>
        <p:txBody>
          <a:bodyPr/>
          <a:lstStyle/>
          <a:p>
            <a:fld id="{B5CEABB6-07DC-46E8-9B57-56EC44A396E5}" type="slidenum">
              <a:rPr lang="en-US" smtClean="0"/>
              <a:pPr/>
              <a:t>7</a:t>
            </a:fld>
            <a:endParaRPr lang="en-US" dirty="0"/>
          </a:p>
        </p:txBody>
      </p:sp>
      <p:pic>
        <p:nvPicPr>
          <p:cNvPr id="8" name="Picture 7">
            <a:extLst>
              <a:ext uri="{FF2B5EF4-FFF2-40B4-BE49-F238E27FC236}">
                <a16:creationId xmlns:a16="http://schemas.microsoft.com/office/drawing/2014/main" xmlns="" id="{4C76C0F5-90EB-A728-EAA2-C7D32537CCDC}"/>
              </a:ext>
            </a:extLst>
          </p:cNvPr>
          <p:cNvPicPr>
            <a:picLocks noChangeAspect="1"/>
          </p:cNvPicPr>
          <p:nvPr/>
        </p:nvPicPr>
        <p:blipFill>
          <a:blip r:embed="rId2"/>
          <a:stretch>
            <a:fillRect/>
          </a:stretch>
        </p:blipFill>
        <p:spPr>
          <a:xfrm>
            <a:off x="0" y="0"/>
            <a:ext cx="5969869" cy="3893574"/>
          </a:xfrm>
          <a:prstGeom prst="rect">
            <a:avLst/>
          </a:prstGeom>
        </p:spPr>
      </p:pic>
      <p:pic>
        <p:nvPicPr>
          <p:cNvPr id="10" name="Picture 9">
            <a:extLst>
              <a:ext uri="{FF2B5EF4-FFF2-40B4-BE49-F238E27FC236}">
                <a16:creationId xmlns:a16="http://schemas.microsoft.com/office/drawing/2014/main" xmlns="" id="{EA631FBD-44F6-5A14-076B-972EC8AA526B}"/>
              </a:ext>
            </a:extLst>
          </p:cNvPr>
          <p:cNvPicPr>
            <a:picLocks noChangeAspect="1"/>
          </p:cNvPicPr>
          <p:nvPr/>
        </p:nvPicPr>
        <p:blipFill>
          <a:blip r:embed="rId3"/>
          <a:stretch>
            <a:fillRect/>
          </a:stretch>
        </p:blipFill>
        <p:spPr>
          <a:xfrm>
            <a:off x="6202582" y="3333258"/>
            <a:ext cx="5969869" cy="3524742"/>
          </a:xfrm>
          <a:prstGeom prst="rect">
            <a:avLst/>
          </a:prstGeom>
        </p:spPr>
      </p:pic>
      <p:sp>
        <p:nvSpPr>
          <p:cNvPr id="11" name="TextBox 10">
            <a:extLst>
              <a:ext uri="{FF2B5EF4-FFF2-40B4-BE49-F238E27FC236}">
                <a16:creationId xmlns:a16="http://schemas.microsoft.com/office/drawing/2014/main" xmlns="" id="{54967809-B55A-73DC-0C02-9FDC164B476F}"/>
              </a:ext>
            </a:extLst>
          </p:cNvPr>
          <p:cNvSpPr txBox="1"/>
          <p:nvPr/>
        </p:nvSpPr>
        <p:spPr>
          <a:xfrm>
            <a:off x="5447073" y="136525"/>
            <a:ext cx="6646604" cy="3416320"/>
          </a:xfrm>
          <a:prstGeom prst="rect">
            <a:avLst/>
          </a:prstGeom>
          <a:noFill/>
        </p:spPr>
        <p:txBody>
          <a:bodyPr wrap="square" rtlCol="0">
            <a:spAutoFit/>
          </a:bodyPr>
          <a:lstStyle/>
          <a:p>
            <a:r>
              <a:rPr lang="en-IN" b="1" dirty="0"/>
              <a:t>Salary by Career Level:</a:t>
            </a:r>
          </a:p>
          <a:p>
            <a:pPr marL="285750" indent="-285750">
              <a:buFont typeface="Arial" panose="020B0604020202020204" pitchFamily="34" charset="0"/>
              <a:buChar char="•"/>
            </a:pPr>
            <a:r>
              <a:rPr lang="en-US" dirty="0"/>
              <a:t>Salary increases significantly with higher career levels .</a:t>
            </a:r>
          </a:p>
          <a:p>
            <a:pPr marL="285750" indent="-285750">
              <a:buFont typeface="Arial" panose="020B0604020202020204" pitchFamily="34" charset="0"/>
              <a:buChar char="•"/>
            </a:pPr>
            <a:r>
              <a:rPr lang="en-US" dirty="0"/>
              <a:t>Executive and Manager roles have the highest salary ranges .</a:t>
            </a:r>
          </a:p>
          <a:p>
            <a:pPr marL="285750" indent="-285750">
              <a:buFont typeface="Arial" panose="020B0604020202020204" pitchFamily="34" charset="0"/>
              <a:buChar char="•"/>
            </a:pPr>
            <a:r>
              <a:rPr lang="en-US" dirty="0"/>
              <a:t>Entry-level and student roles show comparatively lower salaries .</a:t>
            </a:r>
          </a:p>
          <a:p>
            <a:pPr marL="285750" indent="-285750">
              <a:buFont typeface="Arial" panose="020B0604020202020204" pitchFamily="34" charset="0"/>
              <a:buChar char="•"/>
            </a:pPr>
            <a:r>
              <a:rPr lang="en-US" dirty="0"/>
              <a:t>Salary variability is higher in senior roles, indicating wider pay distribution.</a:t>
            </a:r>
          </a:p>
          <a:p>
            <a:pPr marL="285750" indent="-285750">
              <a:buFont typeface="Arial" panose="020B0604020202020204" pitchFamily="34" charset="0"/>
              <a:buChar char="•"/>
            </a:pPr>
            <a:r>
              <a:rPr lang="en-US" dirty="0"/>
              <a:t>Outliers are present across multiple levels, reflecting exceptional salary cases . </a:t>
            </a:r>
          </a:p>
          <a:p>
            <a:r>
              <a:rPr lang="en-US" dirty="0"/>
              <a:t/>
            </a:r>
            <a:br>
              <a:rPr lang="en-US" dirty="0"/>
            </a:br>
            <a:endParaRPr lang="en-IN" b="1" dirty="0"/>
          </a:p>
          <a:p>
            <a:endParaRPr lang="en-IN" b="1" dirty="0"/>
          </a:p>
        </p:txBody>
      </p:sp>
      <p:sp>
        <p:nvSpPr>
          <p:cNvPr id="12" name="TextBox 11">
            <a:extLst>
              <a:ext uri="{FF2B5EF4-FFF2-40B4-BE49-F238E27FC236}">
                <a16:creationId xmlns:a16="http://schemas.microsoft.com/office/drawing/2014/main" xmlns="" id="{7D846EDD-EEF4-234F-8F8E-954944DE21FA}"/>
              </a:ext>
            </a:extLst>
          </p:cNvPr>
          <p:cNvSpPr txBox="1"/>
          <p:nvPr/>
        </p:nvSpPr>
        <p:spPr>
          <a:xfrm>
            <a:off x="145797" y="3893574"/>
            <a:ext cx="6076336" cy="2862322"/>
          </a:xfrm>
          <a:prstGeom prst="rect">
            <a:avLst/>
          </a:prstGeom>
          <a:noFill/>
        </p:spPr>
        <p:txBody>
          <a:bodyPr wrap="square" rtlCol="0">
            <a:spAutoFit/>
          </a:bodyPr>
          <a:lstStyle/>
          <a:p>
            <a:r>
              <a:rPr lang="en-IN" b="1" dirty="0"/>
              <a:t>Salary vs Full-Time / Part-Time:</a:t>
            </a:r>
          </a:p>
          <a:p>
            <a:pPr marL="285750" indent="-285750">
              <a:buFont typeface="Arial" panose="020B0604020202020204" pitchFamily="34" charset="0"/>
              <a:buChar char="•"/>
            </a:pPr>
            <a:r>
              <a:rPr lang="en-US" dirty="0"/>
              <a:t>Full-time roles (F) show significantly higher salary levels compared to part-time roles (P) .</a:t>
            </a:r>
          </a:p>
          <a:p>
            <a:pPr marL="285750" indent="-285750">
              <a:buFont typeface="Arial" panose="020B0604020202020204" pitchFamily="34" charset="0"/>
              <a:buChar char="•"/>
            </a:pPr>
            <a:r>
              <a:rPr lang="en-US" dirty="0"/>
              <a:t>Salary distribution for full-time positions is wider, indicating greater variability.</a:t>
            </a:r>
          </a:p>
          <a:p>
            <a:pPr marL="285750" indent="-285750">
              <a:buFont typeface="Arial" panose="020B0604020202020204" pitchFamily="34" charset="0"/>
              <a:buChar char="•"/>
            </a:pPr>
            <a:r>
              <a:rPr lang="en-US" dirty="0"/>
              <a:t>Part-time roles are concentrated at lower salary ranges.</a:t>
            </a:r>
          </a:p>
          <a:p>
            <a:pPr marL="285750" indent="-285750">
              <a:buFont typeface="Arial" panose="020B0604020202020204" pitchFamily="34" charset="0"/>
              <a:buChar char="•"/>
            </a:pPr>
            <a:r>
              <a:rPr lang="en-US" dirty="0"/>
              <a:t>Median salary for full-time roles is substantially higher than part-time roles. </a:t>
            </a:r>
          </a:p>
          <a:p>
            <a:pPr marL="285750" indent="-285750">
              <a:buFont typeface="Arial" panose="020B0604020202020204" pitchFamily="34" charset="0"/>
              <a:buChar char="•"/>
            </a:pPr>
            <a:r>
              <a:rPr lang="en-US" dirty="0"/>
              <a:t>This highlights the strong influence of employment type on salary structure .</a:t>
            </a:r>
            <a:endParaRPr lang="en-IN" b="1" dirty="0"/>
          </a:p>
        </p:txBody>
      </p:sp>
    </p:spTree>
    <p:extLst>
      <p:ext uri="{BB962C8B-B14F-4D97-AF65-F5344CB8AC3E}">
        <p14:creationId xmlns:p14="http://schemas.microsoft.com/office/powerpoint/2010/main" xmlns="" val="148498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8358D41-C1D5-8296-1C86-F5B0C9FAB1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A573B71E-0B30-C0DA-2339-86712B60423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D59CACE8-1F5E-1D8F-4474-F26A06F9DF20}"/>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9" name="TextBox 8">
            <a:extLst>
              <a:ext uri="{FF2B5EF4-FFF2-40B4-BE49-F238E27FC236}">
                <a16:creationId xmlns:a16="http://schemas.microsoft.com/office/drawing/2014/main" xmlns="" id="{A407BD74-CD1B-402A-D5CE-8ADD08F123BD}"/>
              </a:ext>
            </a:extLst>
          </p:cNvPr>
          <p:cNvSpPr txBox="1"/>
          <p:nvPr/>
        </p:nvSpPr>
        <p:spPr>
          <a:xfrm>
            <a:off x="353962" y="4048025"/>
            <a:ext cx="8391593" cy="2308324"/>
          </a:xfrm>
          <a:prstGeom prst="rect">
            <a:avLst/>
          </a:prstGeom>
          <a:noFill/>
        </p:spPr>
        <p:txBody>
          <a:bodyPr wrap="none" rtlCol="0">
            <a:spAutoFit/>
          </a:bodyPr>
          <a:lstStyle/>
          <a:p>
            <a:r>
              <a:rPr lang="en-US" b="1" dirty="0"/>
              <a:t>Salary Range Trend Over Time:</a:t>
            </a:r>
          </a:p>
          <a:p>
            <a:pPr marL="285750" indent="-285750">
              <a:buFont typeface="Arial" panose="020B0604020202020204" pitchFamily="34" charset="0"/>
              <a:buChar char="•"/>
            </a:pPr>
            <a:r>
              <a:rPr lang="en-US" dirty="0"/>
              <a:t>The graph illustrates the trend of minimum and maximum salary over time .</a:t>
            </a:r>
          </a:p>
          <a:p>
            <a:pPr marL="285750" indent="-285750">
              <a:buFont typeface="Arial" panose="020B0604020202020204" pitchFamily="34" charset="0"/>
              <a:buChar char="•"/>
            </a:pPr>
            <a:r>
              <a:rPr lang="en-US" dirty="0"/>
              <a:t>Both salary components show a similar pattern across the years .</a:t>
            </a:r>
          </a:p>
          <a:p>
            <a:pPr marL="285750" indent="-285750">
              <a:buFont typeface="Arial" panose="020B0604020202020204" pitchFamily="34" charset="0"/>
              <a:buChar char="•"/>
            </a:pPr>
            <a:r>
              <a:rPr lang="en-US" dirty="0"/>
              <a:t>A sharp decline is observed in 2021, followed by gradual recovery .</a:t>
            </a:r>
          </a:p>
          <a:p>
            <a:pPr marL="285750" indent="-285750">
              <a:buFont typeface="Arial" panose="020B0604020202020204" pitchFamily="34" charset="0"/>
              <a:buChar char="•"/>
            </a:pPr>
            <a:r>
              <a:rPr lang="en-US" dirty="0"/>
              <a:t>The gap between minimum and maximum salary remains relatively consistent. </a:t>
            </a:r>
          </a:p>
          <a:p>
            <a:pPr marL="285750" indent="-285750">
              <a:buFont typeface="Arial" panose="020B0604020202020204" pitchFamily="34" charset="0"/>
              <a:buChar char="•"/>
            </a:pPr>
            <a:r>
              <a:rPr lang="en-US" dirty="0"/>
              <a:t>This indicates stability in salary range structure over time .</a:t>
            </a:r>
            <a:br>
              <a:rPr lang="en-US" dirty="0"/>
            </a:br>
            <a:r>
              <a:rPr lang="en-US" dirty="0"/>
              <a:t> </a:t>
            </a:r>
            <a:br>
              <a:rPr lang="en-US" dirty="0"/>
            </a:br>
            <a:endParaRPr lang="en-IN" b="1" dirty="0"/>
          </a:p>
        </p:txBody>
      </p:sp>
      <p:pic>
        <p:nvPicPr>
          <p:cNvPr id="11" name="Picture 10">
            <a:extLst>
              <a:ext uri="{FF2B5EF4-FFF2-40B4-BE49-F238E27FC236}">
                <a16:creationId xmlns:a16="http://schemas.microsoft.com/office/drawing/2014/main" xmlns="" id="{F5E22AEB-44B6-60B3-90D9-DE1EED77A5DD}"/>
              </a:ext>
            </a:extLst>
          </p:cNvPr>
          <p:cNvPicPr>
            <a:picLocks noChangeAspect="1"/>
          </p:cNvPicPr>
          <p:nvPr/>
        </p:nvPicPr>
        <p:blipFill>
          <a:blip r:embed="rId2"/>
          <a:stretch>
            <a:fillRect/>
          </a:stretch>
        </p:blipFill>
        <p:spPr>
          <a:xfrm>
            <a:off x="0" y="0"/>
            <a:ext cx="11375923" cy="3677163"/>
          </a:xfrm>
          <a:prstGeom prst="rect">
            <a:avLst/>
          </a:prstGeom>
        </p:spPr>
      </p:pic>
    </p:spTree>
    <p:extLst>
      <p:ext uri="{BB962C8B-B14F-4D97-AF65-F5344CB8AC3E}">
        <p14:creationId xmlns:p14="http://schemas.microsoft.com/office/powerpoint/2010/main" xmlns="" val="2264670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B8B26245-8618-04A3-8A1B-368B7002E76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32758E03-7351-56C4-E9CE-E49A406E4AD6}"/>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52C15EBB-19F0-3823-93CF-C3CC3ED1AF05}"/>
              </a:ext>
            </a:extLst>
          </p:cNvPr>
          <p:cNvSpPr>
            <a:spLocks noGrp="1"/>
          </p:cNvSpPr>
          <p:nvPr>
            <p:ph type="sldNum" sz="quarter" idx="12"/>
          </p:nvPr>
        </p:nvSpPr>
        <p:spPr/>
        <p:txBody>
          <a:bodyPr/>
          <a:lstStyle/>
          <a:p>
            <a:fld id="{B5CEABB6-07DC-46E8-9B57-56EC44A396E5}" type="slidenum">
              <a:rPr lang="en-US" smtClean="0"/>
              <a:pPr/>
              <a:t>9</a:t>
            </a:fld>
            <a:endParaRPr lang="en-US" dirty="0"/>
          </a:p>
        </p:txBody>
      </p:sp>
      <p:pic>
        <p:nvPicPr>
          <p:cNvPr id="8" name="Picture 7">
            <a:extLst>
              <a:ext uri="{FF2B5EF4-FFF2-40B4-BE49-F238E27FC236}">
                <a16:creationId xmlns:a16="http://schemas.microsoft.com/office/drawing/2014/main" xmlns="" id="{FAA7C14D-B254-94EA-7E72-9C8BFFFCF0F0}"/>
              </a:ext>
            </a:extLst>
          </p:cNvPr>
          <p:cNvPicPr>
            <a:picLocks noChangeAspect="1"/>
          </p:cNvPicPr>
          <p:nvPr/>
        </p:nvPicPr>
        <p:blipFill>
          <a:blip r:embed="rId3"/>
          <a:stretch>
            <a:fillRect/>
          </a:stretch>
        </p:blipFill>
        <p:spPr>
          <a:xfrm>
            <a:off x="0" y="0"/>
            <a:ext cx="6430297" cy="3529781"/>
          </a:xfrm>
          <a:prstGeom prst="rect">
            <a:avLst/>
          </a:prstGeom>
        </p:spPr>
      </p:pic>
      <p:pic>
        <p:nvPicPr>
          <p:cNvPr id="10" name="Picture 9">
            <a:extLst>
              <a:ext uri="{FF2B5EF4-FFF2-40B4-BE49-F238E27FC236}">
                <a16:creationId xmlns:a16="http://schemas.microsoft.com/office/drawing/2014/main" xmlns="" id="{32FDE4C3-15CC-FFC3-D07A-8D1F0A1A2EAE}"/>
              </a:ext>
            </a:extLst>
          </p:cNvPr>
          <p:cNvPicPr>
            <a:picLocks noChangeAspect="1"/>
          </p:cNvPicPr>
          <p:nvPr/>
        </p:nvPicPr>
        <p:blipFill>
          <a:blip r:embed="rId4"/>
          <a:stretch>
            <a:fillRect/>
          </a:stretch>
        </p:blipFill>
        <p:spPr>
          <a:xfrm>
            <a:off x="5905994" y="3433704"/>
            <a:ext cx="6217179" cy="3424296"/>
          </a:xfrm>
          <a:prstGeom prst="rect">
            <a:avLst/>
          </a:prstGeom>
        </p:spPr>
      </p:pic>
      <p:sp>
        <p:nvSpPr>
          <p:cNvPr id="11" name="TextBox 10">
            <a:extLst>
              <a:ext uri="{FF2B5EF4-FFF2-40B4-BE49-F238E27FC236}">
                <a16:creationId xmlns:a16="http://schemas.microsoft.com/office/drawing/2014/main" xmlns="" id="{D0F5CAA5-0FF0-6806-A1B2-1AE024F64DC2}"/>
              </a:ext>
            </a:extLst>
          </p:cNvPr>
          <p:cNvSpPr txBox="1"/>
          <p:nvPr/>
        </p:nvSpPr>
        <p:spPr>
          <a:xfrm>
            <a:off x="6030081" y="195229"/>
            <a:ext cx="5692876" cy="3139321"/>
          </a:xfrm>
          <a:prstGeom prst="rect">
            <a:avLst/>
          </a:prstGeom>
          <a:noFill/>
        </p:spPr>
        <p:txBody>
          <a:bodyPr wrap="square" rtlCol="0">
            <a:spAutoFit/>
          </a:bodyPr>
          <a:lstStyle/>
          <a:p>
            <a:r>
              <a:rPr lang="en-US" b="1" dirty="0"/>
              <a:t>Top 10 Highest Paying Job Titles:</a:t>
            </a:r>
          </a:p>
          <a:p>
            <a:pPr marL="285750" indent="-285750">
              <a:buFont typeface="Arial" panose="020B0604020202020204" pitchFamily="34" charset="0"/>
              <a:buChar char="•"/>
            </a:pPr>
            <a:r>
              <a:rPr lang="en-US" dirty="0"/>
              <a:t>The chart highlights the top 10 highest paying job roles in the dataset .</a:t>
            </a:r>
          </a:p>
          <a:p>
            <a:pPr marL="285750" indent="-285750">
              <a:buFont typeface="Arial" panose="020B0604020202020204" pitchFamily="34" charset="0"/>
              <a:buChar char="•"/>
            </a:pPr>
            <a:r>
              <a:rPr lang="en-US" dirty="0"/>
              <a:t>Senior-level and executive positions dominate the highest salary brackets.</a:t>
            </a:r>
          </a:p>
          <a:p>
            <a:pPr marL="285750" indent="-285750">
              <a:buFont typeface="Arial" panose="020B0604020202020204" pitchFamily="34" charset="0"/>
              <a:buChar char="•"/>
            </a:pPr>
            <a:r>
              <a:rPr lang="en-US" dirty="0"/>
              <a:t>Leadership roles such as Chief Officers and Deputy Commissioners offer significantly higher salaries .</a:t>
            </a:r>
          </a:p>
          <a:p>
            <a:pPr marL="285750" indent="-285750">
              <a:buFont typeface="Arial" panose="020B0604020202020204" pitchFamily="34" charset="0"/>
              <a:buChar char="•"/>
            </a:pPr>
            <a:r>
              <a:rPr lang="en-US" dirty="0"/>
              <a:t>Indicates that salary increases with higher responsibility and seniority .</a:t>
            </a:r>
          </a:p>
          <a:p>
            <a:pPr marL="285750" indent="-285750">
              <a:buFont typeface="Arial" panose="020B0604020202020204" pitchFamily="34" charset="0"/>
              <a:buChar char="•"/>
            </a:pPr>
            <a:r>
              <a:rPr lang="en-US" dirty="0"/>
              <a:t>Reflects strong demand and value for leadership and specialized roles. </a:t>
            </a:r>
            <a:endParaRPr lang="en-IN" dirty="0"/>
          </a:p>
        </p:txBody>
      </p:sp>
      <p:sp>
        <p:nvSpPr>
          <p:cNvPr id="12" name="TextBox 11">
            <a:extLst>
              <a:ext uri="{FF2B5EF4-FFF2-40B4-BE49-F238E27FC236}">
                <a16:creationId xmlns:a16="http://schemas.microsoft.com/office/drawing/2014/main" xmlns="" id="{D2F87B34-9D55-4A79-0512-012CFACEA268}"/>
              </a:ext>
            </a:extLst>
          </p:cNvPr>
          <p:cNvSpPr txBox="1"/>
          <p:nvPr/>
        </p:nvSpPr>
        <p:spPr>
          <a:xfrm>
            <a:off x="89000" y="3529781"/>
            <a:ext cx="6217179" cy="3139321"/>
          </a:xfrm>
          <a:prstGeom prst="rect">
            <a:avLst/>
          </a:prstGeom>
          <a:noFill/>
        </p:spPr>
        <p:txBody>
          <a:bodyPr wrap="square" rtlCol="0">
            <a:spAutoFit/>
          </a:bodyPr>
          <a:lstStyle/>
          <a:p>
            <a:r>
              <a:rPr lang="en-US" b="1" dirty="0"/>
              <a:t>Top Agencies by Average Salary:</a:t>
            </a:r>
          </a:p>
          <a:p>
            <a:pPr marL="285750" indent="-285750">
              <a:buFont typeface="Arial" panose="020B0604020202020204" pitchFamily="34" charset="0"/>
              <a:buChar char="•"/>
            </a:pPr>
            <a:r>
              <a:rPr lang="en-US" dirty="0"/>
              <a:t>The chart shows agencies offering the highest average salaries .</a:t>
            </a:r>
          </a:p>
          <a:p>
            <a:pPr marL="285750" indent="-285750">
              <a:buFont typeface="Arial" panose="020B0604020202020204" pitchFamily="34" charset="0"/>
              <a:buChar char="•"/>
            </a:pPr>
            <a:r>
              <a:rPr lang="en-US" dirty="0"/>
              <a:t>Certain government departments consistently offer higher compensation .</a:t>
            </a:r>
          </a:p>
          <a:p>
            <a:pPr marL="285750" indent="-285750">
              <a:buFont typeface="Arial" panose="020B0604020202020204" pitchFamily="34" charset="0"/>
              <a:buChar char="•"/>
            </a:pPr>
            <a:r>
              <a:rPr lang="en-US" dirty="0"/>
              <a:t>Agencies like Department of Correction and Bronx District Attorney stand out in terms of salary. </a:t>
            </a:r>
          </a:p>
          <a:p>
            <a:pPr marL="285750" indent="-285750">
              <a:buFont typeface="Arial" panose="020B0604020202020204" pitchFamily="34" charset="0"/>
              <a:buChar char="•"/>
            </a:pPr>
            <a:r>
              <a:rPr lang="en-US" dirty="0"/>
              <a:t>Salary variation across agencies reflects differences in job roles and responsibilities .</a:t>
            </a:r>
          </a:p>
          <a:p>
            <a:pPr marL="285750" indent="-285750">
              <a:buFont typeface="Arial" panose="020B0604020202020204" pitchFamily="34" charset="0"/>
              <a:buChar char="•"/>
            </a:pPr>
            <a:r>
              <a:rPr lang="en-US" dirty="0"/>
              <a:t>Helps identify high-paying organizations within the dataset. </a:t>
            </a:r>
            <a:endParaRPr lang="en-IN" dirty="0"/>
          </a:p>
        </p:txBody>
      </p:sp>
    </p:spTree>
    <p:extLst>
      <p:ext uri="{BB962C8B-B14F-4D97-AF65-F5344CB8AC3E}">
        <p14:creationId xmlns:p14="http://schemas.microsoft.com/office/powerpoint/2010/main" xmlns="" val="712221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02194AE1-A810-D843-B4C9-382E0A44443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4B7F27F9-409F-D2B0-F530-F9A75EED1BA8}"/>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663939CB-A1A8-C483-AECB-81BCF4A7913F}"/>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
        <p:nvSpPr>
          <p:cNvPr id="7" name="TextBox 6">
            <a:extLst>
              <a:ext uri="{FF2B5EF4-FFF2-40B4-BE49-F238E27FC236}">
                <a16:creationId xmlns:a16="http://schemas.microsoft.com/office/drawing/2014/main" xmlns="" id="{CCAC55BE-068F-50A9-5EBD-836250B116DB}"/>
              </a:ext>
            </a:extLst>
          </p:cNvPr>
          <p:cNvSpPr txBox="1"/>
          <p:nvPr/>
        </p:nvSpPr>
        <p:spPr>
          <a:xfrm>
            <a:off x="4375355" y="176981"/>
            <a:ext cx="3422027" cy="369332"/>
          </a:xfrm>
          <a:prstGeom prst="rect">
            <a:avLst/>
          </a:prstGeom>
          <a:noFill/>
        </p:spPr>
        <p:txBody>
          <a:bodyPr wrap="none" rtlCol="0">
            <a:spAutoFit/>
          </a:bodyPr>
          <a:lstStyle/>
          <a:p>
            <a:r>
              <a:rPr lang="en-IN" b="1" dirty="0"/>
              <a:t>Outlier Detection and Treatment</a:t>
            </a:r>
          </a:p>
        </p:txBody>
      </p:sp>
      <p:pic>
        <p:nvPicPr>
          <p:cNvPr id="9" name="Picture 8">
            <a:extLst>
              <a:ext uri="{FF2B5EF4-FFF2-40B4-BE49-F238E27FC236}">
                <a16:creationId xmlns:a16="http://schemas.microsoft.com/office/drawing/2014/main" xmlns="" id="{C9181D6F-693B-6EF3-78A1-72830305EC54}"/>
              </a:ext>
            </a:extLst>
          </p:cNvPr>
          <p:cNvPicPr>
            <a:picLocks noChangeAspect="1"/>
          </p:cNvPicPr>
          <p:nvPr/>
        </p:nvPicPr>
        <p:blipFill>
          <a:blip r:embed="rId2"/>
          <a:stretch>
            <a:fillRect/>
          </a:stretch>
        </p:blipFill>
        <p:spPr>
          <a:xfrm>
            <a:off x="526157" y="546313"/>
            <a:ext cx="10771108" cy="2993300"/>
          </a:xfrm>
          <a:prstGeom prst="rect">
            <a:avLst/>
          </a:prstGeom>
        </p:spPr>
      </p:pic>
      <p:sp>
        <p:nvSpPr>
          <p:cNvPr id="11" name="TextBox 10">
            <a:extLst>
              <a:ext uri="{FF2B5EF4-FFF2-40B4-BE49-F238E27FC236}">
                <a16:creationId xmlns:a16="http://schemas.microsoft.com/office/drawing/2014/main" xmlns="" id="{2FDD0DC2-11EC-5D7C-C21D-77879B4CBCD7}"/>
              </a:ext>
            </a:extLst>
          </p:cNvPr>
          <p:cNvSpPr txBox="1"/>
          <p:nvPr/>
        </p:nvSpPr>
        <p:spPr>
          <a:xfrm>
            <a:off x="310484" y="3718679"/>
            <a:ext cx="10548016" cy="3139321"/>
          </a:xfrm>
          <a:prstGeom prst="rect">
            <a:avLst/>
          </a:prstGeom>
          <a:noFill/>
        </p:spPr>
        <p:txBody>
          <a:bodyPr wrap="none" rtlCol="0">
            <a:spAutoFit/>
          </a:bodyPr>
          <a:lstStyle/>
          <a:p>
            <a:r>
              <a:rPr lang="en-IN" dirty="0"/>
              <a:t>•</a:t>
            </a:r>
            <a:r>
              <a:rPr lang="en-US" dirty="0"/>
              <a:t>Box plots were used to identify outliers in key numerical features .</a:t>
            </a:r>
            <a:br>
              <a:rPr lang="en-US" dirty="0"/>
            </a:br>
            <a:r>
              <a:rPr lang="en-US" dirty="0"/>
              <a:t/>
            </a:r>
            <a:br>
              <a:rPr lang="en-US" dirty="0"/>
            </a:br>
            <a:r>
              <a:rPr lang="en-US" dirty="0"/>
              <a:t>• Significant outliers were observed in Salary Range From, Salary Range To, and Average Salary. </a:t>
            </a:r>
            <a:br>
              <a:rPr lang="en-US" dirty="0"/>
            </a:br>
            <a:r>
              <a:rPr lang="en-US" dirty="0"/>
              <a:t/>
            </a:r>
            <a:br>
              <a:rPr lang="en-US" dirty="0"/>
            </a:br>
            <a:r>
              <a:rPr lang="en-US" dirty="0"/>
              <a:t>• The Interquartile Range (IQR) method was applied for outlier detection .</a:t>
            </a:r>
            <a:br>
              <a:rPr lang="en-US" dirty="0"/>
            </a:br>
            <a:r>
              <a:rPr lang="en-US" dirty="0"/>
              <a:t/>
            </a:r>
            <a:br>
              <a:rPr lang="en-US" dirty="0"/>
            </a:br>
            <a:r>
              <a:rPr lang="en-US" dirty="0"/>
              <a:t>• Lower and upper bounds were calculated using q1, q3, and IQR .</a:t>
            </a:r>
            <a:br>
              <a:rPr lang="en-US" dirty="0"/>
            </a:br>
            <a:r>
              <a:rPr lang="en-US" dirty="0"/>
              <a:t/>
            </a:r>
            <a:br>
              <a:rPr lang="en-US" dirty="0"/>
            </a:br>
            <a:r>
              <a:rPr lang="en-US" dirty="0"/>
              <a:t>• Outliers were handled using clipping (capping values within defined bounds) instead of removing rows. </a:t>
            </a:r>
            <a:br>
              <a:rPr lang="en-US" dirty="0"/>
            </a:br>
            <a:r>
              <a:rPr lang="en-US" dirty="0"/>
              <a:t/>
            </a:r>
            <a:br>
              <a:rPr lang="en-US" dirty="0"/>
            </a:br>
            <a:r>
              <a:rPr lang="en-US" dirty="0"/>
              <a:t>• This approach preserved dataset size while reducing the impact of extreme values. </a:t>
            </a:r>
            <a:endParaRPr lang="en-IN" dirty="0"/>
          </a:p>
        </p:txBody>
      </p:sp>
    </p:spTree>
    <p:extLst>
      <p:ext uri="{BB962C8B-B14F-4D97-AF65-F5344CB8AC3E}">
        <p14:creationId xmlns:p14="http://schemas.microsoft.com/office/powerpoint/2010/main" xmlns="" val="31632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7FEF6184-0185-C687-7428-4F03107739D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2581698B-2F1A-B421-B37E-27CE6E375481}"/>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285BA9C9-1615-A1AE-D990-2CD7C8D0E112}"/>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
        <p:nvSpPr>
          <p:cNvPr id="7" name="TextBox 6">
            <a:extLst>
              <a:ext uri="{FF2B5EF4-FFF2-40B4-BE49-F238E27FC236}">
                <a16:creationId xmlns:a16="http://schemas.microsoft.com/office/drawing/2014/main" xmlns="" id="{8BC9BE85-378E-FF96-ED2B-72BEDB44AB23}"/>
              </a:ext>
            </a:extLst>
          </p:cNvPr>
          <p:cNvSpPr txBox="1"/>
          <p:nvPr/>
        </p:nvSpPr>
        <p:spPr>
          <a:xfrm>
            <a:off x="4178710" y="176981"/>
            <a:ext cx="4438907" cy="369332"/>
          </a:xfrm>
          <a:prstGeom prst="rect">
            <a:avLst/>
          </a:prstGeom>
          <a:noFill/>
        </p:spPr>
        <p:txBody>
          <a:bodyPr wrap="none" rtlCol="0">
            <a:spAutoFit/>
          </a:bodyPr>
          <a:lstStyle/>
          <a:p>
            <a:r>
              <a:rPr lang="en-US" b="1" dirty="0"/>
              <a:t>Feature Encoding and Correlation Analysis</a:t>
            </a:r>
            <a:endParaRPr lang="en-IN" b="1" dirty="0"/>
          </a:p>
        </p:txBody>
      </p:sp>
      <p:pic>
        <p:nvPicPr>
          <p:cNvPr id="9" name="Picture 8">
            <a:extLst>
              <a:ext uri="{FF2B5EF4-FFF2-40B4-BE49-F238E27FC236}">
                <a16:creationId xmlns:a16="http://schemas.microsoft.com/office/drawing/2014/main" xmlns="" id="{0DE3509C-B4F8-0B2D-9918-528B98E14F4A}"/>
              </a:ext>
            </a:extLst>
          </p:cNvPr>
          <p:cNvPicPr>
            <a:picLocks noChangeAspect="1"/>
          </p:cNvPicPr>
          <p:nvPr/>
        </p:nvPicPr>
        <p:blipFill>
          <a:blip r:embed="rId2"/>
          <a:stretch>
            <a:fillRect/>
          </a:stretch>
        </p:blipFill>
        <p:spPr>
          <a:xfrm>
            <a:off x="1095682" y="546313"/>
            <a:ext cx="9542820" cy="3307932"/>
          </a:xfrm>
          <a:prstGeom prst="rect">
            <a:avLst/>
          </a:prstGeom>
        </p:spPr>
      </p:pic>
      <p:sp>
        <p:nvSpPr>
          <p:cNvPr id="10" name="TextBox 9">
            <a:extLst>
              <a:ext uri="{FF2B5EF4-FFF2-40B4-BE49-F238E27FC236}">
                <a16:creationId xmlns:a16="http://schemas.microsoft.com/office/drawing/2014/main" xmlns="" id="{9C07E2E5-4A8F-0957-E5C2-4CDDCC72BD89}"/>
              </a:ext>
            </a:extLst>
          </p:cNvPr>
          <p:cNvSpPr txBox="1"/>
          <p:nvPr/>
        </p:nvSpPr>
        <p:spPr>
          <a:xfrm>
            <a:off x="442658" y="3718679"/>
            <a:ext cx="10848867" cy="3139321"/>
          </a:xfrm>
          <a:prstGeom prst="rect">
            <a:avLst/>
          </a:prstGeom>
          <a:noFill/>
        </p:spPr>
        <p:txBody>
          <a:bodyPr wrap="none" rtlCol="0">
            <a:spAutoFit/>
          </a:bodyPr>
          <a:lstStyle/>
          <a:p>
            <a:r>
              <a:rPr lang="en-US" dirty="0"/>
              <a:t>• Categorical variables were converted into numerical form using Label Encoding.</a:t>
            </a:r>
            <a:br>
              <a:rPr lang="en-US" dirty="0"/>
            </a:br>
            <a:r>
              <a:rPr lang="en-US" dirty="0"/>
              <a:t/>
            </a:r>
            <a:br>
              <a:rPr lang="en-US" dirty="0"/>
            </a:br>
            <a:r>
              <a:rPr lang="en-US" dirty="0"/>
              <a:t>• This transformation enabled machine learning models to process categorical data effectively .</a:t>
            </a:r>
            <a:br>
              <a:rPr lang="en-US" dirty="0"/>
            </a:br>
            <a:r>
              <a:rPr lang="en-US" dirty="0"/>
              <a:t/>
            </a:r>
            <a:br>
              <a:rPr lang="en-US" dirty="0"/>
            </a:br>
            <a:r>
              <a:rPr lang="en-US" dirty="0"/>
              <a:t>• A correlation heatmap was generated to analyze relationships between features .</a:t>
            </a:r>
            <a:br>
              <a:rPr lang="en-US" dirty="0"/>
            </a:br>
            <a:r>
              <a:rPr lang="en-US" dirty="0"/>
              <a:t/>
            </a:r>
            <a:br>
              <a:rPr lang="en-US" dirty="0"/>
            </a:br>
            <a:r>
              <a:rPr lang="en-US" dirty="0"/>
              <a:t>• Strong positive correlation is observed between Salary Range From, Salary Range To, and Average Salary. </a:t>
            </a:r>
            <a:br>
              <a:rPr lang="en-US" dirty="0"/>
            </a:br>
            <a:r>
              <a:rPr lang="en-US" dirty="0"/>
              <a:t/>
            </a:r>
            <a:br>
              <a:rPr lang="en-US" dirty="0"/>
            </a:br>
            <a:r>
              <a:rPr lang="en-US" dirty="0"/>
              <a:t>•  High correlation among salary features indicates potential multicollinearity. </a:t>
            </a:r>
            <a:br>
              <a:rPr lang="en-US" dirty="0"/>
            </a:br>
            <a:r>
              <a:rPr lang="en-US" dirty="0"/>
              <a:t/>
            </a:r>
            <a:br>
              <a:rPr lang="en-US" dirty="0"/>
            </a:br>
            <a:r>
              <a:rPr lang="en-US" dirty="0"/>
              <a:t>• This analysis helps in identifying important features for model building .</a:t>
            </a:r>
            <a:endParaRPr lang="en-IN" dirty="0"/>
          </a:p>
        </p:txBody>
      </p:sp>
    </p:spTree>
    <p:extLst>
      <p:ext uri="{BB962C8B-B14F-4D97-AF65-F5344CB8AC3E}">
        <p14:creationId xmlns:p14="http://schemas.microsoft.com/office/powerpoint/2010/main" xmlns="" val="104936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4E92544-E436-8747-3B15-99167A3250FD}"/>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8A36AB25-48F2-53E4-429E-1B770014CE9A}"/>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43F94764-8B1A-C506-55CF-D767D8B1A486}"/>
              </a:ext>
            </a:extLst>
          </p:cNvPr>
          <p:cNvSpPr>
            <a:spLocks noGrp="1"/>
          </p:cNvSpPr>
          <p:nvPr>
            <p:ph type="sldNum" sz="quarter" idx="12"/>
          </p:nvPr>
        </p:nvSpPr>
        <p:spPr/>
        <p:txBody>
          <a:bodyPr/>
          <a:lstStyle/>
          <a:p>
            <a:fld id="{B5CEABB6-07DC-46E8-9B57-56EC44A396E5}" type="slidenum">
              <a:rPr lang="en-US" smtClean="0"/>
              <a:pPr/>
              <a:t>12</a:t>
            </a:fld>
            <a:endParaRPr lang="en-US" dirty="0"/>
          </a:p>
        </p:txBody>
      </p:sp>
      <p:sp>
        <p:nvSpPr>
          <p:cNvPr id="7" name="TextBox 6">
            <a:extLst>
              <a:ext uri="{FF2B5EF4-FFF2-40B4-BE49-F238E27FC236}">
                <a16:creationId xmlns:a16="http://schemas.microsoft.com/office/drawing/2014/main" xmlns="" id="{CC341F23-17E4-9FD6-F6F2-556155E1E4C8}"/>
              </a:ext>
            </a:extLst>
          </p:cNvPr>
          <p:cNvSpPr txBox="1"/>
          <p:nvPr/>
        </p:nvSpPr>
        <p:spPr>
          <a:xfrm>
            <a:off x="4119882" y="136525"/>
            <a:ext cx="3952236" cy="369332"/>
          </a:xfrm>
          <a:prstGeom prst="rect">
            <a:avLst/>
          </a:prstGeom>
          <a:noFill/>
        </p:spPr>
        <p:txBody>
          <a:bodyPr wrap="none" rtlCol="0">
            <a:spAutoFit/>
          </a:bodyPr>
          <a:lstStyle/>
          <a:p>
            <a:r>
              <a:rPr lang="en-US" b="1" dirty="0"/>
              <a:t>Model Building and Data Preparation</a:t>
            </a:r>
            <a:endParaRPr lang="en-IN" b="1" dirty="0"/>
          </a:p>
        </p:txBody>
      </p:sp>
      <p:sp>
        <p:nvSpPr>
          <p:cNvPr id="8" name="TextBox 7">
            <a:extLst>
              <a:ext uri="{FF2B5EF4-FFF2-40B4-BE49-F238E27FC236}">
                <a16:creationId xmlns:a16="http://schemas.microsoft.com/office/drawing/2014/main" xmlns="" id="{F33F377A-51A8-642E-F3A8-70377AC81255}"/>
              </a:ext>
            </a:extLst>
          </p:cNvPr>
          <p:cNvSpPr txBox="1"/>
          <p:nvPr/>
        </p:nvSpPr>
        <p:spPr>
          <a:xfrm>
            <a:off x="342244" y="505857"/>
            <a:ext cx="9620967" cy="6463308"/>
          </a:xfrm>
          <a:prstGeom prst="rect">
            <a:avLst/>
          </a:prstGeom>
          <a:noFill/>
        </p:spPr>
        <p:txBody>
          <a:bodyPr wrap="none" rtlCol="0">
            <a:spAutoFit/>
          </a:bodyPr>
          <a:lstStyle/>
          <a:p>
            <a:pPr marL="285750" indent="-285750">
              <a:buFont typeface="Arial" panose="020B0604020202020204" pitchFamily="34" charset="0"/>
              <a:buChar char="•"/>
            </a:pPr>
            <a:r>
              <a:rPr lang="en-US" dirty="0"/>
              <a:t>The dataset was prepared by separating input features (X) and target variable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Average Salary was initially used as the target variable to understand overall salary trends. </a:t>
            </a:r>
          </a:p>
          <a:p>
            <a:pPr marL="285750" indent="-285750">
              <a:buFont typeface="Arial" panose="020B0604020202020204" pitchFamily="34" charset="0"/>
              <a:buChar char="•"/>
            </a:pPr>
            <a:r>
              <a:rPr lang="en-US" dirty="0"/>
              <a:t/>
            </a:r>
            <a:br>
              <a:rPr lang="en-US" dirty="0"/>
            </a:br>
            <a:r>
              <a:rPr lang="en-US" dirty="0"/>
              <a:t>Irrelevant features such as posting dates were removed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Salary-related features were excluded during training to avoid data leakage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dataset was split into training and testing sets using an 80-20 ratio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Separate target variables were defined for minimum and maximum salary. </a:t>
            </a:r>
          </a:p>
          <a:p>
            <a:pPr marL="285750" indent="-285750">
              <a:buFont typeface="Arial" panose="020B0604020202020204" pitchFamily="34" charset="0"/>
              <a:buChar char="•"/>
            </a:pPr>
            <a:r>
              <a:rPr lang="en-US" dirty="0"/>
              <a:t/>
            </a:r>
            <a:br>
              <a:rPr lang="en-US" dirty="0"/>
            </a:br>
            <a:r>
              <a:rPr lang="en-US" dirty="0"/>
              <a:t>Salary Range From and Salary Range To were used as target variables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new feature set was created by removing salary-related columns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Separate models were trained to predict minimum and maximum salary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dataset was split into training and testing sets for both targets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approach enables accurate prediction of salary ranges instead of a single value .</a:t>
            </a:r>
            <a:br>
              <a:rPr lang="en-US" dirty="0"/>
            </a:br>
            <a:r>
              <a:rPr lang="en-US" dirty="0"/>
              <a:t/>
            </a:r>
            <a:br>
              <a:rPr lang="en-US" dirty="0"/>
            </a:br>
            <a:endParaRPr lang="en-IN" dirty="0"/>
          </a:p>
        </p:txBody>
      </p:sp>
    </p:spTree>
    <p:extLst>
      <p:ext uri="{BB962C8B-B14F-4D97-AF65-F5344CB8AC3E}">
        <p14:creationId xmlns:p14="http://schemas.microsoft.com/office/powerpoint/2010/main" xmlns="" val="727843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71BC8F6D-04A4-E3BA-C13A-267BF8B23C1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08D1474A-D7F6-D346-E00F-EC19E6C2CE5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93798509-44B5-073D-2439-434715D4D2FE}"/>
              </a:ext>
            </a:extLst>
          </p:cNvPr>
          <p:cNvSpPr>
            <a:spLocks noGrp="1"/>
          </p:cNvSpPr>
          <p:nvPr>
            <p:ph type="sldNum" sz="quarter" idx="12"/>
          </p:nvPr>
        </p:nvSpPr>
        <p:spPr/>
        <p:txBody>
          <a:bodyPr/>
          <a:lstStyle/>
          <a:p>
            <a:fld id="{B5CEABB6-07DC-46E8-9B57-56EC44A396E5}" type="slidenum">
              <a:rPr lang="en-US" smtClean="0"/>
              <a:pPr/>
              <a:t>13</a:t>
            </a:fld>
            <a:endParaRPr lang="en-US" dirty="0"/>
          </a:p>
        </p:txBody>
      </p:sp>
      <p:sp>
        <p:nvSpPr>
          <p:cNvPr id="7" name="TextBox 6">
            <a:extLst>
              <a:ext uri="{FF2B5EF4-FFF2-40B4-BE49-F238E27FC236}">
                <a16:creationId xmlns:a16="http://schemas.microsoft.com/office/drawing/2014/main" xmlns="" id="{33D3DDDA-CEAE-3E95-6CFD-834BE102223A}"/>
              </a:ext>
            </a:extLst>
          </p:cNvPr>
          <p:cNvSpPr txBox="1"/>
          <p:nvPr/>
        </p:nvSpPr>
        <p:spPr>
          <a:xfrm>
            <a:off x="4001729" y="0"/>
            <a:ext cx="5297156" cy="400110"/>
          </a:xfrm>
          <a:prstGeom prst="rect">
            <a:avLst/>
          </a:prstGeom>
          <a:noFill/>
        </p:spPr>
        <p:txBody>
          <a:bodyPr wrap="none" rtlCol="0">
            <a:spAutoFit/>
          </a:bodyPr>
          <a:lstStyle/>
          <a:p>
            <a:r>
              <a:rPr lang="en-US" sz="2000" b="1" dirty="0"/>
              <a:t>Model Comparison and Performance Analysis</a:t>
            </a:r>
            <a:endParaRPr lang="en-IN" sz="2000" b="1" dirty="0"/>
          </a:p>
        </p:txBody>
      </p:sp>
      <p:sp>
        <p:nvSpPr>
          <p:cNvPr id="8" name="TextBox 7">
            <a:extLst>
              <a:ext uri="{FF2B5EF4-FFF2-40B4-BE49-F238E27FC236}">
                <a16:creationId xmlns:a16="http://schemas.microsoft.com/office/drawing/2014/main" xmlns="" id="{BEBA3303-5DE6-AE8D-023F-13CA8843C845}"/>
              </a:ext>
            </a:extLst>
          </p:cNvPr>
          <p:cNvSpPr txBox="1"/>
          <p:nvPr/>
        </p:nvSpPr>
        <p:spPr>
          <a:xfrm>
            <a:off x="201561" y="400110"/>
            <a:ext cx="7600335" cy="6186309"/>
          </a:xfrm>
          <a:prstGeom prst="rect">
            <a:avLst/>
          </a:prstGeom>
          <a:noFill/>
        </p:spPr>
        <p:txBody>
          <a:bodyPr wrap="square" rtlCol="0">
            <a:spAutoFit/>
          </a:bodyPr>
          <a:lstStyle/>
          <a:p>
            <a:r>
              <a:rPr lang="en-US" dirty="0"/>
              <a:t>• Multiple regression models were implemented to evaluate performance, including Linear Regression, Lasso, Ridge, KNN, Decision Tree, Random Forest, </a:t>
            </a:r>
            <a:r>
              <a:rPr lang="en-US" dirty="0" err="1"/>
              <a:t>XGBoost</a:t>
            </a:r>
            <a:r>
              <a:rPr lang="en-US" dirty="0"/>
              <a:t>, and AdaBoost  .</a:t>
            </a:r>
          </a:p>
          <a:p>
            <a:endParaRPr lang="en-US" dirty="0"/>
          </a:p>
          <a:p>
            <a:r>
              <a:rPr lang="en-US" dirty="0"/>
              <a:t>• Models were trained on the training dataset and evaluated on unseen test data  .</a:t>
            </a:r>
          </a:p>
          <a:p>
            <a:endParaRPr lang="en-US" dirty="0"/>
          </a:p>
          <a:p>
            <a:r>
              <a:rPr lang="en-US" dirty="0"/>
              <a:t>• Performance was measured using RMSE, MAE, and R² Score to ensure reliable comparison . </a:t>
            </a:r>
          </a:p>
          <a:p>
            <a:endParaRPr lang="en-US" dirty="0"/>
          </a:p>
          <a:p>
            <a:r>
              <a:rPr lang="en-US" dirty="0"/>
              <a:t>• Random Forest achieved the highest R² score (~0.97), indicating strong predictive capability . </a:t>
            </a:r>
          </a:p>
          <a:p>
            <a:endParaRPr lang="en-US" dirty="0"/>
          </a:p>
          <a:p>
            <a:r>
              <a:rPr lang="en-US" dirty="0"/>
              <a:t>• </a:t>
            </a:r>
            <a:r>
              <a:rPr lang="en-US" dirty="0" err="1"/>
              <a:t>XGBoost</a:t>
            </a:r>
            <a:r>
              <a:rPr lang="en-US" dirty="0"/>
              <a:t> also performed competitively with similar accuracy . </a:t>
            </a:r>
          </a:p>
          <a:p>
            <a:endParaRPr lang="en-US" dirty="0"/>
          </a:p>
          <a:p>
            <a:r>
              <a:rPr lang="en-US" dirty="0"/>
              <a:t>• Decision Tree showed high training accuracy but indicated overfitting.  </a:t>
            </a:r>
          </a:p>
          <a:p>
            <a:endParaRPr lang="en-US" dirty="0"/>
          </a:p>
          <a:p>
            <a:r>
              <a:rPr lang="en-US" dirty="0"/>
              <a:t>• Linear models demonstrated moderate performance, while KNN showed the lowest accuracy . </a:t>
            </a:r>
          </a:p>
          <a:p>
            <a:endParaRPr lang="en-US" dirty="0"/>
          </a:p>
          <a:p>
            <a:r>
              <a:rPr lang="en-US" dirty="0"/>
              <a:t>• Ensemble models outperformed traditional models, highlighting their effectiveness for this problem .</a:t>
            </a:r>
            <a:endParaRPr lang="en-IN" dirty="0"/>
          </a:p>
        </p:txBody>
      </p:sp>
      <p:pic>
        <p:nvPicPr>
          <p:cNvPr id="10" name="Picture 9">
            <a:extLst>
              <a:ext uri="{FF2B5EF4-FFF2-40B4-BE49-F238E27FC236}">
                <a16:creationId xmlns:a16="http://schemas.microsoft.com/office/drawing/2014/main" xmlns="" id="{C6D577F2-5CEF-F115-DE2F-EA725F53565B}"/>
              </a:ext>
            </a:extLst>
          </p:cNvPr>
          <p:cNvPicPr>
            <a:picLocks noChangeAspect="1"/>
          </p:cNvPicPr>
          <p:nvPr/>
        </p:nvPicPr>
        <p:blipFill>
          <a:blip r:embed="rId2"/>
          <a:stretch>
            <a:fillRect/>
          </a:stretch>
        </p:blipFill>
        <p:spPr>
          <a:xfrm>
            <a:off x="8161237" y="400110"/>
            <a:ext cx="4030763" cy="3098464"/>
          </a:xfrm>
          <a:prstGeom prst="rect">
            <a:avLst/>
          </a:prstGeom>
        </p:spPr>
      </p:pic>
      <p:pic>
        <p:nvPicPr>
          <p:cNvPr id="12" name="Picture 11">
            <a:extLst>
              <a:ext uri="{FF2B5EF4-FFF2-40B4-BE49-F238E27FC236}">
                <a16:creationId xmlns:a16="http://schemas.microsoft.com/office/drawing/2014/main" xmlns="" id="{6BA3C74E-E0D3-E811-E989-90F07BA59B5A}"/>
              </a:ext>
            </a:extLst>
          </p:cNvPr>
          <p:cNvPicPr>
            <a:picLocks noChangeAspect="1"/>
          </p:cNvPicPr>
          <p:nvPr/>
        </p:nvPicPr>
        <p:blipFill>
          <a:blip r:embed="rId3"/>
          <a:stretch>
            <a:fillRect/>
          </a:stretch>
        </p:blipFill>
        <p:spPr>
          <a:xfrm>
            <a:off x="7621053" y="3493264"/>
            <a:ext cx="4494747" cy="3306177"/>
          </a:xfrm>
          <a:prstGeom prst="rect">
            <a:avLst/>
          </a:prstGeom>
        </p:spPr>
      </p:pic>
    </p:spTree>
    <p:extLst>
      <p:ext uri="{BB962C8B-B14F-4D97-AF65-F5344CB8AC3E}">
        <p14:creationId xmlns:p14="http://schemas.microsoft.com/office/powerpoint/2010/main" xmlns="" val="2019517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2E27FDA6-6DFF-2332-69C6-A9BC8E65ED3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1FF56353-37A8-E795-EE8C-1E4F2666879D}"/>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709C3808-9A7B-1532-A1E3-AFE60B8980B8}"/>
              </a:ext>
            </a:extLst>
          </p:cNvPr>
          <p:cNvSpPr>
            <a:spLocks noGrp="1"/>
          </p:cNvSpPr>
          <p:nvPr>
            <p:ph type="sldNum" sz="quarter" idx="12"/>
          </p:nvPr>
        </p:nvSpPr>
        <p:spPr/>
        <p:txBody>
          <a:bodyPr/>
          <a:lstStyle/>
          <a:p>
            <a:fld id="{B5CEABB6-07DC-46E8-9B57-56EC44A396E5}" type="slidenum">
              <a:rPr lang="en-US" smtClean="0"/>
              <a:pPr/>
              <a:t>14</a:t>
            </a:fld>
            <a:endParaRPr lang="en-US" dirty="0"/>
          </a:p>
        </p:txBody>
      </p:sp>
      <p:sp>
        <p:nvSpPr>
          <p:cNvPr id="7" name="TextBox 6">
            <a:extLst>
              <a:ext uri="{FF2B5EF4-FFF2-40B4-BE49-F238E27FC236}">
                <a16:creationId xmlns:a16="http://schemas.microsoft.com/office/drawing/2014/main" xmlns="" id="{0BDEE4A2-83FE-9B02-140D-10C9472D3716}"/>
              </a:ext>
            </a:extLst>
          </p:cNvPr>
          <p:cNvSpPr txBox="1"/>
          <p:nvPr/>
        </p:nvSpPr>
        <p:spPr>
          <a:xfrm>
            <a:off x="3899196" y="0"/>
            <a:ext cx="5249322" cy="369332"/>
          </a:xfrm>
          <a:prstGeom prst="rect">
            <a:avLst/>
          </a:prstGeom>
          <a:noFill/>
        </p:spPr>
        <p:txBody>
          <a:bodyPr wrap="none" rtlCol="0">
            <a:spAutoFit/>
          </a:bodyPr>
          <a:lstStyle/>
          <a:p>
            <a:r>
              <a:rPr lang="en-IN" b="1" dirty="0"/>
              <a:t>Hyperparameter Tuning and Final Model Selection</a:t>
            </a:r>
            <a:endParaRPr lang="en-IN" dirty="0"/>
          </a:p>
        </p:txBody>
      </p:sp>
      <p:sp>
        <p:nvSpPr>
          <p:cNvPr id="8" name="TextBox 7">
            <a:extLst>
              <a:ext uri="{FF2B5EF4-FFF2-40B4-BE49-F238E27FC236}">
                <a16:creationId xmlns:a16="http://schemas.microsoft.com/office/drawing/2014/main" xmlns="" id="{0108754E-53B7-93B4-55A2-0C7C1CFFA7F7}"/>
              </a:ext>
            </a:extLst>
          </p:cNvPr>
          <p:cNvSpPr txBox="1"/>
          <p:nvPr/>
        </p:nvSpPr>
        <p:spPr>
          <a:xfrm>
            <a:off x="79513" y="655982"/>
            <a:ext cx="7255565" cy="5909310"/>
          </a:xfrm>
          <a:prstGeom prst="rect">
            <a:avLst/>
          </a:prstGeom>
          <a:noFill/>
        </p:spPr>
        <p:txBody>
          <a:bodyPr wrap="square" rtlCol="0">
            <a:spAutoFit/>
          </a:bodyPr>
          <a:lstStyle/>
          <a:p>
            <a:r>
              <a:rPr lang="en-US" dirty="0"/>
              <a:t>• Hyperparameter tuning was performed using Randomized Search with cross-validation . </a:t>
            </a:r>
          </a:p>
          <a:p>
            <a:endParaRPr lang="en-US" dirty="0"/>
          </a:p>
          <a:p>
            <a:r>
              <a:rPr lang="en-US" dirty="0"/>
              <a:t>• Key models such as KNN, Random Forest, and </a:t>
            </a:r>
            <a:r>
              <a:rPr lang="en-US" dirty="0" err="1"/>
              <a:t>XGBoost</a:t>
            </a:r>
            <a:r>
              <a:rPr lang="en-US" dirty="0"/>
              <a:t> were optimized  .</a:t>
            </a:r>
          </a:p>
          <a:p>
            <a:endParaRPr lang="en-US" dirty="0"/>
          </a:p>
          <a:p>
            <a:r>
              <a:rPr lang="en-US" dirty="0"/>
              <a:t>• The best parameters were selected based on model performance  .</a:t>
            </a:r>
          </a:p>
          <a:p>
            <a:endParaRPr lang="en-US" dirty="0"/>
          </a:p>
          <a:p>
            <a:r>
              <a:rPr lang="en-US" dirty="0"/>
              <a:t>• After tuning, </a:t>
            </a:r>
            <a:r>
              <a:rPr lang="en-US" dirty="0" err="1"/>
              <a:t>XGBoost</a:t>
            </a:r>
            <a:r>
              <a:rPr lang="en-US" dirty="0"/>
              <a:t> achieved the highest R² score (~0.98).  </a:t>
            </a:r>
          </a:p>
          <a:p>
            <a:endParaRPr lang="en-US" dirty="0"/>
          </a:p>
          <a:p>
            <a:r>
              <a:rPr lang="en-US" dirty="0"/>
              <a:t>• Random Forest also showed strong performance with slightly lower accuracy . </a:t>
            </a:r>
          </a:p>
          <a:p>
            <a:endParaRPr lang="en-US" dirty="0"/>
          </a:p>
          <a:p>
            <a:r>
              <a:rPr lang="en-US" dirty="0"/>
              <a:t>• KNN performance improved but remained lower compared to other models.  </a:t>
            </a:r>
          </a:p>
          <a:p>
            <a:endParaRPr lang="en-US" dirty="0"/>
          </a:p>
          <a:p>
            <a:r>
              <a:rPr lang="en-US" dirty="0"/>
              <a:t>• </a:t>
            </a:r>
            <a:r>
              <a:rPr lang="en-US" dirty="0" err="1"/>
              <a:t>XGBoost</a:t>
            </a:r>
            <a:r>
              <a:rPr lang="en-US" dirty="0"/>
              <a:t> was selected as the final model due to its superior accuracy and generalization ability . </a:t>
            </a:r>
          </a:p>
          <a:p>
            <a:endParaRPr lang="en-US" dirty="0"/>
          </a:p>
          <a:p>
            <a:r>
              <a:rPr lang="en-US" dirty="0"/>
              <a:t>• Cross-validation confirmed the model stability with consistent performance. </a:t>
            </a:r>
            <a:endParaRPr lang="en-IN" dirty="0"/>
          </a:p>
        </p:txBody>
      </p:sp>
      <p:pic>
        <p:nvPicPr>
          <p:cNvPr id="10" name="Picture 9">
            <a:extLst>
              <a:ext uri="{FF2B5EF4-FFF2-40B4-BE49-F238E27FC236}">
                <a16:creationId xmlns:a16="http://schemas.microsoft.com/office/drawing/2014/main" xmlns="" id="{5F6C3E42-1C01-856F-4EE0-195134801162}"/>
              </a:ext>
            </a:extLst>
          </p:cNvPr>
          <p:cNvPicPr>
            <a:picLocks noChangeAspect="1"/>
          </p:cNvPicPr>
          <p:nvPr/>
        </p:nvPicPr>
        <p:blipFill>
          <a:blip r:embed="rId2"/>
          <a:stretch>
            <a:fillRect/>
          </a:stretch>
        </p:blipFill>
        <p:spPr>
          <a:xfrm>
            <a:off x="7776726" y="460025"/>
            <a:ext cx="4415274" cy="2412383"/>
          </a:xfrm>
          <a:prstGeom prst="rect">
            <a:avLst/>
          </a:prstGeom>
        </p:spPr>
      </p:pic>
      <p:pic>
        <p:nvPicPr>
          <p:cNvPr id="12" name="Picture 11">
            <a:extLst>
              <a:ext uri="{FF2B5EF4-FFF2-40B4-BE49-F238E27FC236}">
                <a16:creationId xmlns:a16="http://schemas.microsoft.com/office/drawing/2014/main" xmlns="" id="{12820668-CC2C-4FC6-95DC-515AA4EC9392}"/>
              </a:ext>
            </a:extLst>
          </p:cNvPr>
          <p:cNvPicPr>
            <a:picLocks noChangeAspect="1"/>
          </p:cNvPicPr>
          <p:nvPr/>
        </p:nvPicPr>
        <p:blipFill>
          <a:blip r:embed="rId3"/>
          <a:stretch>
            <a:fillRect/>
          </a:stretch>
        </p:blipFill>
        <p:spPr>
          <a:xfrm>
            <a:off x="7686306" y="3284607"/>
            <a:ext cx="4505693" cy="3573393"/>
          </a:xfrm>
          <a:prstGeom prst="rect">
            <a:avLst/>
          </a:prstGeom>
        </p:spPr>
      </p:pic>
    </p:spTree>
    <p:extLst>
      <p:ext uri="{BB962C8B-B14F-4D97-AF65-F5344CB8AC3E}">
        <p14:creationId xmlns:p14="http://schemas.microsoft.com/office/powerpoint/2010/main" xmlns="" val="3340895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7C5B0F9A-B454-D1F4-185D-814C976212CD}"/>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EA23C606-F913-63C6-B80F-EF1D8B64AD4E}"/>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EB9366B2-5C2E-CBCD-D632-ED44FCC22451}"/>
              </a:ext>
            </a:extLst>
          </p:cNvPr>
          <p:cNvSpPr>
            <a:spLocks noGrp="1"/>
          </p:cNvSpPr>
          <p:nvPr>
            <p:ph type="sldNum" sz="quarter" idx="12"/>
          </p:nvPr>
        </p:nvSpPr>
        <p:spPr/>
        <p:txBody>
          <a:bodyPr/>
          <a:lstStyle/>
          <a:p>
            <a:fld id="{B5CEABB6-07DC-46E8-9B57-56EC44A396E5}" type="slidenum">
              <a:rPr lang="en-US" smtClean="0"/>
              <a:pPr/>
              <a:t>15</a:t>
            </a:fld>
            <a:endParaRPr lang="en-US" dirty="0"/>
          </a:p>
        </p:txBody>
      </p:sp>
      <p:sp>
        <p:nvSpPr>
          <p:cNvPr id="7" name="TextBox 6">
            <a:extLst>
              <a:ext uri="{FF2B5EF4-FFF2-40B4-BE49-F238E27FC236}">
                <a16:creationId xmlns:a16="http://schemas.microsoft.com/office/drawing/2014/main" xmlns="" id="{AAF3DEFC-67CB-9024-52F2-CC9E20DE1503}"/>
              </a:ext>
            </a:extLst>
          </p:cNvPr>
          <p:cNvSpPr txBox="1"/>
          <p:nvPr/>
        </p:nvSpPr>
        <p:spPr>
          <a:xfrm>
            <a:off x="4353339" y="89452"/>
            <a:ext cx="3928448" cy="369332"/>
          </a:xfrm>
          <a:prstGeom prst="rect">
            <a:avLst/>
          </a:prstGeom>
          <a:noFill/>
        </p:spPr>
        <p:txBody>
          <a:bodyPr wrap="none" rtlCol="0">
            <a:spAutoFit/>
          </a:bodyPr>
          <a:lstStyle/>
          <a:p>
            <a:r>
              <a:rPr lang="en-US" b="1" dirty="0"/>
              <a:t>Salary Range Prediction (Min &amp; Max)</a:t>
            </a:r>
            <a:endParaRPr lang="en-IN" b="1" dirty="0"/>
          </a:p>
        </p:txBody>
      </p:sp>
      <p:sp>
        <p:nvSpPr>
          <p:cNvPr id="8" name="TextBox 7">
            <a:extLst>
              <a:ext uri="{FF2B5EF4-FFF2-40B4-BE49-F238E27FC236}">
                <a16:creationId xmlns:a16="http://schemas.microsoft.com/office/drawing/2014/main" xmlns="" id="{6031B711-041F-E3AB-928D-F78387034436}"/>
              </a:ext>
            </a:extLst>
          </p:cNvPr>
          <p:cNvSpPr txBox="1"/>
          <p:nvPr/>
        </p:nvSpPr>
        <p:spPr>
          <a:xfrm>
            <a:off x="0" y="665922"/>
            <a:ext cx="7116417" cy="5632311"/>
          </a:xfrm>
          <a:prstGeom prst="rect">
            <a:avLst/>
          </a:prstGeom>
          <a:noFill/>
        </p:spPr>
        <p:txBody>
          <a:bodyPr wrap="square" rtlCol="0">
            <a:spAutoFit/>
          </a:bodyPr>
          <a:lstStyle/>
          <a:p>
            <a:r>
              <a:rPr lang="en-US" dirty="0"/>
              <a:t>• Separate models were trained to predict minimum and maximum salary values .</a:t>
            </a:r>
            <a:br>
              <a:rPr lang="en-US" dirty="0"/>
            </a:br>
            <a:r>
              <a:rPr lang="en-US" dirty="0"/>
              <a:t/>
            </a:r>
            <a:br>
              <a:rPr lang="en-US" dirty="0"/>
            </a:br>
            <a:r>
              <a:rPr lang="en-US" dirty="0"/>
              <a:t>• </a:t>
            </a:r>
            <a:r>
              <a:rPr lang="en-US" dirty="0" err="1"/>
              <a:t>XGBoost</a:t>
            </a:r>
            <a:r>
              <a:rPr lang="en-US" dirty="0"/>
              <a:t> was used due to its superior performance after tuning .</a:t>
            </a:r>
            <a:br>
              <a:rPr lang="en-US" dirty="0"/>
            </a:br>
            <a:r>
              <a:rPr lang="en-US" dirty="0"/>
              <a:t/>
            </a:r>
            <a:br>
              <a:rPr lang="en-US" dirty="0"/>
            </a:br>
            <a:r>
              <a:rPr lang="en-US" dirty="0"/>
              <a:t>• The model achieved high accuracy for both predictions .</a:t>
            </a:r>
            <a:br>
              <a:rPr lang="en-US" dirty="0"/>
            </a:br>
            <a:r>
              <a:rPr lang="en-US" dirty="0"/>
              <a:t/>
            </a:r>
            <a:br>
              <a:rPr lang="en-US" dirty="0"/>
            </a:br>
            <a:r>
              <a:rPr lang="en-US" dirty="0"/>
              <a:t>• Minimum Salary R²: ~0.92 </a:t>
            </a:r>
            <a:br>
              <a:rPr lang="en-US" dirty="0"/>
            </a:br>
            <a:r>
              <a:rPr lang="en-US" dirty="0"/>
              <a:t/>
            </a:r>
            <a:br>
              <a:rPr lang="en-US" dirty="0"/>
            </a:br>
            <a:r>
              <a:rPr lang="en-US" dirty="0"/>
              <a:t>• Maximum Salary R²: ~0.98 </a:t>
            </a:r>
            <a:br>
              <a:rPr lang="en-US" dirty="0"/>
            </a:br>
            <a:r>
              <a:rPr lang="en-US" dirty="0"/>
              <a:t/>
            </a:r>
            <a:br>
              <a:rPr lang="en-US" dirty="0"/>
            </a:br>
            <a:r>
              <a:rPr lang="en-US" dirty="0"/>
              <a:t>• The model effectively captures salary patterns and variations .</a:t>
            </a:r>
          </a:p>
          <a:p>
            <a:endParaRPr lang="en-US" dirty="0"/>
          </a:p>
          <a:p>
            <a:r>
              <a:rPr lang="en-US" dirty="0"/>
              <a:t>• The table shows a comparison between actual and predicted salary values .</a:t>
            </a:r>
            <a:br>
              <a:rPr lang="en-US" dirty="0"/>
            </a:br>
            <a:r>
              <a:rPr lang="en-US" dirty="0"/>
              <a:t/>
            </a:r>
            <a:br>
              <a:rPr lang="en-US" dirty="0"/>
            </a:br>
            <a:r>
              <a:rPr lang="en-US" dirty="0"/>
              <a:t>• Predicted values are very close to actual values, indicating high model accuracy .</a:t>
            </a:r>
            <a:br>
              <a:rPr lang="en-US" dirty="0"/>
            </a:br>
            <a:r>
              <a:rPr lang="en-US" dirty="0"/>
              <a:t/>
            </a:r>
            <a:br>
              <a:rPr lang="en-US" dirty="0"/>
            </a:br>
            <a:r>
              <a:rPr lang="en-US" dirty="0"/>
              <a:t>• This validates the effectiveness of the model in real-world scenarios. </a:t>
            </a:r>
            <a:endParaRPr lang="en-IN" dirty="0"/>
          </a:p>
        </p:txBody>
      </p:sp>
      <p:pic>
        <p:nvPicPr>
          <p:cNvPr id="10" name="Picture 9">
            <a:extLst>
              <a:ext uri="{FF2B5EF4-FFF2-40B4-BE49-F238E27FC236}">
                <a16:creationId xmlns:a16="http://schemas.microsoft.com/office/drawing/2014/main" xmlns="" id="{9EFD4084-D319-E16D-6FB1-B046D52049A4}"/>
              </a:ext>
            </a:extLst>
          </p:cNvPr>
          <p:cNvPicPr>
            <a:picLocks noChangeAspect="1"/>
          </p:cNvPicPr>
          <p:nvPr/>
        </p:nvPicPr>
        <p:blipFill>
          <a:blip r:embed="rId2"/>
          <a:stretch>
            <a:fillRect/>
          </a:stretch>
        </p:blipFill>
        <p:spPr>
          <a:xfrm>
            <a:off x="7162098" y="665922"/>
            <a:ext cx="5029902" cy="2544417"/>
          </a:xfrm>
          <a:prstGeom prst="rect">
            <a:avLst/>
          </a:prstGeom>
        </p:spPr>
      </p:pic>
      <p:pic>
        <p:nvPicPr>
          <p:cNvPr id="12" name="Picture 11">
            <a:extLst>
              <a:ext uri="{FF2B5EF4-FFF2-40B4-BE49-F238E27FC236}">
                <a16:creationId xmlns:a16="http://schemas.microsoft.com/office/drawing/2014/main" xmlns="" id="{BE958AED-CF67-65BF-5571-0EC48F7C8381}"/>
              </a:ext>
            </a:extLst>
          </p:cNvPr>
          <p:cNvPicPr>
            <a:picLocks noChangeAspect="1"/>
          </p:cNvPicPr>
          <p:nvPr/>
        </p:nvPicPr>
        <p:blipFill>
          <a:blip r:embed="rId3"/>
          <a:stretch>
            <a:fillRect/>
          </a:stretch>
        </p:blipFill>
        <p:spPr>
          <a:xfrm>
            <a:off x="7116417" y="3429000"/>
            <a:ext cx="5075583" cy="3429000"/>
          </a:xfrm>
          <a:prstGeom prst="rect">
            <a:avLst/>
          </a:prstGeom>
        </p:spPr>
      </p:pic>
    </p:spTree>
    <p:extLst>
      <p:ext uri="{BB962C8B-B14F-4D97-AF65-F5344CB8AC3E}">
        <p14:creationId xmlns:p14="http://schemas.microsoft.com/office/powerpoint/2010/main" xmlns="" val="2481168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9498B0F-4B16-108E-A125-AAD08F52F89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52750426-DAB6-4913-FF60-331BAA9964C0}"/>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E03DF3D7-38B3-21EA-0AD2-90441E34237C}"/>
              </a:ext>
            </a:extLst>
          </p:cNvPr>
          <p:cNvSpPr>
            <a:spLocks noGrp="1"/>
          </p:cNvSpPr>
          <p:nvPr>
            <p:ph type="sldNum" sz="quarter" idx="12"/>
          </p:nvPr>
        </p:nvSpPr>
        <p:spPr/>
        <p:txBody>
          <a:bodyPr/>
          <a:lstStyle/>
          <a:p>
            <a:fld id="{B5CEABB6-07DC-46E8-9B57-56EC44A396E5}" type="slidenum">
              <a:rPr lang="en-US" smtClean="0"/>
              <a:pPr/>
              <a:t>16</a:t>
            </a:fld>
            <a:endParaRPr lang="en-US" dirty="0"/>
          </a:p>
        </p:txBody>
      </p:sp>
      <p:pic>
        <p:nvPicPr>
          <p:cNvPr id="8" name="Picture 7">
            <a:extLst>
              <a:ext uri="{FF2B5EF4-FFF2-40B4-BE49-F238E27FC236}">
                <a16:creationId xmlns:a16="http://schemas.microsoft.com/office/drawing/2014/main" xmlns="" id="{FCCDABDE-9380-3B1A-3504-EAC94A99789A}"/>
              </a:ext>
            </a:extLst>
          </p:cNvPr>
          <p:cNvPicPr>
            <a:picLocks noChangeAspect="1"/>
          </p:cNvPicPr>
          <p:nvPr/>
        </p:nvPicPr>
        <p:blipFill>
          <a:blip r:embed="rId2"/>
          <a:stretch>
            <a:fillRect/>
          </a:stretch>
        </p:blipFill>
        <p:spPr>
          <a:xfrm>
            <a:off x="8468139" y="69575"/>
            <a:ext cx="3723861" cy="6788425"/>
          </a:xfrm>
          <a:prstGeom prst="rect">
            <a:avLst/>
          </a:prstGeom>
        </p:spPr>
      </p:pic>
      <p:sp>
        <p:nvSpPr>
          <p:cNvPr id="9" name="TextBox 8">
            <a:extLst>
              <a:ext uri="{FF2B5EF4-FFF2-40B4-BE49-F238E27FC236}">
                <a16:creationId xmlns:a16="http://schemas.microsoft.com/office/drawing/2014/main" xmlns="" id="{13959A9E-34FD-70CD-5A07-12F760EBE861}"/>
              </a:ext>
            </a:extLst>
          </p:cNvPr>
          <p:cNvSpPr txBox="1"/>
          <p:nvPr/>
        </p:nvSpPr>
        <p:spPr>
          <a:xfrm>
            <a:off x="3911307" y="136525"/>
            <a:ext cx="5146089" cy="369332"/>
          </a:xfrm>
          <a:prstGeom prst="rect">
            <a:avLst/>
          </a:prstGeom>
          <a:noFill/>
        </p:spPr>
        <p:txBody>
          <a:bodyPr wrap="none" rtlCol="0">
            <a:spAutoFit/>
          </a:bodyPr>
          <a:lstStyle/>
          <a:p>
            <a:r>
              <a:rPr lang="en-US" dirty="0"/>
              <a:t>Model Interpretation, Validation and Model saved</a:t>
            </a:r>
            <a:endParaRPr lang="en-IN" dirty="0"/>
          </a:p>
        </p:txBody>
      </p:sp>
      <p:sp>
        <p:nvSpPr>
          <p:cNvPr id="11" name="TextBox 10">
            <a:extLst>
              <a:ext uri="{FF2B5EF4-FFF2-40B4-BE49-F238E27FC236}">
                <a16:creationId xmlns:a16="http://schemas.microsoft.com/office/drawing/2014/main" xmlns="" id="{7C08D7A0-655E-B7A0-C56D-5D1D0E929C8F}"/>
              </a:ext>
            </a:extLst>
          </p:cNvPr>
          <p:cNvSpPr txBox="1"/>
          <p:nvPr/>
        </p:nvSpPr>
        <p:spPr>
          <a:xfrm>
            <a:off x="361359" y="572807"/>
            <a:ext cx="7134639" cy="4247317"/>
          </a:xfrm>
          <a:prstGeom prst="rect">
            <a:avLst/>
          </a:prstGeom>
          <a:noFill/>
        </p:spPr>
        <p:txBody>
          <a:bodyPr wrap="square" rtlCol="0">
            <a:spAutoFit/>
          </a:bodyPr>
          <a:lstStyle/>
          <a:p>
            <a:r>
              <a:rPr lang="en-US" dirty="0"/>
              <a:t>• SHAP was used to interpret model predictions and understand feature importance  .</a:t>
            </a:r>
          </a:p>
          <a:p>
            <a:endParaRPr lang="en-US" dirty="0"/>
          </a:p>
          <a:p>
            <a:r>
              <a:rPr lang="en-US" dirty="0"/>
              <a:t>• Key features such as Salary Frequency, Level, and Civil Service Title have the highest impact on salary prediction  .</a:t>
            </a:r>
          </a:p>
          <a:p>
            <a:endParaRPr lang="en-US" dirty="0"/>
          </a:p>
          <a:p>
            <a:r>
              <a:rPr lang="en-US" dirty="0"/>
              <a:t>• Error analysis was performed to evaluate model performance . </a:t>
            </a:r>
          </a:p>
          <a:p>
            <a:endParaRPr lang="en-US" dirty="0"/>
          </a:p>
          <a:p>
            <a:r>
              <a:rPr lang="en-US" dirty="0"/>
              <a:t>• The error plot shows that most prediction errors are centered around zero, indicating good model accuracy . </a:t>
            </a:r>
          </a:p>
          <a:p>
            <a:endParaRPr lang="en-US" dirty="0"/>
          </a:p>
          <a:p>
            <a:r>
              <a:rPr lang="en-US" dirty="0"/>
              <a:t>• No strong pattern in residuals suggests that the model is well-fitted and unbiased  .</a:t>
            </a:r>
          </a:p>
          <a:p>
            <a:endParaRPr lang="en-US" dirty="0"/>
          </a:p>
          <a:p>
            <a:r>
              <a:rPr lang="en-US" dirty="0"/>
              <a:t>• The trained models were saved using the </a:t>
            </a:r>
            <a:r>
              <a:rPr lang="en-US" dirty="0" err="1"/>
              <a:t>joblib</a:t>
            </a:r>
            <a:r>
              <a:rPr lang="en-US" dirty="0"/>
              <a:t> library for future use.</a:t>
            </a:r>
          </a:p>
        </p:txBody>
      </p:sp>
    </p:spTree>
    <p:extLst>
      <p:ext uri="{BB962C8B-B14F-4D97-AF65-F5344CB8AC3E}">
        <p14:creationId xmlns:p14="http://schemas.microsoft.com/office/powerpoint/2010/main" xmlns="" val="3401286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20XX</a:t>
            </a:r>
            <a:endParaRPr lang="en-US" dirty="0"/>
          </a:p>
        </p:txBody>
      </p:sp>
      <p:sp>
        <p:nvSpPr>
          <p:cNvPr id="5" name="Footer Placeholder 4"/>
          <p:cNvSpPr>
            <a:spLocks noGrp="1"/>
          </p:cNvSpPr>
          <p:nvPr>
            <p:ph type="ftr" sz="quarter" idx="11"/>
          </p:nvPr>
        </p:nvSpPr>
        <p:spPr/>
        <p:txBody>
          <a:bodyPr/>
          <a:lstStyle/>
          <a:p>
            <a:r>
              <a:rPr lang="en-US" smtClean="0"/>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17</a:t>
            </a:fld>
            <a:endParaRPr lang="en-US" dirty="0"/>
          </a:p>
        </p:txBody>
      </p:sp>
      <p:pic>
        <p:nvPicPr>
          <p:cNvPr id="7" name="Picture 6" descr="Screenshot 2026-04-22 002150.png"/>
          <p:cNvPicPr>
            <a:picLocks noChangeAspect="1"/>
          </p:cNvPicPr>
          <p:nvPr/>
        </p:nvPicPr>
        <p:blipFill>
          <a:blip r:embed="rId2"/>
          <a:stretch>
            <a:fillRect/>
          </a:stretch>
        </p:blipFill>
        <p:spPr>
          <a:xfrm>
            <a:off x="0" y="7585"/>
            <a:ext cx="12192000" cy="68428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9CC00FF9-962C-8D80-E2CC-F49EFD7F474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xmlns="" id="{4FB6D711-3861-3473-2BF5-F7B1F3CF3744}"/>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xmlns="" id="{2B0E5EAA-43D9-26EB-64F3-02FB4227C6E1}"/>
              </a:ext>
            </a:extLst>
          </p:cNvPr>
          <p:cNvSpPr>
            <a:spLocks noGrp="1"/>
          </p:cNvSpPr>
          <p:nvPr>
            <p:ph type="sldNum" sz="quarter" idx="12"/>
          </p:nvPr>
        </p:nvSpPr>
        <p:spPr/>
        <p:txBody>
          <a:bodyPr/>
          <a:lstStyle/>
          <a:p>
            <a:fld id="{B5CEABB6-07DC-46E8-9B57-56EC44A396E5}" type="slidenum">
              <a:rPr lang="en-US" smtClean="0"/>
              <a:pPr/>
              <a:t>18</a:t>
            </a:fld>
            <a:endParaRPr lang="en-US" dirty="0"/>
          </a:p>
        </p:txBody>
      </p:sp>
      <p:sp>
        <p:nvSpPr>
          <p:cNvPr id="7" name="TextBox 6">
            <a:extLst>
              <a:ext uri="{FF2B5EF4-FFF2-40B4-BE49-F238E27FC236}">
                <a16:creationId xmlns:a16="http://schemas.microsoft.com/office/drawing/2014/main" xmlns="" id="{A961A7DA-AEB3-D5B4-5A0F-E7D54961AD55}"/>
              </a:ext>
            </a:extLst>
          </p:cNvPr>
          <p:cNvSpPr txBox="1"/>
          <p:nvPr/>
        </p:nvSpPr>
        <p:spPr>
          <a:xfrm>
            <a:off x="4496103" y="0"/>
            <a:ext cx="3067956" cy="369332"/>
          </a:xfrm>
          <a:prstGeom prst="rect">
            <a:avLst/>
          </a:prstGeom>
          <a:noFill/>
        </p:spPr>
        <p:txBody>
          <a:bodyPr wrap="none" rtlCol="0">
            <a:spAutoFit/>
          </a:bodyPr>
          <a:lstStyle/>
          <a:p>
            <a:r>
              <a:rPr lang="en-IN" b="1" dirty="0"/>
              <a:t>Conclusion and Future Scope</a:t>
            </a:r>
            <a:endParaRPr lang="en-IN" dirty="0"/>
          </a:p>
        </p:txBody>
      </p:sp>
      <p:sp>
        <p:nvSpPr>
          <p:cNvPr id="8" name="TextBox 7">
            <a:extLst>
              <a:ext uri="{FF2B5EF4-FFF2-40B4-BE49-F238E27FC236}">
                <a16:creationId xmlns:a16="http://schemas.microsoft.com/office/drawing/2014/main" xmlns="" id="{30BC0079-0E54-6646-8162-C071C3A89ED5}"/>
              </a:ext>
            </a:extLst>
          </p:cNvPr>
          <p:cNvSpPr txBox="1"/>
          <p:nvPr/>
        </p:nvSpPr>
        <p:spPr>
          <a:xfrm>
            <a:off x="329648" y="506895"/>
            <a:ext cx="10928569" cy="2585323"/>
          </a:xfrm>
          <a:prstGeom prst="rect">
            <a:avLst/>
          </a:prstGeom>
          <a:noFill/>
        </p:spPr>
        <p:txBody>
          <a:bodyPr wrap="none" rtlCol="0">
            <a:spAutoFit/>
          </a:bodyPr>
          <a:lstStyle/>
          <a:p>
            <a:r>
              <a:rPr lang="en-US" dirty="0"/>
              <a:t>• A machine learning model was successfully developed to predict salary ranges (minimum and maximum) . </a:t>
            </a:r>
          </a:p>
          <a:p>
            <a:endParaRPr lang="en-US" dirty="0"/>
          </a:p>
          <a:p>
            <a:r>
              <a:rPr lang="en-US" dirty="0"/>
              <a:t>• </a:t>
            </a:r>
            <a:r>
              <a:rPr lang="en-US" dirty="0" err="1"/>
              <a:t>XGBoost</a:t>
            </a:r>
            <a:r>
              <a:rPr lang="en-US" dirty="0"/>
              <a:t> achieved the best performance with high accuracy and strong generalization ability . </a:t>
            </a:r>
          </a:p>
          <a:p>
            <a:endParaRPr lang="en-US" dirty="0"/>
          </a:p>
          <a:p>
            <a:r>
              <a:rPr lang="en-US" dirty="0"/>
              <a:t>• The model effectively captures relationships between job features and salary  .</a:t>
            </a:r>
          </a:p>
          <a:p>
            <a:endParaRPr lang="en-US" dirty="0"/>
          </a:p>
          <a:p>
            <a:r>
              <a:rPr lang="en-US" dirty="0"/>
              <a:t>• Predicted salary values closely match actual values, indicating reliable performance  .</a:t>
            </a:r>
          </a:p>
          <a:p>
            <a:endParaRPr lang="en-US" dirty="0"/>
          </a:p>
          <a:p>
            <a:r>
              <a:rPr lang="en-US" dirty="0"/>
              <a:t>• This solution can support better hiring decisions by providing accurate and transparent salary estimates .</a:t>
            </a:r>
            <a:endParaRPr lang="en-IN" dirty="0"/>
          </a:p>
        </p:txBody>
      </p:sp>
      <p:sp>
        <p:nvSpPr>
          <p:cNvPr id="9" name="TextBox 8">
            <a:extLst>
              <a:ext uri="{FF2B5EF4-FFF2-40B4-BE49-F238E27FC236}">
                <a16:creationId xmlns:a16="http://schemas.microsoft.com/office/drawing/2014/main" xmlns="" id="{7345ABA7-B485-62FC-D89D-246E1465CAF5}"/>
              </a:ext>
            </a:extLst>
          </p:cNvPr>
          <p:cNvSpPr txBox="1"/>
          <p:nvPr/>
        </p:nvSpPr>
        <p:spPr>
          <a:xfrm>
            <a:off x="4877746" y="3475148"/>
            <a:ext cx="2686313" cy="369332"/>
          </a:xfrm>
          <a:prstGeom prst="rect">
            <a:avLst/>
          </a:prstGeom>
          <a:noFill/>
        </p:spPr>
        <p:txBody>
          <a:bodyPr wrap="none" rtlCol="0">
            <a:spAutoFit/>
          </a:bodyPr>
          <a:lstStyle/>
          <a:p>
            <a:r>
              <a:rPr lang="en-IN" b="1" dirty="0"/>
              <a:t>FUTURE IMPROVEMENTS</a:t>
            </a:r>
          </a:p>
        </p:txBody>
      </p:sp>
      <p:sp>
        <p:nvSpPr>
          <p:cNvPr id="10" name="TextBox 9">
            <a:extLst>
              <a:ext uri="{FF2B5EF4-FFF2-40B4-BE49-F238E27FC236}">
                <a16:creationId xmlns:a16="http://schemas.microsoft.com/office/drawing/2014/main" xmlns="" id="{656D3864-1B3C-6BD9-A5DE-6BF99F2350D0}"/>
              </a:ext>
            </a:extLst>
          </p:cNvPr>
          <p:cNvSpPr txBox="1"/>
          <p:nvPr/>
        </p:nvSpPr>
        <p:spPr>
          <a:xfrm>
            <a:off x="495000" y="3757428"/>
            <a:ext cx="7458260" cy="2031325"/>
          </a:xfrm>
          <a:prstGeom prst="rect">
            <a:avLst/>
          </a:prstGeom>
          <a:noFill/>
        </p:spPr>
        <p:txBody>
          <a:bodyPr wrap="none" rtlCol="0">
            <a:spAutoFit/>
          </a:bodyPr>
          <a:lstStyle/>
          <a:p>
            <a:r>
              <a:rPr lang="en-US" dirty="0"/>
              <a:t>• Remove direct salary-related features to improve model generalization .</a:t>
            </a:r>
            <a:br>
              <a:rPr lang="en-US" dirty="0"/>
            </a:br>
            <a:r>
              <a:rPr lang="en-US" dirty="0"/>
              <a:t/>
            </a:r>
            <a:br>
              <a:rPr lang="en-US" dirty="0"/>
            </a:br>
            <a:r>
              <a:rPr lang="en-US" dirty="0"/>
              <a:t>• Apply advanced NLP techniques on job descriptions for deeper insights. </a:t>
            </a:r>
            <a:br>
              <a:rPr lang="en-US" dirty="0"/>
            </a:br>
            <a:r>
              <a:rPr lang="en-US" dirty="0"/>
              <a:t/>
            </a:r>
            <a:br>
              <a:rPr lang="en-US" dirty="0"/>
            </a:br>
            <a:r>
              <a:rPr lang="en-US" dirty="0"/>
              <a:t>• Explore deep learning models for improved feature representation .</a:t>
            </a:r>
            <a:br>
              <a:rPr lang="en-US" dirty="0"/>
            </a:br>
            <a:r>
              <a:rPr lang="en-US" dirty="0"/>
              <a:t/>
            </a:r>
            <a:br>
              <a:rPr lang="en-US" dirty="0"/>
            </a:br>
            <a:r>
              <a:rPr lang="en-US" dirty="0"/>
              <a:t>• Deploy the model as a web application using </a:t>
            </a:r>
            <a:r>
              <a:rPr lang="en-US" dirty="0" err="1"/>
              <a:t>Streamlit</a:t>
            </a:r>
            <a:r>
              <a:rPr lang="en-US" dirty="0"/>
              <a:t> or Flask .</a:t>
            </a:r>
            <a:endParaRPr lang="en-IN" dirty="0"/>
          </a:p>
        </p:txBody>
      </p:sp>
    </p:spTree>
    <p:extLst>
      <p:ext uri="{BB962C8B-B14F-4D97-AF65-F5344CB8AC3E}">
        <p14:creationId xmlns:p14="http://schemas.microsoft.com/office/powerpoint/2010/main" xmlns="" val="3209379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4" name="Date Placeholder 3">
            <a:extLst>
              <a:ext uri="{FF2B5EF4-FFF2-40B4-BE49-F238E27FC236}">
                <a16:creationId xmlns:a16="http://schemas.microsoft.com/office/drawing/2014/main" xmlns=""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xmlns=""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xmlns=""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xmlns=""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526</TotalTime>
  <Words>1203</Words>
  <Application>Microsoft Office PowerPoint</Application>
  <PresentationFormat>Custom</PresentationFormat>
  <Paragraphs>221</Paragraphs>
  <Slides>19</Slides>
  <Notes>3</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Monoline</vt:lpstr>
      <vt:lpstr>Salary Range Prediction for Job listings  </vt:lpstr>
      <vt:lpstr>Introduction</vt:lpstr>
      <vt:lpstr>Dataset Overview</vt:lpstr>
      <vt:lpstr>DATA PREPROCESSING</vt:lpstr>
      <vt:lpstr>Exploratory Data Analysis (EDA)</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 Range Prediction for Job listings  </dc:title>
  <dc:creator>Ritesh Kumar</dc:creator>
  <cp:lastModifiedBy>LOQ</cp:lastModifiedBy>
  <cp:revision>4</cp:revision>
  <dcterms:created xsi:type="dcterms:W3CDTF">2026-04-18T13:17:48Z</dcterms:created>
  <dcterms:modified xsi:type="dcterms:W3CDTF">2026-04-21T18:53:23Z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