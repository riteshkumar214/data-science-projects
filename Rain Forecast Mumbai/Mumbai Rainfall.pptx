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5" r:id="rId2"/>
    <p:sldId id="310" r:id="rId3"/>
    <p:sldId id="311" r:id="rId4"/>
    <p:sldId id="313" r:id="rId5"/>
    <p:sldId id="314" r:id="rId6"/>
    <p:sldId id="315" r:id="rId7"/>
    <p:sldId id="316" r:id="rId8"/>
    <p:sldId id="317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</p:sldIdLst>
  <p:sldSz cx="12188825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5298D2-2BBD-44FE-A3B5-4A69CDEAF76D}" v="181" dt="2026-05-21T02:22:45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5/21/2026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5/21/2026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5/21/2026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61764" y="1268760"/>
            <a:ext cx="8229600" cy="2103512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Mumbai Rainfall</a:t>
            </a:r>
            <a:br>
              <a:rPr lang="en-US" dirty="0"/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748" y="3861048"/>
            <a:ext cx="8229600" cy="500608"/>
          </a:xfrm>
        </p:spPr>
        <p:txBody>
          <a:bodyPr/>
          <a:lstStyle/>
          <a:p>
            <a:r>
              <a:rPr lang="en-US" dirty="0">
                <a:solidFill>
                  <a:srgbClr val="AED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for Water Resource Planning</a:t>
            </a:r>
            <a:endParaRPr lang="en-US" dirty="0"/>
          </a:p>
          <a:p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47832-F23D-3681-7067-EA7D348E2B0C}"/>
              </a:ext>
            </a:extLst>
          </p:cNvPr>
          <p:cNvSpPr txBox="1"/>
          <p:nvPr/>
        </p:nvSpPr>
        <p:spPr>
          <a:xfrm>
            <a:off x="429095" y="5517232"/>
            <a:ext cx="1810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 Years of Data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D8853-BBEC-A16C-2359-39A2753E6A73}"/>
              </a:ext>
            </a:extLst>
          </p:cNvPr>
          <p:cNvSpPr txBox="1"/>
          <p:nvPr/>
        </p:nvSpPr>
        <p:spPr>
          <a:xfrm>
            <a:off x="3790156" y="5510742"/>
            <a:ext cx="1342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1901 – 2021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B6FD5-CCE0-EF63-B4EE-D29D9306E314}"/>
              </a:ext>
            </a:extLst>
          </p:cNvPr>
          <p:cNvSpPr txBox="1"/>
          <p:nvPr/>
        </p:nvSpPr>
        <p:spPr>
          <a:xfrm>
            <a:off x="6886500" y="5517232"/>
            <a:ext cx="2266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Model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BFE11-BE7C-1E4A-B059-B11CBBE99A85}"/>
              </a:ext>
            </a:extLst>
          </p:cNvPr>
          <p:cNvSpPr txBox="1"/>
          <p:nvPr/>
        </p:nvSpPr>
        <p:spPr>
          <a:xfrm>
            <a:off x="9779291" y="5510741"/>
            <a:ext cx="1493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 Forecast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718C8DB-6C69-8467-5BE1-B25EBAD95B84}"/>
              </a:ext>
            </a:extLst>
          </p:cNvPr>
          <p:cNvSpPr txBox="1"/>
          <p:nvPr/>
        </p:nvSpPr>
        <p:spPr>
          <a:xfrm>
            <a:off x="117748" y="356463"/>
            <a:ext cx="12071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600" dirty="0"/>
          </a:p>
          <a:p>
            <a:endParaRPr lang="en-IN" sz="3600" dirty="0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3E96A023-AB2D-919E-C680-103E669E2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3" y="1124744"/>
            <a:ext cx="120710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forecasting plays a critical role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resource planning, reservoir management, and efficient water allocation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 experiences highly seasonal rainfall, with the majority occurring during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monsoon months (June–September)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rainfall prediction is essential to ensure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 water supply for residents and industries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121 years of historical monthly rainfall data (1901–2021)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analysis and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forecasting approaches were explored to develop an effective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learning-based rainfall prediction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40" y="152400"/>
            <a:ext cx="9144001" cy="13716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0652D7-6B46-C45E-2981-A60B55D22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96752"/>
            <a:ext cx="1187625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Mumbai’s water management operations depend heavily on accurate rainfall forecasting for effective planning and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Uncertain rainfall patterns make it difficult to optimize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allocation, reservoir storage, and distribution strategies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Below-average rainfall can lead to water shortages, while inaccurate planning may increase operational inefficiencies and costs.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forecasting capability reduces preparedness for drought conditions and affects infrastructure maintenance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there is a need for a reliable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rainfall forecasting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future rainfall patterns and support efficient water resource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5" y="404664"/>
            <a:ext cx="9144001" cy="815752"/>
          </a:xfrm>
        </p:spPr>
        <p:txBody>
          <a:bodyPr>
            <a:normAutofit fontScale="90000"/>
          </a:bodyPr>
          <a:lstStyle/>
          <a:p>
            <a:r>
              <a:rPr lang="en-US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br>
              <a:rPr lang="en-US" dirty="0"/>
            </a:br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5F1C4A8-1215-361B-6879-C010BCD37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4" y="764704"/>
            <a:ext cx="113772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rainfall forecasting model using historical rainfall data from Mumbai.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future monthly rainfall patterns to improve planning and preparedness.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authorities make better decisions for water storage, distribution, and conservation.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Enable proactive drought preparedness and water conservation planning.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in scheduling infrastructure maintenance during low-rainfall periods. </a:t>
            </a:r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7" y="1623"/>
            <a:ext cx="8692399" cy="1274440"/>
          </a:xfrm>
        </p:spPr>
        <p:txBody>
          <a:bodyPr>
            <a:normAutofit fontScale="90000"/>
          </a:bodyPr>
          <a:lstStyle/>
          <a:p>
            <a:r>
              <a:rPr lang="en-US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33" y="908720"/>
            <a:ext cx="8687333" cy="60960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 Years of Mumbai Rainfall Data (1901–2021)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06235-C61A-9F52-F53F-FD5FA254A547}"/>
              </a:ext>
            </a:extLst>
          </p:cNvPr>
          <p:cNvSpPr/>
          <p:nvPr/>
        </p:nvSpPr>
        <p:spPr>
          <a:xfrm>
            <a:off x="405780" y="1518321"/>
            <a:ext cx="2520280" cy="1274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Years of Data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DA0E08-839D-1344-8C58-255FDFD0DF68}"/>
              </a:ext>
            </a:extLst>
          </p:cNvPr>
          <p:cNvSpPr/>
          <p:nvPr/>
        </p:nvSpPr>
        <p:spPr>
          <a:xfrm>
            <a:off x="3214092" y="1545940"/>
            <a:ext cx="2664296" cy="1274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1,452</a:t>
            </a:r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Records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8884EE-F4EE-981B-0158-B7DA2D2BE2F3}"/>
              </a:ext>
            </a:extLst>
          </p:cNvPr>
          <p:cNvSpPr/>
          <p:nvPr/>
        </p:nvSpPr>
        <p:spPr>
          <a:xfrm>
            <a:off x="6083561" y="1545940"/>
            <a:ext cx="2808312" cy="1274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2,168 mm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Annual Rainfall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BFE3C-9FD0-D832-0783-8C714EB72155}"/>
              </a:ext>
            </a:extLst>
          </p:cNvPr>
          <p:cNvSpPr/>
          <p:nvPr/>
        </p:nvSpPr>
        <p:spPr>
          <a:xfrm>
            <a:off x="9478788" y="1545941"/>
            <a:ext cx="2448272" cy="1246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~85%</a:t>
            </a:r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Monsoon Contribution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(Jun–Sep)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D985038-A28E-69E5-8A6D-89AADAC5B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12482"/>
              </p:ext>
            </p:extLst>
          </p:nvPr>
        </p:nvGraphicFramePr>
        <p:xfrm>
          <a:off x="0" y="4019769"/>
          <a:ext cx="7378690" cy="2818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345">
                  <a:extLst>
                    <a:ext uri="{9D8B030D-6E8A-4147-A177-3AD203B41FA5}">
                      <a16:colId xmlns:a16="http://schemas.microsoft.com/office/drawing/2014/main" val="4237810335"/>
                    </a:ext>
                  </a:extLst>
                </a:gridCol>
                <a:gridCol w="3689345">
                  <a:extLst>
                    <a:ext uri="{9D8B030D-6E8A-4147-A177-3AD203B41FA5}">
                      <a16:colId xmlns:a16="http://schemas.microsoft.com/office/drawing/2014/main" val="1694214589"/>
                    </a:ext>
                  </a:extLst>
                </a:gridCol>
              </a:tblGrid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Attribute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100895"/>
                  </a:ext>
                </a:extLst>
              </a:tr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Wettest Year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2020 (3,563 mm)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91839"/>
                  </a:ext>
                </a:extLst>
              </a:tr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Driest Year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1941 (1,059 mm)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42171"/>
                  </a:ext>
                </a:extLst>
              </a:tr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 Values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39574"/>
                  </a:ext>
                </a:extLst>
              </a:tr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Long-term Trend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+4.78 mm/year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438076"/>
                  </a:ext>
                </a:extLst>
              </a:tr>
              <a:tr h="469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Format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Monthly totals (mm)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8548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E180FA-1D74-537B-5AB8-FF3630C00FDB}"/>
              </a:ext>
            </a:extLst>
          </p:cNvPr>
          <p:cNvSpPr txBox="1"/>
          <p:nvPr/>
        </p:nvSpPr>
        <p:spPr>
          <a:xfrm>
            <a:off x="117748" y="3331241"/>
            <a:ext cx="18515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Statistics</a:t>
            </a:r>
            <a:endParaRPr lang="en-US" sz="2400" dirty="0"/>
          </a:p>
          <a:p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60638A-5080-62A5-B0D2-9A8B7F1839F7}"/>
              </a:ext>
            </a:extLst>
          </p:cNvPr>
          <p:cNvSpPr/>
          <p:nvPr/>
        </p:nvSpPr>
        <p:spPr>
          <a:xfrm>
            <a:off x="7534571" y="4044837"/>
            <a:ext cx="4392489" cy="2768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Monsoon Seasonality</a:t>
            </a:r>
            <a:endParaRPr lang="en-US" dirty="0"/>
          </a:p>
          <a:p>
            <a:r>
              <a:rPr lang="en-US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June–September contributes roughly </a:t>
            </a:r>
            <a:r>
              <a:rPr lang="en-US" b="1" dirty="0">
                <a:solidFill>
                  <a:srgbClr val="1A7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85%</a:t>
            </a:r>
            <a:r>
              <a:rPr lang="en-US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all annual rainfall. This extreme concentration makes monsoon prediction the single most critical factor for water planning.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011"/>
            <a:ext cx="9144001" cy="762001"/>
          </a:xfrm>
        </p:spPr>
        <p:txBody>
          <a:bodyPr/>
          <a:lstStyle/>
          <a:p>
            <a:r>
              <a:rPr lang="en-US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26" y="746990"/>
            <a:ext cx="11823842" cy="762000"/>
          </a:xfrm>
        </p:spPr>
        <p:txBody>
          <a:bodyPr/>
          <a:lstStyle/>
          <a:p>
            <a:r>
              <a:rPr lang="en-US" dirty="0"/>
              <a:t>Historical Monthly Rainfall Trends in Mumbai (1901–2021)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BBD114-02B4-0BAB-A403-A2F15CF34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00808"/>
            <a:ext cx="7174532" cy="51571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FF5A6A-1440-974C-1867-98B98D70146D}"/>
              </a:ext>
            </a:extLst>
          </p:cNvPr>
          <p:cNvSpPr/>
          <p:nvPr/>
        </p:nvSpPr>
        <p:spPr>
          <a:xfrm>
            <a:off x="7534572" y="1700808"/>
            <a:ext cx="446449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kern="0" spc="4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clear repeating seasonal rainfall pattern is observed across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Rainfall remains close to near-zero during most non-monsoon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years show extreme rainfall peaks, indicating unusually high rainfall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Rainfall is heavily concentrated during the monsoon months (June–September) each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fluctuations, the overall seasonal rainfall cycle remains consistent over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E21F2F-C2A5-DE4B-F45D-2ADEBA3C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1" y="12778"/>
            <a:ext cx="9144001" cy="1371600"/>
          </a:xfrm>
        </p:spPr>
        <p:txBody>
          <a:bodyPr/>
          <a:lstStyle/>
          <a:p>
            <a:r>
              <a:rPr lang="en-US" dirty="0"/>
              <a:t>Peak Rainfall Occurs During the Monsoon Season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2DC19-C99D-60A8-B5DB-E57020136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7102524" cy="50724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A9ECE9-9399-73C0-2DE0-7B674CD6F615}"/>
              </a:ext>
            </a:extLst>
          </p:cNvPr>
          <p:cNvSpPr/>
          <p:nvPr/>
        </p:nvSpPr>
        <p:spPr>
          <a:xfrm>
            <a:off x="7245426" y="1844824"/>
            <a:ext cx="4942285" cy="43924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June – September</a:t>
            </a:r>
            <a:br>
              <a:rPr lang="en-US" dirty="0"/>
            </a:br>
            <a:r>
              <a:rPr lang="en-US" i="1" dirty="0"/>
              <a:t>4-month monsoon window driving the strongest rainfall patterns in Mumbai.</a:t>
            </a:r>
          </a:p>
          <a:p>
            <a:r>
              <a:rPr lang="en-US" b="1" i="1" dirty="0"/>
              <a:t>Key Observations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Rainfall is strongly concentrated during the June–September monsoon season.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July shows the highest rainfall intensity, followed by August.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Non-monsoon months receive </a:t>
            </a:r>
            <a:r>
              <a:rPr lang="en-US" b="1" dirty="0"/>
              <a:t>minimal rainfall</a:t>
            </a:r>
            <a:r>
              <a:rPr lang="en-US" dirty="0"/>
              <a:t> in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consistent seasonality makes historical rainfall highly useful for forecasting future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1B441-9430-8CD6-C7FE-4523847B1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104"/>
            <a:ext cx="7534571" cy="6078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29F68-2740-8867-7DD2-B9CB8BDFC734}"/>
              </a:ext>
            </a:extLst>
          </p:cNvPr>
          <p:cNvSpPr txBox="1"/>
          <p:nvPr/>
        </p:nvSpPr>
        <p:spPr>
          <a:xfrm>
            <a:off x="189756" y="188640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Annual Rainfall Variability in Mumbai (1901–2021)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D9CDD-E9D7-55BC-160F-CD0A5B1AE52C}"/>
              </a:ext>
            </a:extLst>
          </p:cNvPr>
          <p:cNvSpPr/>
          <p:nvPr/>
        </p:nvSpPr>
        <p:spPr>
          <a:xfrm>
            <a:off x="8038628" y="1340768"/>
            <a:ext cx="3960440" cy="4608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rainfall varies significantly from year to year.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years experienced very high rainfall, while others recorded much lower totals.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gradual increase in annual rainfall can be observed over the long term.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years show more frequent high-rainfall events compared to earlier decades.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fluctuations highlight the need for accurate rainfall forecasting for better planning.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B37D04-6CB4-C661-690F-276610548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7966621" cy="3674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86CD23-EF31-75AD-F6BA-648B6ABA3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73016"/>
            <a:ext cx="7966620" cy="32849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7FEA13-10AD-28E6-2A3D-8F25EDCBBDA6}"/>
              </a:ext>
            </a:extLst>
          </p:cNvPr>
          <p:cNvSpPr/>
          <p:nvPr/>
        </p:nvSpPr>
        <p:spPr>
          <a:xfrm>
            <a:off x="8542684" y="1124744"/>
            <a:ext cx="3456384" cy="53285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Key observations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Rainfall is clearly concentrated in a few specific months each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heaviest rainfall consistently occurs during the </a:t>
            </a:r>
            <a:r>
              <a:rPr lang="en-US" b="1" dirty="0"/>
              <a:t>mid-monsoon period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years experienced much stronger rainfall than others, visible through darker intensity bands.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months outside the monsoon season receive very little rainfall.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consistent seasonal rainfall pattern is visible across the entire historical period.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6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26C4FE-9630-9AF7-1486-EE2ADF971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86"/>
            <a:ext cx="12188825" cy="68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7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B5E3CB-6454-8751-9289-8C3AEFB1D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4704"/>
            <a:ext cx="7606580" cy="3229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4A3B3-AE38-7552-93E1-74B247BF2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4130"/>
            <a:ext cx="7606580" cy="2863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2A2C54-A06F-1E0A-9E7F-3643F13849AA}"/>
              </a:ext>
            </a:extLst>
          </p:cNvPr>
          <p:cNvSpPr txBox="1"/>
          <p:nvPr/>
        </p:nvSpPr>
        <p:spPr>
          <a:xfrm>
            <a:off x="189756" y="188640"/>
            <a:ext cx="4004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Rainfall Distribution &amp; Seasonal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97FCD-74D3-D529-B82C-7FE03995B0FD}"/>
              </a:ext>
            </a:extLst>
          </p:cNvPr>
          <p:cNvSpPr/>
          <p:nvPr/>
        </p:nvSpPr>
        <p:spPr>
          <a:xfrm>
            <a:off x="8470676" y="1628800"/>
            <a:ext cx="3384376" cy="4752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Annual rainfall is centered around an average of approximately 2168 mm, with noticeable variation across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rainfall values follow a fairly consistent distribution, though a few years show unusually high rainfall.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Q-Q plot suggests the data is approximately normally distributed, with slight deviations at extreme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Seasonal analysis shows that the monsoon season contributes the overwhelming majority of annual rainfall.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Pre-monsoon and post-monsoon periods contribute only a small portion of the total yearly rainfall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59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05BF83-EFD1-5675-8095-8A200694634E}"/>
              </a:ext>
            </a:extLst>
          </p:cNvPr>
          <p:cNvSpPr txBox="1"/>
          <p:nvPr/>
        </p:nvSpPr>
        <p:spPr>
          <a:xfrm>
            <a:off x="189756" y="188640"/>
            <a:ext cx="3682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Decadal Rainfall Pattern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C2D2D-A6A4-3314-0B21-AD07441A2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34472"/>
            <a:ext cx="7318548" cy="5623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343EA0-2A30-2E21-F86B-C658D9714C19}"/>
              </a:ext>
            </a:extLst>
          </p:cNvPr>
          <p:cNvSpPr/>
          <p:nvPr/>
        </p:nvSpPr>
        <p:spPr>
          <a:xfrm>
            <a:off x="8398668" y="1628800"/>
            <a:ext cx="3240360" cy="43924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overall seasonal rainfall pattern remains consistent across all decades.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July remains the peak rainfall month throughout the historical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Recent decades show comparatively higher rainfall intensity during peak monsoon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Rainfall outside the monsoon season remains consistently low across all decades.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chart suggests a gradual increase in rainfall intensity during the core monsoon period over time.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2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30FDB-6DD4-F724-E416-92FE6601CF0F}"/>
              </a:ext>
            </a:extLst>
          </p:cNvPr>
          <p:cNvSpPr txBox="1"/>
          <p:nvPr/>
        </p:nvSpPr>
        <p:spPr>
          <a:xfrm>
            <a:off x="117748" y="188640"/>
            <a:ext cx="3029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ADF test confirms stationarity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22E542-DECE-6CCC-3AAB-2763E033A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21811"/>
              </p:ext>
            </p:extLst>
          </p:nvPr>
        </p:nvGraphicFramePr>
        <p:xfrm>
          <a:off x="189756" y="834971"/>
          <a:ext cx="812588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471">
                  <a:extLst>
                    <a:ext uri="{9D8B030D-6E8A-4147-A177-3AD203B41FA5}">
                      <a16:colId xmlns:a16="http://schemas.microsoft.com/office/drawing/2014/main" val="2931508253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868389700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175690710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657851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ADF Statistic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p-value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Verdict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2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rainfall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-5.59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1.32 × 10⁻⁶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A9D8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Stationary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1342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7E2512-829C-7F43-5954-17E2F9A54F7C}"/>
              </a:ext>
            </a:extLst>
          </p:cNvPr>
          <p:cNvSpPr txBox="1"/>
          <p:nvPr/>
        </p:nvSpPr>
        <p:spPr>
          <a:xfrm>
            <a:off x="157200" y="2223185"/>
            <a:ext cx="8988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p-values are far below 0.05 → series is stationary in level form. Then SARIMA Model is applied.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411C7-AE86-6A0B-D873-EF1111F3B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43" y="2768441"/>
            <a:ext cx="11326806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8DF82-D03C-978B-DE27-58655492D7D7}"/>
              </a:ext>
            </a:extLst>
          </p:cNvPr>
          <p:cNvSpPr/>
          <p:nvPr/>
        </p:nvSpPr>
        <p:spPr>
          <a:xfrm>
            <a:off x="1758618" y="1242655"/>
            <a:ext cx="9505056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 → Long </a:t>
            </a:r>
            <a:r>
              <a:rPr lang="en-US" sz="16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</a:t>
            </a:r>
            <a:r>
              <a:rPr lang="en-IN" sz="16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</a:t>
            </a:r>
            <a:r>
              <a:rPr lang="en-US" sz="16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1 row/year into 1,452 monthly records with a proper datetime index.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2E363-8E7E-ED19-2227-48A4D0A13D76}"/>
              </a:ext>
            </a:extLst>
          </p:cNvPr>
          <p:cNvSpPr/>
          <p:nvPr/>
        </p:nvSpPr>
        <p:spPr>
          <a:xfrm>
            <a:off x="1816123" y="2163641"/>
            <a:ext cx="9577064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Cyclical Month Encoding       </a:t>
            </a:r>
            <a:r>
              <a:rPr lang="en-US" sz="16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r>
              <a:rPr lang="en-US" sz="16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 month as sin/cos so the model understands Jan and Dec are adjacent.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B2546-7AC3-7B04-9C8F-8B187B470631}"/>
              </a:ext>
            </a:extLst>
          </p:cNvPr>
          <p:cNvSpPr/>
          <p:nvPr/>
        </p:nvSpPr>
        <p:spPr>
          <a:xfrm>
            <a:off x="1794420" y="3235366"/>
            <a:ext cx="9505056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Lag Features</a:t>
            </a:r>
            <a:r>
              <a:rPr lang="en-IN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</a:t>
            </a:r>
            <a:r>
              <a:rPr lang="en-US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Previous 1, 2, 3, and 12 months of rainfall as input features.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CADF2-A4FF-1733-9397-3D9CF9330171}"/>
              </a:ext>
            </a:extLst>
          </p:cNvPr>
          <p:cNvSpPr/>
          <p:nvPr/>
        </p:nvSpPr>
        <p:spPr>
          <a:xfrm>
            <a:off x="1812576" y="4344218"/>
            <a:ext cx="9486900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Rolling Statistics              </a:t>
            </a:r>
            <a:r>
              <a:rPr lang="en-US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 6, and 12-month rolling mean and standard deviation.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568727-25E4-3192-8541-93DF0B783EEA}"/>
              </a:ext>
            </a:extLst>
          </p:cNvPr>
          <p:cNvSpPr/>
          <p:nvPr/>
        </p:nvSpPr>
        <p:spPr>
          <a:xfrm>
            <a:off x="1888131" y="5517232"/>
            <a:ext cx="9505056" cy="5040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/ Test Split           </a:t>
            </a:r>
            <a:r>
              <a:rPr lang="en-US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24 months (2020–2021) held out as test set — no data leakage.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8098A-A93A-FD52-E94D-1B8746320247}"/>
              </a:ext>
            </a:extLst>
          </p:cNvPr>
          <p:cNvSpPr txBox="1"/>
          <p:nvPr/>
        </p:nvSpPr>
        <p:spPr>
          <a:xfrm>
            <a:off x="2710036" y="0"/>
            <a:ext cx="7099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&amp; Data Pipeline</a:t>
            </a:r>
            <a:endParaRPr lang="en-US" sz="3600" dirty="0"/>
          </a:p>
          <a:p>
            <a:endParaRPr lang="en-IN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EBFE0993-8D3B-43CA-0A32-AD3550426F51}"/>
              </a:ext>
            </a:extLst>
          </p:cNvPr>
          <p:cNvSpPr/>
          <p:nvPr/>
        </p:nvSpPr>
        <p:spPr>
          <a:xfrm>
            <a:off x="913386" y="1314866"/>
            <a:ext cx="513082" cy="457200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C1DFA3A-B726-DC25-3A3F-1175D17DB362}"/>
              </a:ext>
            </a:extLst>
          </p:cNvPr>
          <p:cNvSpPr/>
          <p:nvPr/>
        </p:nvSpPr>
        <p:spPr>
          <a:xfrm>
            <a:off x="969268" y="2260145"/>
            <a:ext cx="457200" cy="457200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E414A18-E26D-A778-2B2C-CD60DDF6CCDC}"/>
              </a:ext>
            </a:extLst>
          </p:cNvPr>
          <p:cNvSpPr/>
          <p:nvPr/>
        </p:nvSpPr>
        <p:spPr>
          <a:xfrm>
            <a:off x="955373" y="3255681"/>
            <a:ext cx="457200" cy="457200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BBA63EA-E47F-6DF2-3E22-B070742BA133}"/>
              </a:ext>
            </a:extLst>
          </p:cNvPr>
          <p:cNvSpPr/>
          <p:nvPr/>
        </p:nvSpPr>
        <p:spPr>
          <a:xfrm>
            <a:off x="969268" y="4377687"/>
            <a:ext cx="457200" cy="457200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38504B9A-2164-7251-2113-476768F99C1E}"/>
              </a:ext>
            </a:extLst>
          </p:cNvPr>
          <p:cNvSpPr/>
          <p:nvPr/>
        </p:nvSpPr>
        <p:spPr>
          <a:xfrm>
            <a:off x="997970" y="5540660"/>
            <a:ext cx="457200" cy="457200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7E77C-35F2-C6C7-8370-A9E7D708A29E}"/>
              </a:ext>
            </a:extLst>
          </p:cNvPr>
          <p:cNvSpPr/>
          <p:nvPr/>
        </p:nvSpPr>
        <p:spPr>
          <a:xfrm>
            <a:off x="1141985" y="1772066"/>
            <a:ext cx="64845" cy="48807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FB4EA9-37E0-2B83-4BC6-5F972E92DF21}"/>
              </a:ext>
            </a:extLst>
          </p:cNvPr>
          <p:cNvSpPr/>
          <p:nvPr/>
        </p:nvSpPr>
        <p:spPr>
          <a:xfrm flipH="1">
            <a:off x="1161110" y="2717345"/>
            <a:ext cx="45721" cy="529216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48B3FA-C9BF-06DD-2752-E6427F2E8A6E}"/>
              </a:ext>
            </a:extLst>
          </p:cNvPr>
          <p:cNvSpPr/>
          <p:nvPr/>
        </p:nvSpPr>
        <p:spPr>
          <a:xfrm>
            <a:off x="1141986" y="3712882"/>
            <a:ext cx="64846" cy="664806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4F76B-C389-8628-FBB0-D3E8B3A4B8EC}"/>
              </a:ext>
            </a:extLst>
          </p:cNvPr>
          <p:cNvSpPr/>
          <p:nvPr/>
        </p:nvSpPr>
        <p:spPr>
          <a:xfrm>
            <a:off x="1178046" y="4833163"/>
            <a:ext cx="64845" cy="70749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C4CDD0BC-BE61-2C55-E808-2580E53B00C9}"/>
              </a:ext>
            </a:extLst>
          </p:cNvPr>
          <p:cNvSpPr/>
          <p:nvPr/>
        </p:nvSpPr>
        <p:spPr>
          <a:xfrm>
            <a:off x="3718148" y="4440798"/>
            <a:ext cx="58295" cy="310896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92CA43B-64F6-5747-AC35-AE028A322767}"/>
              </a:ext>
            </a:extLst>
          </p:cNvPr>
          <p:cNvSpPr/>
          <p:nvPr/>
        </p:nvSpPr>
        <p:spPr>
          <a:xfrm>
            <a:off x="3718148" y="3350509"/>
            <a:ext cx="45719" cy="310896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FEEC9D5-125F-240B-DE8A-4BF8D0EA4683}"/>
              </a:ext>
            </a:extLst>
          </p:cNvPr>
          <p:cNvSpPr/>
          <p:nvPr/>
        </p:nvSpPr>
        <p:spPr>
          <a:xfrm>
            <a:off x="4366220" y="2314380"/>
            <a:ext cx="45719" cy="310896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1972C18B-CDD0-495B-AFF2-B45CA8C3E020}"/>
              </a:ext>
            </a:extLst>
          </p:cNvPr>
          <p:cNvSpPr/>
          <p:nvPr/>
        </p:nvSpPr>
        <p:spPr>
          <a:xfrm>
            <a:off x="4078188" y="1362818"/>
            <a:ext cx="45719" cy="310896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A032E2A7-D21B-067D-C1C8-5823689D56B0}"/>
              </a:ext>
            </a:extLst>
          </p:cNvPr>
          <p:cNvSpPr/>
          <p:nvPr/>
        </p:nvSpPr>
        <p:spPr>
          <a:xfrm>
            <a:off x="3659853" y="5615345"/>
            <a:ext cx="58295" cy="310896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949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3F71BC-A4DC-1C50-B3A5-F516BEA44E63}"/>
              </a:ext>
            </a:extLst>
          </p:cNvPr>
          <p:cNvSpPr txBox="1"/>
          <p:nvPr/>
        </p:nvSpPr>
        <p:spPr>
          <a:xfrm>
            <a:off x="4150196" y="116632"/>
            <a:ext cx="409439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COMPARISON</a:t>
            </a:r>
            <a:endParaRPr lang="en-US" sz="2800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66050-826A-95B6-1C8D-6CE8D0E8C115}"/>
              </a:ext>
            </a:extLst>
          </p:cNvPr>
          <p:cNvSpPr txBox="1"/>
          <p:nvPr/>
        </p:nvSpPr>
        <p:spPr>
          <a:xfrm>
            <a:off x="2566020" y="836712"/>
            <a:ext cx="667099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Models Evaluated — Random Forest Wins</a:t>
            </a:r>
            <a:endParaRPr lang="en-US" sz="28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33F60-0BFE-2E35-3BC2-C93E12C84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95" y="1484784"/>
            <a:ext cx="5801130" cy="390254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2E1633-2870-9647-E609-48378DE0B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54519"/>
              </p:ext>
            </p:extLst>
          </p:nvPr>
        </p:nvGraphicFramePr>
        <p:xfrm>
          <a:off x="45740" y="1495331"/>
          <a:ext cx="6098164" cy="38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67">
                  <a:extLst>
                    <a:ext uri="{9D8B030D-6E8A-4147-A177-3AD203B41FA5}">
                      <a16:colId xmlns:a16="http://schemas.microsoft.com/office/drawing/2014/main" val="2070517870"/>
                    </a:ext>
                  </a:extLst>
                </a:gridCol>
                <a:gridCol w="1528699">
                  <a:extLst>
                    <a:ext uri="{9D8B030D-6E8A-4147-A177-3AD203B41FA5}">
                      <a16:colId xmlns:a16="http://schemas.microsoft.com/office/drawing/2014/main" val="937764910"/>
                    </a:ext>
                  </a:extLst>
                </a:gridCol>
                <a:gridCol w="1528699">
                  <a:extLst>
                    <a:ext uri="{9D8B030D-6E8A-4147-A177-3AD203B41FA5}">
                      <a16:colId xmlns:a16="http://schemas.microsoft.com/office/drawing/2014/main" val="2278159649"/>
                    </a:ext>
                  </a:extLst>
                </a:gridCol>
                <a:gridCol w="1528699">
                  <a:extLst>
                    <a:ext uri="{9D8B030D-6E8A-4147-A177-3AD203B41FA5}">
                      <a16:colId xmlns:a16="http://schemas.microsoft.com/office/drawing/2014/main" val="29194256"/>
                    </a:ext>
                  </a:extLst>
                </a:gridCol>
              </a:tblGrid>
              <a:tr h="5678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MAE 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RMSE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R²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87862"/>
                  </a:ext>
                </a:extLst>
              </a:tr>
              <a:tr h="567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Seasonal 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130.946487  </a:t>
                      </a:r>
                    </a:p>
                    <a:p>
                      <a:pPr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234.820023    </a:t>
                      </a:r>
                    </a:p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0.655831</a:t>
                      </a:r>
                    </a:p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093303"/>
                  </a:ext>
                </a:extLst>
              </a:tr>
              <a:tr h="567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A23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🏆</a:t>
                      </a: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116.098382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203.635031  </a:t>
                      </a:r>
                    </a:p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0.741175</a:t>
                      </a:r>
                    </a:p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60852"/>
                  </a:ext>
                </a:extLst>
              </a:tr>
              <a:tr h="446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126.355210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227.848186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0.675964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057471"/>
                  </a:ext>
                </a:extLst>
              </a:tr>
              <a:tr h="3902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138.293173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254.257754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0.596494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99405"/>
                  </a:ext>
                </a:extLst>
              </a:tr>
              <a:tr h="567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124.781893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212.711007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0.717589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32779"/>
                  </a:ext>
                </a:extLst>
              </a:tr>
              <a:tr h="567808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117.510478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207.114030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0.595140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7064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8F1652-D266-808F-CFE5-8AE03E37BE0E}"/>
              </a:ext>
            </a:extLst>
          </p:cNvPr>
          <p:cNvSpPr txBox="1"/>
          <p:nvPr/>
        </p:nvSpPr>
        <p:spPr>
          <a:xfrm>
            <a:off x="405781" y="5949280"/>
            <a:ext cx="1152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outperforms all models with the lowest RMSE (</a:t>
            </a:r>
            <a:r>
              <a:rPr lang="en-IN" dirty="0">
                <a:latin typeface="Aptos" panose="020B0004020202020204" pitchFamily="34" charset="0"/>
              </a:rPr>
              <a:t>203.63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mm) and highest R² (0.741). It captures non-linear seasonal patterns without requiring feature scaling.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66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279FD-9307-DCD6-F611-14F210A75323}"/>
              </a:ext>
            </a:extLst>
          </p:cNvPr>
          <p:cNvSpPr txBox="1"/>
          <p:nvPr/>
        </p:nvSpPr>
        <p:spPr>
          <a:xfrm>
            <a:off x="3430116" y="116632"/>
            <a:ext cx="395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Random Forest Hyperparameter Tuning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016D24-D3D9-69D1-2FCD-EF8FE68CE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52" y="485964"/>
            <a:ext cx="1188132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 Search Cross-Validation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optimize Random Forest model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multiple parameter combinations including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trees, tree depth, split criteria, and feature selection 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parameters identified: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n_estimators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min_samples_leaf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max_features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improved model generalization and forecasting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tuned model achieved: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113.01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199.17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0.752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3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1E4C0-D7AB-0599-2C72-CD3596B55BA4}"/>
              </a:ext>
            </a:extLst>
          </p:cNvPr>
          <p:cNvSpPr txBox="1"/>
          <p:nvPr/>
        </p:nvSpPr>
        <p:spPr>
          <a:xfrm>
            <a:off x="4078188" y="0"/>
            <a:ext cx="40139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 vs Actual Plot</a:t>
            </a:r>
            <a:endParaRPr lang="en-US" sz="32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6462A-B343-B9A2-CE21-BCE54E372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9" y="764704"/>
            <a:ext cx="12169656" cy="4429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456D63-493F-7FAB-4187-B4932CA86F9C}"/>
              </a:ext>
            </a:extLst>
          </p:cNvPr>
          <p:cNvSpPr txBox="1"/>
          <p:nvPr/>
        </p:nvSpPr>
        <p:spPr>
          <a:xfrm>
            <a:off x="261764" y="5631631"/>
            <a:ext cx="10369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 predictions closely follow actual rainfall patterns, with some underestimation during extreme rainfall peaks.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50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A48FD-FC8B-46FD-7703-BC4A233304DA}"/>
              </a:ext>
            </a:extLst>
          </p:cNvPr>
          <p:cNvSpPr txBox="1"/>
          <p:nvPr/>
        </p:nvSpPr>
        <p:spPr>
          <a:xfrm>
            <a:off x="3934172" y="116632"/>
            <a:ext cx="415908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vs Predicted Scatter</a:t>
            </a:r>
            <a:endParaRPr lang="en-US" sz="2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C427E-F17F-5F4C-E68F-A90D7254C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705"/>
            <a:ext cx="6735115" cy="6093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CF91ED-6FF0-C4FA-53DC-386BFA904EC7}"/>
              </a:ext>
            </a:extLst>
          </p:cNvPr>
          <p:cNvSpPr txBox="1"/>
          <p:nvPr/>
        </p:nvSpPr>
        <p:spPr>
          <a:xfrm>
            <a:off x="7232278" y="2687096"/>
            <a:ext cx="4960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model predicts low to moderate rainfall fairly well, but it struggles to fully capture extremely heavy rainfall events.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4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2D86C-1400-96FC-D6BF-4F4B045E1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" y="548680"/>
            <a:ext cx="12278479" cy="38884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5E9555-8D74-19A0-7919-65A336798E0E}"/>
              </a:ext>
            </a:extLst>
          </p:cNvPr>
          <p:cNvSpPr txBox="1"/>
          <p:nvPr/>
        </p:nvSpPr>
        <p:spPr>
          <a:xfrm>
            <a:off x="4150196" y="44624"/>
            <a:ext cx="44831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Random Forest Learned</a:t>
            </a:r>
            <a:endParaRPr lang="en-US" sz="2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692F9-15FC-CAC9-3B74-B0A2CB0B79E1}"/>
              </a:ext>
            </a:extLst>
          </p:cNvPr>
          <p:cNvSpPr txBox="1"/>
          <p:nvPr/>
        </p:nvSpPr>
        <p:spPr>
          <a:xfrm>
            <a:off x="477788" y="4725144"/>
            <a:ext cx="11711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12-month lag captures 'same month last year’ is the most important feature — confirming that seasonal timing drives rainfall.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Cyclical month encoding (sin/cos) </a:t>
            </a:r>
            <a:r>
              <a:rPr lang="en-US" dirty="0"/>
              <a:t>strongly influences predictions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strong seasonal memory in Mumbai's monsoon pattern.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Short-term rainfall trends improve forecasting accuracy.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46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8AC26-3112-667B-4EF5-1AC3959EE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0" y="692696"/>
            <a:ext cx="12097344" cy="4334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86CAD7-64EC-4741-747C-B92EAB084E6A}"/>
              </a:ext>
            </a:extLst>
          </p:cNvPr>
          <p:cNvSpPr txBox="1"/>
          <p:nvPr/>
        </p:nvSpPr>
        <p:spPr>
          <a:xfrm>
            <a:off x="4366220" y="-25964"/>
            <a:ext cx="47979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Forecasted Monthly Rainfall — 2022</a:t>
            </a:r>
            <a:endParaRPr lang="en-US" sz="2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C6D3-6DA3-3A66-2974-00B94FD11C97}"/>
              </a:ext>
            </a:extLst>
          </p:cNvPr>
          <p:cNvSpPr txBox="1"/>
          <p:nvPr/>
        </p:nvSpPr>
        <p:spPr>
          <a:xfrm>
            <a:off x="693813" y="5445224"/>
            <a:ext cx="106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final model was retrained on the full dataset (1901–2021) and used to iteratively forecast each month of 2022.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18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CC0F6-0533-621B-5052-D581CA9E6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5549"/>
            <a:ext cx="8398668" cy="5672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2B4C1F-7141-0BBC-F5A9-384A255BCA7C}"/>
              </a:ext>
            </a:extLst>
          </p:cNvPr>
          <p:cNvSpPr txBox="1"/>
          <p:nvPr/>
        </p:nvSpPr>
        <p:spPr>
          <a:xfrm>
            <a:off x="3624523" y="0"/>
            <a:ext cx="47979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Forecasted Monthly Rainfall — 2022</a:t>
            </a:r>
            <a:endParaRPr lang="en-US" sz="2400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D7BF5-1425-2F30-6013-995FBAB7E8E7}"/>
              </a:ext>
            </a:extLst>
          </p:cNvPr>
          <p:cNvSpPr/>
          <p:nvPr/>
        </p:nvSpPr>
        <p:spPr>
          <a:xfrm>
            <a:off x="8614692" y="1772816"/>
            <a:ext cx="3168352" cy="2952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Summary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n-US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Peak Month         </a:t>
            </a:r>
          </a:p>
          <a:p>
            <a:r>
              <a:rPr lang="en-US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July</a:t>
            </a:r>
          </a:p>
          <a:p>
            <a:endParaRPr lang="en-US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Driest Month       </a:t>
            </a:r>
          </a:p>
          <a:p>
            <a:r>
              <a:rPr lang="en-US" spc="50" dirty="0">
                <a:ln w="0"/>
                <a:solidFill>
                  <a:schemeClr val="bg2">
                    <a:lumMod val="50000"/>
                    <a:lumOff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January</a:t>
            </a:r>
          </a:p>
          <a:p>
            <a:endParaRPr lang="en-US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Historical Mean    </a:t>
            </a:r>
          </a:p>
          <a:p>
            <a:r>
              <a:rPr lang="en-US" spc="50" dirty="0">
                <a:ln w="0"/>
                <a:solidFill>
                  <a:schemeClr val="accent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ptos" panose="020B0004020202020204" pitchFamily="34" charset="0"/>
              </a:rPr>
              <a:t>2168mm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1849C-F740-DB5C-DA29-CC5BA1741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704"/>
            <a:ext cx="6094412" cy="6093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4F4D5-D7C8-381D-D727-24B359FA1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764704"/>
            <a:ext cx="6094412" cy="6093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2B812A-43AD-2E3B-DAC6-3269347D6770}"/>
              </a:ext>
            </a:extLst>
          </p:cNvPr>
          <p:cNvSpPr txBox="1"/>
          <p:nvPr/>
        </p:nvSpPr>
        <p:spPr>
          <a:xfrm>
            <a:off x="4870276" y="116632"/>
            <a:ext cx="1562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SHAP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95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8B41F-8AF6-A9E7-5BD3-67ADA1808876}"/>
              </a:ext>
            </a:extLst>
          </p:cNvPr>
          <p:cNvSpPr txBox="1"/>
          <p:nvPr/>
        </p:nvSpPr>
        <p:spPr>
          <a:xfrm>
            <a:off x="3592541" y="37322"/>
            <a:ext cx="500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Actions for Water Resource Management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341BD6-87C0-1EDC-FF0F-D7AACC2D1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05521"/>
              </p:ext>
            </p:extLst>
          </p:nvPr>
        </p:nvGraphicFramePr>
        <p:xfrm>
          <a:off x="477788" y="980728"/>
          <a:ext cx="2160240" cy="494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838237921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Pre-Monsoon</a:t>
                      </a:r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Jan – May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35093"/>
                  </a:ext>
                </a:extLst>
              </a:tr>
              <a:tr h="306597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 reservoir withdrawals — </a:t>
                      </a:r>
                      <a:r>
                        <a:rPr lang="en-US" sz="1600" b="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maximise</a:t>
                      </a:r>
                      <a:r>
                        <a:rPr lang="en-US" sz="1600" b="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storage capacity before June.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b="0" dirty="0">
                        <a:solidFill>
                          <a:srgbClr val="1C2833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Schedule pipeline &amp; dam maintenance (low rainfall window).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dirty="0">
                        <a:solidFill>
                          <a:srgbClr val="1C2833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Activate water conservation protocols.</a:t>
                      </a: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4384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8ACAB6-1726-43D4-EDCB-292D9E1B2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53890"/>
              </p:ext>
            </p:extLst>
          </p:nvPr>
        </p:nvGraphicFramePr>
        <p:xfrm>
          <a:off x="3810913" y="980728"/>
          <a:ext cx="1639697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697">
                  <a:extLst>
                    <a:ext uri="{9D8B030D-6E8A-4147-A177-3AD203B41FA5}">
                      <a16:colId xmlns:a16="http://schemas.microsoft.com/office/drawing/2014/main" val="3570447027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Monsoon Peak</a:t>
                      </a:r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Jun – Sep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351580"/>
                  </a:ext>
                </a:extLst>
              </a:tr>
              <a:tr h="3600024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Pre-position pumping capacity before June 1</a:t>
                      </a:r>
                      <a:r>
                        <a:rPr lang="en-US" sz="1400" baseline="300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</a:t>
                      </a: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Inspect overflow spillways and flood management infrastructure.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>
                        <a:solidFill>
                          <a:srgbClr val="1C2833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 dam levels weekly during July–August peak.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58527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914109-7550-B6A6-2851-80016AF4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51330"/>
              </p:ext>
            </p:extLst>
          </p:nvPr>
        </p:nvGraphicFramePr>
        <p:xfrm>
          <a:off x="7030516" y="980728"/>
          <a:ext cx="2016224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4188874380"/>
                    </a:ext>
                  </a:extLst>
                </a:gridCol>
              </a:tblGrid>
              <a:tr h="1004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Post-Monsoon</a:t>
                      </a:r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Oct –Dec </a:t>
                      </a:r>
                      <a:endParaRPr lang="en-US" sz="1800" dirty="0"/>
                    </a:p>
                    <a:p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51401"/>
                  </a:ext>
                </a:extLst>
              </a:tr>
              <a:tr h="390316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Optimise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carry-over storage for 2023 dry season buffer.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dirty="0">
                        <a:solidFill>
                          <a:srgbClr val="1C2833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 distribution strategy based on reservoir levels.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Review forecast accuracy vs actuals — retrain model.</a:t>
                      </a: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92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94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BFB1B-7A41-0B31-8D46-68A27983F326}"/>
              </a:ext>
            </a:extLst>
          </p:cNvPr>
          <p:cNvSpPr txBox="1"/>
          <p:nvPr/>
        </p:nvSpPr>
        <p:spPr>
          <a:xfrm>
            <a:off x="0" y="116632"/>
            <a:ext cx="1084694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is trained only on </a:t>
            </a:r>
            <a:r>
              <a:rPr lang="en-US" b="1" dirty="0"/>
              <a:t>historical rainfall data</a:t>
            </a:r>
            <a:r>
              <a:rPr lang="en-US" dirty="0"/>
              <a:t> and does not include external weather factors such as temperature, humidity, or atmospheric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 rainfall events remain challenging to predict accurately, with some underestimation in peak rainfall periods.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Forecasting performance may be affected by long-term climate pattern changes not fully captured in historical trends.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is specific to </a:t>
            </a:r>
            <a:r>
              <a:rPr lang="en-US" b="1" dirty="0"/>
              <a:t>Mumbai rainfall data</a:t>
            </a:r>
            <a:r>
              <a:rPr lang="en-US" dirty="0"/>
              <a:t> and may not generalize directly to other regions.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3200" dirty="0"/>
              <a:t>Future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Incorporate additional weather and climate variables to improve forecasting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advanced deep learning architectures for better capture of complex rainfall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forecasting to longer prediction horizons with regular model retraining.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the model as an interactive forecasting dashboard for real-time decision support.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57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2AB13C-2107-1420-E5CB-CEF4819B881B}"/>
              </a:ext>
            </a:extLst>
          </p:cNvPr>
          <p:cNvSpPr txBox="1"/>
          <p:nvPr/>
        </p:nvSpPr>
        <p:spPr>
          <a:xfrm>
            <a:off x="765820" y="548680"/>
            <a:ext cx="250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IN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444FCC-F70A-1FBD-0BBB-085713B73816}"/>
              </a:ext>
            </a:extLst>
          </p:cNvPr>
          <p:cNvSpPr/>
          <p:nvPr/>
        </p:nvSpPr>
        <p:spPr>
          <a:xfrm>
            <a:off x="909836" y="1628800"/>
            <a:ext cx="3960440" cy="9751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achieved RMSE 203.63 mm and R² 0.741 — best of 6 models</a:t>
            </a:r>
            <a:endParaRPr lang="en-US" dirty="0"/>
          </a:p>
          <a:p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C8E99-D9D2-8606-1E42-16F535A349C3}"/>
              </a:ext>
            </a:extLst>
          </p:cNvPr>
          <p:cNvSpPr/>
          <p:nvPr/>
        </p:nvSpPr>
        <p:spPr>
          <a:xfrm>
            <a:off x="6886500" y="1628800"/>
            <a:ext cx="3888432" cy="9361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 forecast: above-average monsoon season predicted</a:t>
            </a:r>
            <a:endParaRPr lang="en-US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B94594-00F3-438E-B486-69A897AFD424}"/>
              </a:ext>
            </a:extLst>
          </p:cNvPr>
          <p:cNvSpPr/>
          <p:nvPr/>
        </p:nvSpPr>
        <p:spPr>
          <a:xfrm>
            <a:off x="942392" y="4254050"/>
            <a:ext cx="3855876" cy="831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Lag features &amp; cyclical month encoding drive model accuracy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36A40-54CF-FE71-8335-D916E3702828}"/>
              </a:ext>
            </a:extLst>
          </p:cNvPr>
          <p:cNvSpPr/>
          <p:nvPr/>
        </p:nvSpPr>
        <p:spPr>
          <a:xfrm>
            <a:off x="7030516" y="4254050"/>
            <a:ext cx="4032448" cy="831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recommendations for reservoir, maintenance, and drought prep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6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6EDB4-0BBD-5F2D-6AE6-A21FE897EA9F}"/>
              </a:ext>
            </a:extLst>
          </p:cNvPr>
          <p:cNvSpPr txBox="1"/>
          <p:nvPr/>
        </p:nvSpPr>
        <p:spPr>
          <a:xfrm>
            <a:off x="3790156" y="2413337"/>
            <a:ext cx="42032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075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473</TotalTime>
  <Words>1516</Words>
  <Application>Microsoft Office PowerPoint</Application>
  <PresentationFormat>Custom</PresentationFormat>
  <Paragraphs>246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Corbel</vt:lpstr>
      <vt:lpstr>Digital Blue Tunnel 16x9</vt:lpstr>
      <vt:lpstr>Mumbai Rainfall Forecasting</vt:lpstr>
      <vt:lpstr>PowerPoint Presentation</vt:lpstr>
      <vt:lpstr>Problem Statement </vt:lpstr>
      <vt:lpstr>PROJECT OVERVIEW </vt:lpstr>
      <vt:lpstr>DATASET OVERVIEW </vt:lpstr>
      <vt:lpstr>EXPLORATORY DATA ANALYSIS</vt:lpstr>
      <vt:lpstr>Peak Rainfall Occurs During the Monsoon Season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Kumar</dc:creator>
  <cp:lastModifiedBy>Ritesh Kumar</cp:lastModifiedBy>
  <cp:revision>2</cp:revision>
  <dcterms:created xsi:type="dcterms:W3CDTF">2026-05-20T10:14:15Z</dcterms:created>
  <dcterms:modified xsi:type="dcterms:W3CDTF">2026-05-21T03:31:41Z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